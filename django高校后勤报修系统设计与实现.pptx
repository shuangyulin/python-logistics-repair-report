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Lst>
  <p:sldSz cx="9144000" cy="5143500"/>
  <p:notesSz cx="5143500" cy="9144000"/>
  <p:defaultTextStyle>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16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36" d="100"/>
          <a:sy n="136" d="100"/>
        </p:scale>
        <p:origin x="216" y="312"/>
      </p:cViewPr>
      <p:guideLst>
        <p:guide pos="2880"/>
        <p:guide orient="horz" pos="1620"/>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5" Type="http://schemas.openxmlformats.org/officeDocument/2006/relationships/tableStyles" Target="tableStyles.xml"/><Relationship Id="rId54" Type="http://schemas.openxmlformats.org/officeDocument/2006/relationships/viewProps" Target="viewProps.xml"/><Relationship Id="rId53" Type="http://schemas.openxmlformats.org/officeDocument/2006/relationships/presProps" Target="presProps.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lang="en-US"/>
          </a:p>
        </p:txBody>
      </p:sp>
      <p:sp>
        <p:nvSpPr>
          <p:cNvPr id="4" name="Slide Number Placeholder 3"/>
          <p:cNvSpPr>
            <a:spLocks noGrp="1"/>
          </p:cNvSpPr>
          <p:nvPr>
            <p:ph type="sldNum" sz="quarter" idx="10"/>
          </p:nvPr>
        </p:nvSpPr>
        <p:spPr bwMode="auto"/>
        <p:txBody>
          <a:bodyPr/>
          <a:lstStyle/>
          <a:p>
            <a:pPr>
              <a:defRPr/>
            </a:pPr>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PhAnim="0"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PhAnim="0" userDrawn="1">
  <p:cSld name="PPTIST_MASTER">
    <p:bg>
      <p:bgPr>
        <a:solidFill>
          <a:srgbClr val="FFFFFF"/>
        </a:solidFill>
        <a:effectLst/>
      </p:bgPr>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ts val="0"/>
        </a:spcBef>
        <a:buNone/>
        <a:defRPr sz="4400">
          <a:solidFill>
            <a:schemeClr val="tx1"/>
          </a:solidFill>
          <a:latin typeface="+mj-lt"/>
          <a:ea typeface="+mj-ea"/>
          <a:cs typeface="+mj-cs"/>
        </a:defRPr>
      </a:lvl1pPr>
    </p:titleStyle>
    <p:bodyStyle>
      <a:lvl1pPr marL="342900" indent="-342900" algn="l" defTabSz="914400">
        <a:spcBef>
          <a:spcPts val="0"/>
        </a:spcBef>
        <a:buFont typeface="Arial" panose="020B0604020202020204"/>
        <a:buChar char="•"/>
        <a:defRPr sz="3200">
          <a:solidFill>
            <a:schemeClr val="tx1"/>
          </a:solidFill>
          <a:latin typeface="+mn-lt"/>
          <a:ea typeface="+mn-ea"/>
          <a:cs typeface="+mn-cs"/>
        </a:defRPr>
      </a:lvl1pPr>
      <a:lvl2pPr marL="742950" indent="-285750" algn="l" defTabSz="914400">
        <a:spcBef>
          <a:spcPts val="0"/>
        </a:spcBef>
        <a:buFont typeface="Arial" panose="020B0604020202020204"/>
        <a:buChar char="–"/>
        <a:defRPr sz="2800">
          <a:solidFill>
            <a:schemeClr val="tx1"/>
          </a:solidFill>
          <a:latin typeface="+mn-lt"/>
          <a:ea typeface="+mn-ea"/>
          <a:cs typeface="+mn-cs"/>
        </a:defRPr>
      </a:lvl2pPr>
      <a:lvl3pPr marL="1143000" indent="-228600" algn="l" defTabSz="914400">
        <a:spcBef>
          <a:spcPts val="0"/>
        </a:spcBef>
        <a:buFont typeface="Arial" panose="020B0604020202020204"/>
        <a:buChar char="•"/>
        <a:defRPr sz="2400">
          <a:solidFill>
            <a:schemeClr val="tx1"/>
          </a:solidFill>
          <a:latin typeface="+mn-lt"/>
          <a:ea typeface="+mn-ea"/>
          <a:cs typeface="+mn-cs"/>
        </a:defRPr>
      </a:lvl3pPr>
      <a:lvl4pPr marL="1600200" indent="-228600" algn="l" defTabSz="914400">
        <a:spcBef>
          <a:spcPts val="0"/>
        </a:spcBef>
        <a:buFont typeface="Arial" panose="020B0604020202020204"/>
        <a:buChar char="–"/>
        <a:defRPr sz="2000">
          <a:solidFill>
            <a:schemeClr val="tx1"/>
          </a:solidFill>
          <a:latin typeface="+mn-lt"/>
          <a:ea typeface="+mn-ea"/>
          <a:cs typeface="+mn-cs"/>
        </a:defRPr>
      </a:lvl4pPr>
      <a:lvl5pPr marL="2057400" indent="-228600" algn="l" defTabSz="914400">
        <a:spcBef>
          <a:spcPts val="0"/>
        </a:spcBef>
        <a:buFont typeface="Arial" panose="020B0604020202020204"/>
        <a:buChar char="»"/>
        <a:defRPr sz="2000">
          <a:solidFill>
            <a:schemeClr val="tx1"/>
          </a:solidFill>
          <a:latin typeface="+mn-lt"/>
          <a:ea typeface="+mn-ea"/>
          <a:cs typeface="+mn-cs"/>
        </a:defRPr>
      </a:lvl5pPr>
      <a:lvl6pPr marL="2514600" indent="-228600" algn="l" defTabSz="914400">
        <a:spcBef>
          <a:spcPts val="0"/>
        </a:spcBef>
        <a:buFont typeface="Arial" panose="020B0604020202020204"/>
        <a:buChar char="•"/>
        <a:defRPr sz="2000">
          <a:solidFill>
            <a:schemeClr val="tx1"/>
          </a:solidFill>
          <a:latin typeface="+mn-lt"/>
          <a:ea typeface="+mn-ea"/>
          <a:cs typeface="+mn-cs"/>
        </a:defRPr>
      </a:lvl6pPr>
      <a:lvl7pPr marL="2971800" indent="-228600" algn="l" defTabSz="914400">
        <a:spcBef>
          <a:spcPts val="0"/>
        </a:spcBef>
        <a:buFont typeface="Arial" panose="020B0604020202020204"/>
        <a:buChar char="•"/>
        <a:defRPr sz="2000">
          <a:solidFill>
            <a:schemeClr val="tx1"/>
          </a:solidFill>
          <a:latin typeface="+mn-lt"/>
          <a:ea typeface="+mn-ea"/>
          <a:cs typeface="+mn-cs"/>
        </a:defRPr>
      </a:lvl7pPr>
      <a:lvl8pPr marL="3429000" indent="-228600" algn="l" defTabSz="914400">
        <a:spcBef>
          <a:spcPts val="0"/>
        </a:spcBef>
        <a:buFont typeface="Arial" panose="020B0604020202020204"/>
        <a:buChar char="•"/>
        <a:defRPr sz="2000">
          <a:solidFill>
            <a:schemeClr val="tx1"/>
          </a:solidFill>
          <a:latin typeface="+mn-lt"/>
          <a:ea typeface="+mn-ea"/>
          <a:cs typeface="+mn-cs"/>
        </a:defRPr>
      </a:lvl8pPr>
      <a:lvl9pPr marL="3886200" indent="-228600" algn="l" defTabSz="914400">
        <a:spcBef>
          <a:spcPts val="0"/>
        </a:spcBef>
        <a:buFont typeface="Arial" panose="020B0604020202020204"/>
        <a:buChar char="•"/>
        <a:defRPr sz="2000">
          <a:solidFill>
            <a:schemeClr val="tx1"/>
          </a:solidFill>
          <a:latin typeface="+mn-lt"/>
          <a:ea typeface="+mn-ea"/>
          <a:cs typeface="+mn-cs"/>
        </a:defRPr>
      </a:lvl9pPr>
    </p:bodyStyle>
    <p:otherStyle>
      <a:defPPr>
        <a:defRPr lang="en-US"/>
      </a:defPPr>
      <a:lvl1pPr marL="0" algn="l" defTabSz="914400">
        <a:defRPr sz="1800">
          <a:solidFill>
            <a:schemeClr val="tx1"/>
          </a:solidFill>
          <a:latin typeface="+mn-lt"/>
          <a:ea typeface="+mn-ea"/>
          <a:cs typeface="+mn-cs"/>
        </a:defRPr>
      </a:lvl1pPr>
      <a:lvl2pPr marL="457200" algn="l" defTabSz="914400">
        <a:defRPr sz="1800">
          <a:solidFill>
            <a:schemeClr val="tx1"/>
          </a:solidFill>
          <a:latin typeface="+mn-lt"/>
          <a:ea typeface="+mn-ea"/>
          <a:cs typeface="+mn-cs"/>
        </a:defRPr>
      </a:lvl2pPr>
      <a:lvl3pPr marL="914400" algn="l" defTabSz="914400">
        <a:defRPr sz="1800">
          <a:solidFill>
            <a:schemeClr val="tx1"/>
          </a:solidFill>
          <a:latin typeface="+mn-lt"/>
          <a:ea typeface="+mn-ea"/>
          <a:cs typeface="+mn-cs"/>
        </a:defRPr>
      </a:lvl3pPr>
      <a:lvl4pPr marL="1371600" algn="l" defTabSz="914400">
        <a:defRPr sz="1800">
          <a:solidFill>
            <a:schemeClr val="tx1"/>
          </a:solidFill>
          <a:latin typeface="+mn-lt"/>
          <a:ea typeface="+mn-ea"/>
          <a:cs typeface="+mn-cs"/>
        </a:defRPr>
      </a:lvl4pPr>
      <a:lvl5pPr marL="1828800" algn="l" defTabSz="914400">
        <a:defRPr sz="1800">
          <a:solidFill>
            <a:schemeClr val="tx1"/>
          </a:solidFill>
          <a:latin typeface="+mn-lt"/>
          <a:ea typeface="+mn-ea"/>
          <a:cs typeface="+mn-cs"/>
        </a:defRPr>
      </a:lvl5pPr>
      <a:lvl6pPr marL="2286000" algn="l" defTabSz="914400">
        <a:defRPr sz="1800">
          <a:solidFill>
            <a:schemeClr val="tx1"/>
          </a:solidFill>
          <a:latin typeface="+mn-lt"/>
          <a:ea typeface="+mn-ea"/>
          <a:cs typeface="+mn-cs"/>
        </a:defRPr>
      </a:lvl6pPr>
      <a:lvl7pPr marL="2743200" algn="l" defTabSz="914400">
        <a:defRPr sz="1800">
          <a:solidFill>
            <a:schemeClr val="tx1"/>
          </a:solidFill>
          <a:latin typeface="+mn-lt"/>
          <a:ea typeface="+mn-ea"/>
          <a:cs typeface="+mn-cs"/>
        </a:defRPr>
      </a:lvl7pPr>
      <a:lvl8pPr marL="3200400" algn="l" defTabSz="914400">
        <a:defRPr sz="1800">
          <a:solidFill>
            <a:schemeClr val="tx1"/>
          </a:solidFill>
          <a:latin typeface="+mn-lt"/>
          <a:ea typeface="+mn-ea"/>
          <a:cs typeface="+mn-cs"/>
        </a:defRPr>
      </a:lvl8pPr>
      <a:lvl9pPr marL="3657600" algn="l" defTabSz="91440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11.jpeg"/><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xml"/><Relationship Id="rId4" Type="http://schemas.openxmlformats.org/officeDocument/2006/relationships/image" Target="../media/image14.jpeg"/><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7.xml.rels><?xml version="1.0" encoding="UTF-8" standalone="yes"?>
<Relationships xmlns="http://schemas.openxmlformats.org/package/2006/relationships"><Relationship Id="rId6" Type="http://schemas.openxmlformats.org/officeDocument/2006/relationships/notesSlide" Target="../notesSlides/notesSlide17.xml"/><Relationship Id="rId5" Type="http://schemas.openxmlformats.org/officeDocument/2006/relationships/slideLayout" Target="../slideLayouts/slideLayout1.xml"/><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xml"/><Relationship Id="rId4" Type="http://schemas.openxmlformats.org/officeDocument/2006/relationships/image" Target="../media/image20.jpeg"/><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1.xml"/><Relationship Id="rId4" Type="http://schemas.openxmlformats.org/officeDocument/2006/relationships/image" Target="../media/image23.jpeg"/><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image" Target="../media/image24.png"/><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slideLayout" Target="../slideLayouts/slideLayout1.xml"/><Relationship Id="rId5" Type="http://schemas.openxmlformats.org/officeDocument/2006/relationships/image" Target="../media/image28.png"/><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1.xml"/><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2.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1.xml"/><Relationship Id="rId4" Type="http://schemas.openxmlformats.org/officeDocument/2006/relationships/image" Target="../media/image34.jpeg"/><Relationship Id="rId3" Type="http://schemas.openxmlformats.org/officeDocument/2006/relationships/image" Target="../media/image33.jpeg"/><Relationship Id="rId2" Type="http://schemas.openxmlformats.org/officeDocument/2006/relationships/image" Target="../media/image32.jpeg"/><Relationship Id="rId1"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35.xml.rels><?xml version="1.0" encoding="UTF-8" standalone="yes"?>
<Relationships xmlns="http://schemas.openxmlformats.org/package/2006/relationships"><Relationship Id="rId6" Type="http://schemas.openxmlformats.org/officeDocument/2006/relationships/notesSlide" Target="../notesSlides/notesSlide35.xml"/><Relationship Id="rId5" Type="http://schemas.openxmlformats.org/officeDocument/2006/relationships/slideLayout" Target="../slideLayouts/slideLayout1.xml"/><Relationship Id="rId4" Type="http://schemas.openxmlformats.org/officeDocument/2006/relationships/image" Target="../media/image37.jpeg"/><Relationship Id="rId3" Type="http://schemas.openxmlformats.org/officeDocument/2006/relationships/image" Target="../media/image36.jpeg"/><Relationship Id="rId2" Type="http://schemas.openxmlformats.org/officeDocument/2006/relationships/image" Target="../media/image35.jpeg"/><Relationship Id="rId1"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1.xml"/><Relationship Id="rId4" Type="http://schemas.openxmlformats.org/officeDocument/2006/relationships/image" Target="../media/image40.jpeg"/><Relationship Id="rId3" Type="http://schemas.openxmlformats.org/officeDocument/2006/relationships/image" Target="../media/image39.jpeg"/><Relationship Id="rId2" Type="http://schemas.openxmlformats.org/officeDocument/2006/relationships/image" Target="../media/image38.jpeg"/><Relationship Id="rId1" Type="http://schemas.openxmlformats.org/officeDocument/2006/relationships/image" Target="../media/image4.png"/></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1.xml"/><Relationship Id="rId4" Type="http://schemas.openxmlformats.org/officeDocument/2006/relationships/image" Target="../media/image43.jpeg"/><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0.xml"/><Relationship Id="rId3" Type="http://schemas.openxmlformats.org/officeDocument/2006/relationships/slideLayout" Target="../slideLayouts/slideLayout1.xml"/><Relationship Id="rId2" Type="http://schemas.openxmlformats.org/officeDocument/2006/relationships/image" Target="../media/image44.jpeg"/><Relationship Id="rId1"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43.xml"/><Relationship Id="rId3" Type="http://schemas.openxmlformats.org/officeDocument/2006/relationships/slideLayout" Target="../slideLayouts/slideLayout1.xml"/><Relationship Id="rId2" Type="http://schemas.openxmlformats.org/officeDocument/2006/relationships/image" Target="../media/image45.jpeg"/><Relationship Id="rId1" Type="http://schemas.openxmlformats.org/officeDocument/2006/relationships/image" Target="../media/image4.png"/></Relationships>
</file>

<file path=ppt/slides/_rels/slide44.xml.rels><?xml version="1.0" encoding="UTF-8" standalone="yes"?>
<Relationships xmlns="http://schemas.openxmlformats.org/package/2006/relationships"><Relationship Id="rId6" Type="http://schemas.openxmlformats.org/officeDocument/2006/relationships/notesSlide" Target="../notesSlides/notesSlide44.xml"/><Relationship Id="rId5" Type="http://schemas.openxmlformats.org/officeDocument/2006/relationships/slideLayout" Target="../slideLayouts/slideLayout1.xml"/><Relationship Id="rId4" Type="http://schemas.openxmlformats.org/officeDocument/2006/relationships/image" Target="../media/image48.png"/><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1.xml"/><Relationship Id="rId4" Type="http://schemas.openxmlformats.org/officeDocument/2006/relationships/image" Target="../media/image51.jpeg"/><Relationship Id="rId3" Type="http://schemas.openxmlformats.org/officeDocument/2006/relationships/image" Target="../media/image50.jpeg"/><Relationship Id="rId2" Type="http://schemas.openxmlformats.org/officeDocument/2006/relationships/image" Target="../media/image49.jpeg"/><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8.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xml"/><Relationship Id="rId2" Type="http://schemas.openxmlformats.org/officeDocument/2006/relationships/image" Target="../media/image52.png"/><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418267" y="1081278"/>
            <a:ext cx="4665692" cy="2590800"/>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5200" b="1" spc="288">
                <a:solidFill>
                  <a:srgbClr val="FFFFFF"/>
                </a:solidFill>
                <a:latin typeface="微软雅黑" panose="020B0503020204020204" charset="-122"/>
                <a:ea typeface="微软雅黑" panose="020B0503020204020204" charset="-122"/>
                <a:cs typeface="微软雅黑" panose="020B0503020204020204" charset="-122"/>
              </a:rPr>
              <a:t>高校后勤报修系统</a:t>
            </a:r>
            <a:r>
              <a:rPr lang="zh-CN" altLang="en-US" sz="5200" b="1" spc="288">
                <a:solidFill>
                  <a:srgbClr val="FFFFFF"/>
                </a:solidFill>
                <a:latin typeface="微软雅黑" panose="020B0503020204020204" charset="-122"/>
                <a:ea typeface="微软雅黑" panose="020B0503020204020204" charset="-122"/>
                <a:cs typeface="微软雅黑" panose="020B0503020204020204" charset="-122"/>
              </a:rPr>
              <a:t>设计师</a:t>
            </a:r>
            <a:r>
              <a:rPr lang="en-US" sz="5200" b="1" spc="288">
                <a:solidFill>
                  <a:srgbClr val="FFFFFF"/>
                </a:solidFill>
                <a:latin typeface="微软雅黑" panose="020B0503020204020204" charset="-122"/>
                <a:ea typeface="微软雅黑" panose="020B0503020204020204" charset="-122"/>
                <a:cs typeface="微软雅黑" panose="020B0503020204020204" charset="-122"/>
              </a:rPr>
              <a:t>与实现</a:t>
            </a:r>
            <a:endParaRPr lang="en-US" sz="1450"/>
          </a:p>
        </p:txBody>
      </p:sp>
      <p:sp>
        <p:nvSpPr>
          <p:cNvPr id="4" name="Text 2"/>
          <p:cNvSpPr/>
          <p:nvPr/>
        </p:nvSpPr>
        <p:spPr bwMode="auto">
          <a:xfrm>
            <a:off x="418267" y="3935389"/>
            <a:ext cx="1991011" cy="415925"/>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300">
                <a:solidFill>
                  <a:srgbClr val="000000"/>
                </a:solidFill>
                <a:latin typeface="微软雅黑" panose="020B0503020204020204" charset="-122"/>
                <a:ea typeface="微软雅黑" panose="020B0503020204020204" charset="-122"/>
                <a:cs typeface="微软雅黑" panose="020B0503020204020204" charset="-122"/>
              </a:rPr>
              <a:t>汇报人: XXX</a:t>
            </a:r>
            <a:endParaRPr lang="en-US" sz="1450"/>
          </a:p>
        </p:txBody>
      </p:sp>
      <p:sp>
        <p:nvSpPr>
          <p:cNvPr id="5" name="Shape 3"/>
          <p:cNvSpPr/>
          <p:nvPr/>
        </p:nvSpPr>
        <p:spPr bwMode="auto">
          <a:xfrm>
            <a:off x="518851" y="4392589"/>
            <a:ext cx="413806" cy="0"/>
          </a:xfrm>
          <a:custGeom>
            <a:avLst/>
            <a:gdLst/>
            <a:ahLst/>
            <a:cxnLst/>
            <a:rect l="l" t="t" r="r" b="b"/>
            <a:pathLst>
              <a:path w="413806" extrusionOk="0">
                <a:moveTo>
                  <a:pt x="0" y="0"/>
                </a:moveTo>
                <a:moveTo>
                  <a:pt x="0" y="0"/>
                </a:moveTo>
                <a:lnTo>
                  <a:pt x="413806" y="0"/>
                </a:lnTo>
              </a:path>
            </a:pathLst>
          </a:custGeom>
          <a:noFill/>
          <a:ln w="57150">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1352131" y="415690"/>
            <a:ext cx="2076092" cy="111556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4900" b="1">
                <a:solidFill>
                  <a:srgbClr val="000000"/>
                </a:solidFill>
                <a:latin typeface="微软雅黑" panose="020B0503020204020204" charset="-122"/>
                <a:ea typeface="微软雅黑" panose="020B0503020204020204" charset="-122"/>
                <a:cs typeface="微软雅黑" panose="020B0503020204020204" charset="-122"/>
              </a:rPr>
              <a:t>目录</a:t>
            </a:r>
            <a:endParaRPr lang="en-US" sz="1450"/>
          </a:p>
        </p:txBody>
      </p:sp>
      <p:sp>
        <p:nvSpPr>
          <p:cNvPr id="3" name="Text 1"/>
          <p:cNvSpPr/>
          <p:nvPr/>
        </p:nvSpPr>
        <p:spPr bwMode="auto">
          <a:xfrm>
            <a:off x="1548378" y="1334662"/>
            <a:ext cx="1740574"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a:solidFill>
                  <a:srgbClr val="000000"/>
                </a:solidFill>
                <a:latin typeface="微软雅黑" panose="020B0503020204020204" charset="-122"/>
                <a:ea typeface="微软雅黑" panose="020B0503020204020204" charset="-122"/>
                <a:cs typeface="微软雅黑" panose="020B0503020204020204" charset="-122"/>
              </a:rPr>
              <a:t>CONTENT</a:t>
            </a:r>
            <a:endParaRPr lang="en-US" sz="1450"/>
          </a:p>
        </p:txBody>
      </p:sp>
      <p:sp>
        <p:nvSpPr>
          <p:cNvPr id="4" name="Text 2"/>
          <p:cNvSpPr/>
          <p:nvPr/>
        </p:nvSpPr>
        <p:spPr bwMode="auto">
          <a:xfrm>
            <a:off x="5430846" y="406546"/>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系统开发背景</a:t>
            </a:r>
            <a:endParaRPr lang="en-US" sz="1450"/>
          </a:p>
        </p:txBody>
      </p:sp>
      <p:sp>
        <p:nvSpPr>
          <p:cNvPr id="5" name="Text 3"/>
          <p:cNvSpPr/>
          <p:nvPr/>
        </p:nvSpPr>
        <p:spPr bwMode="auto">
          <a:xfrm>
            <a:off x="4818198" y="324250"/>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6" name="Text 4"/>
          <p:cNvSpPr/>
          <p:nvPr/>
        </p:nvSpPr>
        <p:spPr bwMode="auto">
          <a:xfrm>
            <a:off x="5430846" y="959861"/>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技术选型与应用</a:t>
            </a:r>
            <a:endParaRPr lang="en-US" sz="1450"/>
          </a:p>
        </p:txBody>
      </p:sp>
      <p:sp>
        <p:nvSpPr>
          <p:cNvPr id="7" name="Text 5"/>
          <p:cNvSpPr/>
          <p:nvPr/>
        </p:nvSpPr>
        <p:spPr bwMode="auto">
          <a:xfrm>
            <a:off x="4818198" y="87756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8" name="Text 6"/>
          <p:cNvSpPr/>
          <p:nvPr/>
        </p:nvSpPr>
        <p:spPr bwMode="auto">
          <a:xfrm>
            <a:off x="5430846" y="1513177"/>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系统分析与设计</a:t>
            </a:r>
            <a:endParaRPr lang="en-US" sz="1450"/>
          </a:p>
        </p:txBody>
      </p:sp>
      <p:sp>
        <p:nvSpPr>
          <p:cNvPr id="9" name="Text 7"/>
          <p:cNvSpPr/>
          <p:nvPr/>
        </p:nvSpPr>
        <p:spPr bwMode="auto">
          <a:xfrm>
            <a:off x="4818198" y="1430881"/>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10" name="Text 8"/>
          <p:cNvSpPr/>
          <p:nvPr/>
        </p:nvSpPr>
        <p:spPr bwMode="auto">
          <a:xfrm>
            <a:off x="5430846" y="2066492"/>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系统功能实现</a:t>
            </a:r>
            <a:endParaRPr lang="en-US" sz="1450"/>
          </a:p>
        </p:txBody>
      </p:sp>
      <p:sp>
        <p:nvSpPr>
          <p:cNvPr id="11" name="Text 9"/>
          <p:cNvSpPr/>
          <p:nvPr/>
        </p:nvSpPr>
        <p:spPr bwMode="auto">
          <a:xfrm>
            <a:off x="4818198" y="198419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04</a:t>
            </a:r>
            <a:endParaRPr lang="en-US" sz="1450"/>
          </a:p>
        </p:txBody>
      </p:sp>
      <p:sp>
        <p:nvSpPr>
          <p:cNvPr id="12" name="Text 10"/>
          <p:cNvSpPr/>
          <p:nvPr/>
        </p:nvSpPr>
        <p:spPr bwMode="auto">
          <a:xfrm>
            <a:off x="5430846" y="2619808"/>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系统测试与完善</a:t>
            </a:r>
            <a:endParaRPr lang="en-US" sz="1450"/>
          </a:p>
        </p:txBody>
      </p:sp>
      <p:sp>
        <p:nvSpPr>
          <p:cNvPr id="13" name="Text 11"/>
          <p:cNvSpPr/>
          <p:nvPr/>
        </p:nvSpPr>
        <p:spPr bwMode="auto">
          <a:xfrm>
            <a:off x="4818198" y="2537512"/>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05</a:t>
            </a:r>
            <a:endParaRPr lang="en-US" sz="1450"/>
          </a:p>
        </p:txBody>
      </p:sp>
      <p:sp>
        <p:nvSpPr>
          <p:cNvPr id="14" name="Text 12"/>
          <p:cNvSpPr/>
          <p:nvPr/>
        </p:nvSpPr>
        <p:spPr bwMode="auto">
          <a:xfrm>
            <a:off x="5430846" y="3173123"/>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国内外现状对比</a:t>
            </a:r>
            <a:endParaRPr lang="en-US" sz="1450"/>
          </a:p>
        </p:txBody>
      </p:sp>
      <p:sp>
        <p:nvSpPr>
          <p:cNvPr id="15" name="Text 13"/>
          <p:cNvSpPr/>
          <p:nvPr/>
        </p:nvSpPr>
        <p:spPr bwMode="auto">
          <a:xfrm>
            <a:off x="4818198" y="3090827"/>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06</a:t>
            </a:r>
            <a:endParaRPr lang="en-US" sz="1450"/>
          </a:p>
        </p:txBody>
      </p:sp>
      <p:sp>
        <p:nvSpPr>
          <p:cNvPr id="16" name="Text 14"/>
          <p:cNvSpPr/>
          <p:nvPr/>
        </p:nvSpPr>
        <p:spPr bwMode="auto">
          <a:xfrm>
            <a:off x="5430846" y="3726438"/>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系统核心功能</a:t>
            </a:r>
            <a:endParaRPr lang="en-US" sz="1450"/>
          </a:p>
        </p:txBody>
      </p:sp>
      <p:sp>
        <p:nvSpPr>
          <p:cNvPr id="17" name="Text 15"/>
          <p:cNvSpPr/>
          <p:nvPr/>
        </p:nvSpPr>
        <p:spPr bwMode="auto">
          <a:xfrm>
            <a:off x="4818198" y="3644142"/>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07</a:t>
            </a:r>
            <a:endParaRPr lang="en-US" sz="1450"/>
          </a:p>
        </p:txBody>
      </p:sp>
      <p:sp>
        <p:nvSpPr>
          <p:cNvPr id="18" name="Text 16"/>
          <p:cNvSpPr/>
          <p:nvPr/>
        </p:nvSpPr>
        <p:spPr bwMode="auto">
          <a:xfrm>
            <a:off x="5430846" y="4279754"/>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技术栈介绍</a:t>
            </a:r>
            <a:endParaRPr lang="en-US" sz="1450"/>
          </a:p>
        </p:txBody>
      </p:sp>
      <p:sp>
        <p:nvSpPr>
          <p:cNvPr id="19" name="Text 17"/>
          <p:cNvSpPr/>
          <p:nvPr/>
        </p:nvSpPr>
        <p:spPr bwMode="auto">
          <a:xfrm>
            <a:off x="4818198" y="4197458"/>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08</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1352131" y="415690"/>
            <a:ext cx="2076092" cy="111556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4900" b="1">
                <a:solidFill>
                  <a:srgbClr val="000000"/>
                </a:solidFill>
                <a:latin typeface="微软雅黑" panose="020B0503020204020204" charset="-122"/>
                <a:ea typeface="微软雅黑" panose="020B0503020204020204" charset="-122"/>
                <a:cs typeface="微软雅黑" panose="020B0503020204020204" charset="-122"/>
              </a:rPr>
              <a:t>目录</a:t>
            </a:r>
            <a:endParaRPr lang="en-US" sz="1450"/>
          </a:p>
        </p:txBody>
      </p:sp>
      <p:sp>
        <p:nvSpPr>
          <p:cNvPr id="3" name="Text 1"/>
          <p:cNvSpPr/>
          <p:nvPr/>
        </p:nvSpPr>
        <p:spPr bwMode="auto">
          <a:xfrm>
            <a:off x="1548378" y="1334662"/>
            <a:ext cx="1740574"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a:solidFill>
                  <a:srgbClr val="000000"/>
                </a:solidFill>
                <a:latin typeface="微软雅黑" panose="020B0503020204020204" charset="-122"/>
                <a:ea typeface="微软雅黑" panose="020B0503020204020204" charset="-122"/>
                <a:cs typeface="微软雅黑" panose="020B0503020204020204" charset="-122"/>
              </a:rPr>
              <a:t>CONTENT</a:t>
            </a:r>
            <a:endParaRPr lang="en-US" sz="1450"/>
          </a:p>
        </p:txBody>
      </p:sp>
      <p:sp>
        <p:nvSpPr>
          <p:cNvPr id="4" name="Text 2"/>
          <p:cNvSpPr/>
          <p:nvPr/>
        </p:nvSpPr>
        <p:spPr bwMode="auto">
          <a:xfrm>
            <a:off x="5430846" y="406546"/>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系统设计原则</a:t>
            </a:r>
            <a:endParaRPr lang="en-US" sz="1450"/>
          </a:p>
        </p:txBody>
      </p:sp>
      <p:sp>
        <p:nvSpPr>
          <p:cNvPr id="5" name="Text 3"/>
          <p:cNvSpPr/>
          <p:nvPr/>
        </p:nvSpPr>
        <p:spPr bwMode="auto">
          <a:xfrm>
            <a:off x="4818198" y="324250"/>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09</a:t>
            </a:r>
            <a:endParaRPr lang="en-US" sz="1450"/>
          </a:p>
        </p:txBody>
      </p:sp>
      <p:sp>
        <p:nvSpPr>
          <p:cNvPr id="6" name="Text 4"/>
          <p:cNvSpPr/>
          <p:nvPr/>
        </p:nvSpPr>
        <p:spPr bwMode="auto">
          <a:xfrm>
            <a:off x="5430846" y="959861"/>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数据库结构设计</a:t>
            </a:r>
            <a:endParaRPr lang="en-US" sz="1450"/>
          </a:p>
        </p:txBody>
      </p:sp>
      <p:sp>
        <p:nvSpPr>
          <p:cNvPr id="7" name="Text 5"/>
          <p:cNvSpPr/>
          <p:nvPr/>
        </p:nvSpPr>
        <p:spPr bwMode="auto">
          <a:xfrm>
            <a:off x="4818198" y="87756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10</a:t>
            </a:r>
            <a:endParaRPr lang="en-US" sz="1450"/>
          </a:p>
        </p:txBody>
      </p:sp>
      <p:sp>
        <p:nvSpPr>
          <p:cNvPr id="8" name="Text 6"/>
          <p:cNvSpPr/>
          <p:nvPr/>
        </p:nvSpPr>
        <p:spPr bwMode="auto">
          <a:xfrm>
            <a:off x="5430846" y="1513177"/>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系统功能模块</a:t>
            </a:r>
            <a:endParaRPr lang="en-US" sz="1450"/>
          </a:p>
        </p:txBody>
      </p:sp>
      <p:sp>
        <p:nvSpPr>
          <p:cNvPr id="9" name="Text 7"/>
          <p:cNvSpPr/>
          <p:nvPr/>
        </p:nvSpPr>
        <p:spPr bwMode="auto">
          <a:xfrm>
            <a:off x="4818198" y="1430881"/>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11</a:t>
            </a:r>
            <a:endParaRPr lang="en-US" sz="1450"/>
          </a:p>
        </p:txBody>
      </p:sp>
      <p:sp>
        <p:nvSpPr>
          <p:cNvPr id="10" name="Text 8"/>
          <p:cNvSpPr/>
          <p:nvPr/>
        </p:nvSpPr>
        <p:spPr bwMode="auto">
          <a:xfrm>
            <a:off x="5430846" y="2066492"/>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研究与设计过程</a:t>
            </a:r>
            <a:endParaRPr lang="en-US" sz="1450"/>
          </a:p>
        </p:txBody>
      </p:sp>
      <p:sp>
        <p:nvSpPr>
          <p:cNvPr id="11" name="Text 9"/>
          <p:cNvSpPr/>
          <p:nvPr/>
        </p:nvSpPr>
        <p:spPr bwMode="auto">
          <a:xfrm>
            <a:off x="4818198" y="198419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12</a:t>
            </a:r>
            <a:endParaRPr lang="en-US" sz="1450"/>
          </a:p>
        </p:txBody>
      </p:sp>
      <p:sp>
        <p:nvSpPr>
          <p:cNvPr id="12" name="Text 10"/>
          <p:cNvSpPr/>
          <p:nvPr/>
        </p:nvSpPr>
        <p:spPr bwMode="auto">
          <a:xfrm>
            <a:off x="5430846" y="2619808"/>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白盒测试探究</a:t>
            </a:r>
            <a:endParaRPr lang="en-US" sz="1450"/>
          </a:p>
        </p:txBody>
      </p:sp>
      <p:sp>
        <p:nvSpPr>
          <p:cNvPr id="13" name="Text 11"/>
          <p:cNvSpPr/>
          <p:nvPr/>
        </p:nvSpPr>
        <p:spPr bwMode="auto">
          <a:xfrm>
            <a:off x="4818198" y="2537512"/>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13</a:t>
            </a:r>
            <a:endParaRPr lang="en-US" sz="1450"/>
          </a:p>
        </p:txBody>
      </p:sp>
      <p:sp>
        <p:nvSpPr>
          <p:cNvPr id="14" name="Text 12"/>
          <p:cNvSpPr/>
          <p:nvPr/>
        </p:nvSpPr>
        <p:spPr bwMode="auto">
          <a:xfrm>
            <a:off x="5430846" y="3173123"/>
            <a:ext cx="3017519" cy="457200"/>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450">
                <a:solidFill>
                  <a:srgbClr val="000000"/>
                </a:solidFill>
                <a:latin typeface="微软雅黑" panose="020B0503020204020204" charset="-122"/>
                <a:ea typeface="微软雅黑" panose="020B0503020204020204" charset="-122"/>
                <a:cs typeface="微软雅黑" panose="020B0503020204020204" charset="-122"/>
              </a:rPr>
              <a:t>毕业设计致谢</a:t>
            </a:r>
            <a:endParaRPr lang="en-US" sz="1450"/>
          </a:p>
        </p:txBody>
      </p:sp>
      <p:sp>
        <p:nvSpPr>
          <p:cNvPr id="15" name="Text 13"/>
          <p:cNvSpPr/>
          <p:nvPr/>
        </p:nvSpPr>
        <p:spPr bwMode="auto">
          <a:xfrm>
            <a:off x="4818198" y="3090827"/>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300" b="1">
                <a:solidFill>
                  <a:srgbClr val="002DB0"/>
                </a:solidFill>
                <a:latin typeface="微软雅黑" panose="020B0503020204020204" charset="-122"/>
                <a:ea typeface="微软雅黑" panose="020B0503020204020204" charset="-122"/>
                <a:cs typeface="微软雅黑" panose="020B0503020204020204" charset="-122"/>
              </a:rPr>
              <a:t>14</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系统开发背景</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高校规模扩大挑战</a:t>
            </a:r>
            <a:endParaRPr lang="en-US" sz="1450"/>
          </a:p>
        </p:txBody>
      </p:sp>
      <p:sp>
        <p:nvSpPr>
          <p:cNvPr id="3" name="Shape 1"/>
          <p:cNvSpPr/>
          <p:nvPr/>
        </p:nvSpPr>
        <p:spPr bwMode="auto">
          <a:xfrm>
            <a:off x="640994" y="1792041"/>
            <a:ext cx="2487168" cy="2332625"/>
          </a:xfrm>
          <a:custGeom>
            <a:avLst/>
            <a:gdLst/>
            <a:ahLst/>
            <a:cxnLst/>
            <a:rect l="l" t="t" r="r" b="b"/>
            <a:pathLst>
              <a:path w="2487168" h="2332625" extrusionOk="0">
                <a:moveTo>
                  <a:pt x="260604" y="0"/>
                </a:moveTo>
                <a:moveTo>
                  <a:pt x="260604" y="0"/>
                </a:moveTo>
                <a:lnTo>
                  <a:pt x="2226564" y="0"/>
                </a:lnTo>
                <a:quadBezTo>
                  <a:pt x="2487168" y="0"/>
                  <a:pt x="2487168" y="291578"/>
                </a:quadBezTo>
                <a:lnTo>
                  <a:pt x="2487168" y="2041047"/>
                </a:lnTo>
                <a:quadBezTo>
                  <a:pt x="2487168" y="2332625"/>
                  <a:pt x="2226564" y="2332625"/>
                </a:quadBezTo>
                <a:lnTo>
                  <a:pt x="260604" y="2332625"/>
                </a:lnTo>
                <a:quadBezTo>
                  <a:pt x="0" y="2332625"/>
                  <a:pt x="0" y="2041047"/>
                </a:quadBezTo>
                <a:lnTo>
                  <a:pt x="0" y="291578"/>
                </a:lnTo>
                <a:quadBezTo>
                  <a:pt x="0" y="0"/>
                  <a:pt x="260604" y="0"/>
                </a:quadBezTo>
                <a:close/>
              </a:path>
            </a:pathLst>
          </a:custGeom>
          <a:solidFill>
            <a:srgbClr val="0084FF">
              <a:alpha val="10000"/>
            </a:srgbClr>
          </a:solidFill>
        </p:spPr>
      </p:sp>
      <p:sp>
        <p:nvSpPr>
          <p:cNvPr id="4" name="Shape 2"/>
          <p:cNvSpPr/>
          <p:nvPr/>
        </p:nvSpPr>
        <p:spPr bwMode="auto">
          <a:xfrm>
            <a:off x="1066906" y="1534826"/>
            <a:ext cx="530506" cy="257215"/>
          </a:xfrm>
          <a:custGeom>
            <a:avLst/>
            <a:gdLst/>
            <a:ahLst/>
            <a:cxnLst/>
            <a:rect l="l" t="t" r="r" b="b"/>
            <a:pathLst>
              <a:path w="530506" h="257215" extrusionOk="0">
                <a:moveTo>
                  <a:pt x="265253" y="0"/>
                </a:moveTo>
                <a:moveTo>
                  <a:pt x="265253" y="0"/>
                </a:moveTo>
                <a:lnTo>
                  <a:pt x="0" y="257215"/>
                </a:lnTo>
                <a:lnTo>
                  <a:pt x="530506" y="257215"/>
                </a:lnTo>
                <a:close/>
              </a:path>
            </a:pathLst>
          </a:custGeom>
          <a:solidFill>
            <a:srgbClr val="0084FF">
              <a:alpha val="10000"/>
            </a:srgbClr>
          </a:solidFill>
        </p:spPr>
      </p:sp>
      <p:sp>
        <p:nvSpPr>
          <p:cNvPr id="5" name="Shape 3"/>
          <p:cNvSpPr/>
          <p:nvPr/>
        </p:nvSpPr>
        <p:spPr bwMode="auto">
          <a:xfrm>
            <a:off x="640994" y="1018720"/>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6" name="Shape 4"/>
          <p:cNvSpPr/>
          <p:nvPr/>
        </p:nvSpPr>
        <p:spPr bwMode="auto">
          <a:xfrm>
            <a:off x="1589474" y="1289285"/>
            <a:ext cx="1334304" cy="0"/>
          </a:xfrm>
          <a:custGeom>
            <a:avLst/>
            <a:gdLst/>
            <a:ahLst/>
            <a:cxnLst/>
            <a:rect l="l" t="t" r="r" b="b"/>
            <a:pathLst>
              <a:path w="1334304" extrusionOk="0">
                <a:moveTo>
                  <a:pt x="0" y="0"/>
                </a:moveTo>
                <a:moveTo>
                  <a:pt x="0" y="0"/>
                </a:moveTo>
                <a:lnTo>
                  <a:pt x="1334304" y="0"/>
                </a:lnTo>
              </a:path>
            </a:pathLst>
          </a:custGeom>
          <a:noFill/>
          <a:ln w="19050">
            <a:solidFill>
              <a:srgbClr val="002DB0"/>
            </a:solidFill>
            <a:prstDash val="solid"/>
            <a:headEnd type="none"/>
            <a:tailEnd type="arrow"/>
          </a:ln>
        </p:spPr>
      </p:sp>
      <p:sp>
        <p:nvSpPr>
          <p:cNvPr id="7" name="Text 5"/>
          <p:cNvSpPr/>
          <p:nvPr/>
        </p:nvSpPr>
        <p:spPr bwMode="auto">
          <a:xfrm>
            <a:off x="686714" y="1938345"/>
            <a:ext cx="2395728"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高校规模扩大带来的后勤压力</a:t>
            </a:r>
            <a:endParaRPr lang="en-US" sz="1450"/>
          </a:p>
        </p:txBody>
      </p:sp>
      <p:sp>
        <p:nvSpPr>
          <p:cNvPr id="8" name="Shape 6"/>
          <p:cNvSpPr/>
          <p:nvPr/>
        </p:nvSpPr>
        <p:spPr bwMode="auto">
          <a:xfrm>
            <a:off x="3339389" y="1792041"/>
            <a:ext cx="2487168" cy="2332625"/>
          </a:xfrm>
          <a:custGeom>
            <a:avLst/>
            <a:gdLst/>
            <a:ahLst/>
            <a:cxnLst/>
            <a:rect l="l" t="t" r="r" b="b"/>
            <a:pathLst>
              <a:path w="2487168" h="2332625" extrusionOk="0">
                <a:moveTo>
                  <a:pt x="260604" y="0"/>
                </a:moveTo>
                <a:moveTo>
                  <a:pt x="260604" y="0"/>
                </a:moveTo>
                <a:lnTo>
                  <a:pt x="2226564" y="0"/>
                </a:lnTo>
                <a:quadBezTo>
                  <a:pt x="2487168" y="0"/>
                  <a:pt x="2487168" y="291578"/>
                </a:quadBezTo>
                <a:lnTo>
                  <a:pt x="2487168" y="2041047"/>
                </a:lnTo>
                <a:quadBezTo>
                  <a:pt x="2487168" y="2332625"/>
                  <a:pt x="2226564" y="2332625"/>
                </a:quadBezTo>
                <a:lnTo>
                  <a:pt x="260604" y="2332625"/>
                </a:lnTo>
                <a:quadBezTo>
                  <a:pt x="0" y="2332625"/>
                  <a:pt x="0" y="2041047"/>
                </a:quadBezTo>
                <a:lnTo>
                  <a:pt x="0" y="291578"/>
                </a:lnTo>
                <a:quadBezTo>
                  <a:pt x="0" y="0"/>
                  <a:pt x="260604" y="0"/>
                </a:quadBezTo>
                <a:close/>
              </a:path>
            </a:pathLst>
          </a:custGeom>
          <a:solidFill>
            <a:srgbClr val="0084FF">
              <a:alpha val="10000"/>
            </a:srgbClr>
          </a:solidFill>
        </p:spPr>
      </p:sp>
      <p:sp>
        <p:nvSpPr>
          <p:cNvPr id="9" name="Shape 7"/>
          <p:cNvSpPr/>
          <p:nvPr/>
        </p:nvSpPr>
        <p:spPr bwMode="auto">
          <a:xfrm>
            <a:off x="6015838" y="1792155"/>
            <a:ext cx="2487168" cy="2332625"/>
          </a:xfrm>
          <a:custGeom>
            <a:avLst/>
            <a:gdLst/>
            <a:ahLst/>
            <a:cxnLst/>
            <a:rect l="l" t="t" r="r" b="b"/>
            <a:pathLst>
              <a:path w="2487168" h="2332625" extrusionOk="0">
                <a:moveTo>
                  <a:pt x="260604" y="0"/>
                </a:moveTo>
                <a:moveTo>
                  <a:pt x="260604" y="0"/>
                </a:moveTo>
                <a:lnTo>
                  <a:pt x="2226564" y="0"/>
                </a:lnTo>
                <a:quadBezTo>
                  <a:pt x="2487168" y="0"/>
                  <a:pt x="2487168" y="291578"/>
                </a:quadBezTo>
                <a:lnTo>
                  <a:pt x="2487168" y="2041047"/>
                </a:lnTo>
                <a:quadBezTo>
                  <a:pt x="2487168" y="2332625"/>
                  <a:pt x="2226564" y="2332625"/>
                </a:quadBezTo>
                <a:lnTo>
                  <a:pt x="260604" y="2332625"/>
                </a:lnTo>
                <a:quadBezTo>
                  <a:pt x="0" y="2332625"/>
                  <a:pt x="0" y="2041047"/>
                </a:quadBezTo>
                <a:lnTo>
                  <a:pt x="0" y="291578"/>
                </a:lnTo>
                <a:quadBezTo>
                  <a:pt x="0" y="0"/>
                  <a:pt x="260604" y="0"/>
                </a:quadBezTo>
                <a:close/>
              </a:path>
            </a:pathLst>
          </a:custGeom>
          <a:solidFill>
            <a:srgbClr val="0084FF">
              <a:alpha val="10000"/>
            </a:srgbClr>
          </a:solidFill>
        </p:spPr>
      </p:sp>
      <p:sp>
        <p:nvSpPr>
          <p:cNvPr id="10" name="Text 8"/>
          <p:cNvSpPr/>
          <p:nvPr/>
        </p:nvSpPr>
        <p:spPr bwMode="auto">
          <a:xfrm>
            <a:off x="750722" y="2340681"/>
            <a:ext cx="226771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随着高校招生规模的不断扩大，学生人数的增加导致校园设施使用频率增高，从而给后勤管理带来巨大压力，尤其是在维护和报修方面。</a:t>
            </a:r>
            <a:endParaRPr lang="en-US" sz="1450"/>
          </a:p>
        </p:txBody>
      </p:sp>
      <p:sp>
        <p:nvSpPr>
          <p:cNvPr id="11" name="Text 9"/>
          <p:cNvSpPr/>
          <p:nvPr/>
        </p:nvSpPr>
        <p:spPr bwMode="auto">
          <a:xfrm>
            <a:off x="3385109" y="1938345"/>
            <a:ext cx="2395728"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报修系统的重要性提升</a:t>
            </a:r>
            <a:endParaRPr lang="en-US" sz="1450"/>
          </a:p>
        </p:txBody>
      </p:sp>
      <p:sp>
        <p:nvSpPr>
          <p:cNvPr id="12" name="Text 10"/>
          <p:cNvSpPr/>
          <p:nvPr/>
        </p:nvSpPr>
        <p:spPr bwMode="auto">
          <a:xfrm>
            <a:off x="6061558" y="1938345"/>
            <a:ext cx="2395728"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技术升级应对挑战</a:t>
            </a:r>
            <a:endParaRPr lang="en-US" sz="1450"/>
          </a:p>
        </p:txBody>
      </p:sp>
      <p:sp>
        <p:nvSpPr>
          <p:cNvPr id="13" name="Text 11"/>
          <p:cNvSpPr/>
          <p:nvPr/>
        </p:nvSpPr>
        <p:spPr bwMode="auto">
          <a:xfrm>
            <a:off x="3449117" y="2340681"/>
            <a:ext cx="226771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在高校规模扩大的背景下，一个高效、响应迅速的报修系统对于保障校园设施正常运行、提升师生满意度具有至关重要的作用。</a:t>
            </a:r>
            <a:endParaRPr lang="en-US" sz="1450"/>
          </a:p>
        </p:txBody>
      </p:sp>
      <p:sp>
        <p:nvSpPr>
          <p:cNvPr id="14" name="Text 12"/>
          <p:cNvSpPr/>
          <p:nvPr/>
        </p:nvSpPr>
        <p:spPr bwMode="auto">
          <a:xfrm>
            <a:off x="6125566" y="2340681"/>
            <a:ext cx="226771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面对高校规模扩大带来的后勤管理挑战，采用先进的信息技术对报修系统进行升级改造，是提高处理效率、减少资源浪费的有效途径。</a:t>
            </a:r>
            <a:endParaRPr lang="en-US" sz="1450"/>
          </a:p>
        </p:txBody>
      </p:sp>
      <p:sp>
        <p:nvSpPr>
          <p:cNvPr id="15" name="Text 13"/>
          <p:cNvSpPr/>
          <p:nvPr/>
        </p:nvSpPr>
        <p:spPr bwMode="auto">
          <a:xfrm>
            <a:off x="640994" y="1048069"/>
            <a:ext cx="679728" cy="365760"/>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16" name="Shape 14"/>
          <p:cNvSpPr/>
          <p:nvPr/>
        </p:nvSpPr>
        <p:spPr bwMode="auto">
          <a:xfrm>
            <a:off x="3339835" y="1018720"/>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7" name="Text 15"/>
          <p:cNvSpPr/>
          <p:nvPr/>
        </p:nvSpPr>
        <p:spPr bwMode="auto">
          <a:xfrm>
            <a:off x="3349080" y="1048069"/>
            <a:ext cx="709960" cy="365760"/>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8" name="Shape 16"/>
          <p:cNvSpPr/>
          <p:nvPr/>
        </p:nvSpPr>
        <p:spPr bwMode="auto">
          <a:xfrm>
            <a:off x="6015819" y="1018720"/>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9" name="Text 17"/>
          <p:cNvSpPr/>
          <p:nvPr/>
        </p:nvSpPr>
        <p:spPr bwMode="auto">
          <a:xfrm>
            <a:off x="6016304" y="1048069"/>
            <a:ext cx="723664" cy="365760"/>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20" name="Shape 18"/>
          <p:cNvSpPr/>
          <p:nvPr/>
        </p:nvSpPr>
        <p:spPr bwMode="auto">
          <a:xfrm>
            <a:off x="4228093" y="1289285"/>
            <a:ext cx="1334304" cy="0"/>
          </a:xfrm>
          <a:custGeom>
            <a:avLst/>
            <a:gdLst/>
            <a:ahLst/>
            <a:cxnLst/>
            <a:rect l="l" t="t" r="r" b="b"/>
            <a:pathLst>
              <a:path w="1334304" extrusionOk="0">
                <a:moveTo>
                  <a:pt x="0" y="0"/>
                </a:moveTo>
                <a:moveTo>
                  <a:pt x="0" y="0"/>
                </a:moveTo>
                <a:lnTo>
                  <a:pt x="1334304" y="0"/>
                </a:lnTo>
              </a:path>
            </a:pathLst>
          </a:custGeom>
          <a:noFill/>
          <a:ln w="19050">
            <a:solidFill>
              <a:srgbClr val="002DB0"/>
            </a:solidFill>
            <a:prstDash val="solid"/>
            <a:headEnd type="none"/>
            <a:tailEnd type="arrow"/>
          </a:ln>
        </p:spPr>
      </p:sp>
      <p:sp>
        <p:nvSpPr>
          <p:cNvPr id="21" name="Shape 19"/>
          <p:cNvSpPr/>
          <p:nvPr/>
        </p:nvSpPr>
        <p:spPr bwMode="auto">
          <a:xfrm>
            <a:off x="6913035" y="1289285"/>
            <a:ext cx="1334304" cy="0"/>
          </a:xfrm>
          <a:custGeom>
            <a:avLst/>
            <a:gdLst/>
            <a:ahLst/>
            <a:cxnLst/>
            <a:rect l="l" t="t" r="r" b="b"/>
            <a:pathLst>
              <a:path w="1334304" extrusionOk="0">
                <a:moveTo>
                  <a:pt x="0" y="0"/>
                </a:moveTo>
                <a:moveTo>
                  <a:pt x="0" y="0"/>
                </a:moveTo>
                <a:lnTo>
                  <a:pt x="1334304" y="0"/>
                </a:lnTo>
              </a:path>
            </a:pathLst>
          </a:custGeom>
          <a:noFill/>
          <a:ln w="19050">
            <a:solidFill>
              <a:srgbClr val="002DB0"/>
            </a:solidFill>
            <a:prstDash val="solid"/>
            <a:headEnd type="none"/>
            <a:tailEnd type="arrow"/>
          </a:ln>
        </p:spPr>
      </p:sp>
      <p:sp>
        <p:nvSpPr>
          <p:cNvPr id="22" name="Shape 20"/>
          <p:cNvSpPr/>
          <p:nvPr/>
        </p:nvSpPr>
        <p:spPr bwMode="auto">
          <a:xfrm>
            <a:off x="3765747" y="1534826"/>
            <a:ext cx="530506" cy="257215"/>
          </a:xfrm>
          <a:custGeom>
            <a:avLst/>
            <a:gdLst/>
            <a:ahLst/>
            <a:cxnLst/>
            <a:rect l="l" t="t" r="r" b="b"/>
            <a:pathLst>
              <a:path w="530506" h="257215" extrusionOk="0">
                <a:moveTo>
                  <a:pt x="265253" y="0"/>
                </a:moveTo>
                <a:moveTo>
                  <a:pt x="265253" y="0"/>
                </a:moveTo>
                <a:lnTo>
                  <a:pt x="0" y="257215"/>
                </a:lnTo>
                <a:lnTo>
                  <a:pt x="530506" y="257215"/>
                </a:lnTo>
                <a:close/>
              </a:path>
            </a:pathLst>
          </a:custGeom>
          <a:solidFill>
            <a:srgbClr val="0084FF">
              <a:alpha val="10000"/>
            </a:srgbClr>
          </a:solidFill>
        </p:spPr>
      </p:sp>
      <p:sp>
        <p:nvSpPr>
          <p:cNvPr id="23" name="Shape 21"/>
          <p:cNvSpPr/>
          <p:nvPr/>
        </p:nvSpPr>
        <p:spPr bwMode="auto">
          <a:xfrm>
            <a:off x="6441731" y="1534826"/>
            <a:ext cx="530506" cy="257215"/>
          </a:xfrm>
          <a:custGeom>
            <a:avLst/>
            <a:gdLst/>
            <a:ahLst/>
            <a:cxnLst/>
            <a:rect l="l" t="t" r="r" b="b"/>
            <a:pathLst>
              <a:path w="530506" h="257215" extrusionOk="0">
                <a:moveTo>
                  <a:pt x="265253" y="0"/>
                </a:moveTo>
                <a:moveTo>
                  <a:pt x="265253" y="0"/>
                </a:moveTo>
                <a:lnTo>
                  <a:pt x="0" y="257215"/>
                </a:lnTo>
                <a:lnTo>
                  <a:pt x="530506" y="257215"/>
                </a:lnTo>
                <a:close/>
              </a:path>
            </a:pathLst>
          </a:custGeom>
          <a:solidFill>
            <a:srgbClr val="0084FF">
              <a:alpha val="10000"/>
            </a:srgbClr>
          </a:solidFill>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报修系统重要性</a:t>
            </a:r>
            <a:endParaRPr lang="en-US" sz="1450"/>
          </a:p>
        </p:txBody>
      </p:sp>
      <p:pic>
        <p:nvPicPr>
          <p:cNvPr id="3" name="Image 0" descr="https://sgw-dx.xf-yun.com/api/v1/sparkdesk/_174002316528341f477baf5ac4d38a63cb3d3108f9e0b.jpg?authorization=c2ltcGxlLWp3dCBhaz1zcGFya2Rlc2s4MDAwMDAwMDAwMDE7ZXhwPTMzMTY4MjMxNjU7YWxnbz1obWFjLXNoYTI1NjtzaWc9ODFFcGpNV2t0Nk1NUVlyOVpVUU5TaHFhZkswWE9rcGlNelJMTjBRSmhwaz0=&amp;x_location=7YfmxI7B7uKO7jlRxIftd60uePD="/>
          <p:cNvPicPr>
            <a:picLocks noChangeAspect="1"/>
          </p:cNvPicPr>
          <p:nvPr/>
        </p:nvPicPr>
        <p:blipFill>
          <a:blip r:embed="rId2"/>
          <a:srcRect/>
          <a:stretch>
            <a:fillRect/>
          </a:stretch>
        </p:blipFill>
        <p:spPr bwMode="auto">
          <a:xfrm>
            <a:off x="505361" y="2646298"/>
            <a:ext cx="2516140" cy="1415329"/>
          </a:xfrm>
          <a:prstGeom prst="rect">
            <a:avLst/>
          </a:prstGeom>
        </p:spPr>
      </p:pic>
      <p:sp>
        <p:nvSpPr>
          <p:cNvPr id="4" name="Text 1"/>
          <p:cNvSpPr/>
          <p:nvPr/>
        </p:nvSpPr>
        <p:spPr bwMode="auto">
          <a:xfrm>
            <a:off x="45593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提升管理效率</a:t>
            </a:r>
            <a:endParaRPr lang="en-US" sz="1450"/>
          </a:p>
        </p:txBody>
      </p:sp>
      <p:sp>
        <p:nvSpPr>
          <p:cNvPr id="5" name="Text 2"/>
          <p:cNvSpPr/>
          <p:nvPr/>
        </p:nvSpPr>
        <p:spPr bwMode="auto">
          <a:xfrm>
            <a:off x="324788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该系统使得学生能够快速反馈设施问题，并实时跟踪维修进度，从而提升了服务的透明度和学生的满意度。</a:t>
            </a:r>
            <a:endParaRPr lang="en-US" sz="1450"/>
          </a:p>
        </p:txBody>
      </p:sp>
      <p:pic>
        <p:nvPicPr>
          <p:cNvPr id="6" name="Image 1" descr="https://sgw-dx.xf-yun.com/api/v1/sparkdesk/_174002316810458b9abd35f23490a83789a11f1b575aa.jpg?authorization=c2ltcGxlLWp3dCBhaz1zcGFya2Rlc2s4MDAwMDAwMDAwMDE7ZXhwPTMzMTY4MjMxNjg7YWxnbz1obWFjLXNoYTI1NjtzaWc9RmVFU01sd1huSXRFcjhmaEE5MTNMMzdpdjcvNm9HTTg4c0o4N1JDL2srVT0=&amp;x_location=7YfmxI7B7uKO7jlRxIftd60uePD="/>
          <p:cNvPicPr>
            <a:picLocks noChangeAspect="1"/>
          </p:cNvPicPr>
          <p:nvPr/>
        </p:nvPicPr>
        <p:blipFill>
          <a:blip r:embed="rId3"/>
          <a:srcRect l="154" r="153"/>
          <a:stretch>
            <a:fillRect/>
          </a:stretch>
        </p:blipFill>
        <p:spPr bwMode="auto">
          <a:xfrm>
            <a:off x="3297311" y="2646298"/>
            <a:ext cx="2516140" cy="1415329"/>
          </a:xfrm>
          <a:prstGeom prst="rect">
            <a:avLst/>
          </a:prstGeom>
        </p:spPr>
      </p:pic>
      <p:sp>
        <p:nvSpPr>
          <p:cNvPr id="7" name="Text 3"/>
          <p:cNvSpPr/>
          <p:nvPr/>
        </p:nvSpPr>
        <p:spPr bwMode="auto">
          <a:xfrm>
            <a:off x="324788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改善服务质量</a:t>
            </a:r>
            <a:endParaRPr lang="en-US" sz="1450"/>
          </a:p>
        </p:txBody>
      </p:sp>
      <p:sp>
        <p:nvSpPr>
          <p:cNvPr id="8" name="Text 4"/>
          <p:cNvSpPr/>
          <p:nvPr/>
        </p:nvSpPr>
        <p:spPr bwMode="auto">
          <a:xfrm>
            <a:off x="6031158" y="1290078"/>
            <a:ext cx="265690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通过对报修类型进行分类管理和提供报修指南，报修系统有助于规范流程，确保资源的合理分配和使用，避免浪费。</a:t>
            </a:r>
            <a:endParaRPr lang="en-US" sz="1450"/>
          </a:p>
        </p:txBody>
      </p:sp>
      <p:pic>
        <p:nvPicPr>
          <p:cNvPr id="9" name="Image 2" descr="https://sgw-dx.xf-yun.com/api/v1/sparkdesk/_17400231708270f8dc22f424946ddb3e0b65ab53f2b1f.jpg?authorization=c2ltcGxlLWp3dCBhaz1zcGFya2Rlc2s4MDAwMDAwMDAwMDE7ZXhwPTMzMTY4MjMxNzA7YWxnbz1obWFjLXNoYTI1NjtzaWc9ajBROEdOWEtFazk1MXRnVEtIVnRlWUs3dEx2TDlFYVE5Qk9MeGJkRzlJcz0=&amp;x_location=7YfmxI7B7uKO7jlRxIftd60uePD="/>
          <p:cNvPicPr>
            <a:picLocks noChangeAspect="1"/>
          </p:cNvPicPr>
          <p:nvPr/>
        </p:nvPicPr>
        <p:blipFill>
          <a:blip r:embed="rId4"/>
          <a:srcRect l="154" r="153"/>
          <a:stretch>
            <a:fillRect/>
          </a:stretch>
        </p:blipFill>
        <p:spPr bwMode="auto">
          <a:xfrm>
            <a:off x="6101539" y="2646298"/>
            <a:ext cx="2516140" cy="1415329"/>
          </a:xfrm>
          <a:prstGeom prst="rect">
            <a:avLst/>
          </a:prstGeom>
        </p:spPr>
      </p:pic>
      <p:sp>
        <p:nvSpPr>
          <p:cNvPr id="10" name="Text 5"/>
          <p:cNvSpPr/>
          <p:nvPr/>
        </p:nvSpPr>
        <p:spPr bwMode="auto">
          <a:xfrm>
            <a:off x="6031158" y="826507"/>
            <a:ext cx="2656902"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资源合理配置</a:t>
            </a:r>
            <a:endParaRPr lang="en-US" sz="1450"/>
          </a:p>
        </p:txBody>
      </p:sp>
      <p:sp>
        <p:nvSpPr>
          <p:cNvPr id="11" name="Text 6"/>
          <p:cNvSpPr/>
          <p:nvPr/>
        </p:nvSpPr>
        <p:spPr bwMode="auto">
          <a:xfrm>
            <a:off x="45593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报修系统通过信息化手段，优化了后勤管理的流程，显著提高了处理报修事务的速度和效率，减少了人力和时间成本。</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技术选型与应用</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Python语言优势</a:t>
            </a:r>
            <a:endParaRPr lang="en-US" sz="1450"/>
          </a:p>
        </p:txBody>
      </p:sp>
      <p:sp>
        <p:nvSpPr>
          <p:cNvPr id="3" name="Text 1"/>
          <p:cNvSpPr/>
          <p:nvPr/>
        </p:nvSpPr>
        <p:spPr bwMode="auto">
          <a:xfrm>
            <a:off x="886148" y="1536231"/>
            <a:ext cx="2212848" cy="3840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简洁的语法结构</a:t>
            </a:r>
            <a:endParaRPr lang="en-US" sz="1450"/>
          </a:p>
        </p:txBody>
      </p:sp>
      <p:sp>
        <p:nvSpPr>
          <p:cNvPr id="4" name="Text 2"/>
          <p:cNvSpPr/>
          <p:nvPr/>
        </p:nvSpPr>
        <p:spPr bwMode="auto">
          <a:xfrm>
            <a:off x="886148" y="1920278"/>
            <a:ext cx="2212848" cy="1828800"/>
          </a:xfrm>
          <a:prstGeom prst="rect">
            <a:avLst/>
          </a:prstGeom>
          <a:noFill/>
        </p:spPr>
        <p:txBody>
          <a:bodyPr wrap="square" lIns="95250" tIns="95250" rIns="95250" bIns="95250" rtlCol="0" anchor="t">
            <a:spAutoFit/>
          </a:bodyPr>
          <a:lstStyle/>
          <a:p>
            <a:pPr marL="0" indent="0" algn="just">
              <a:lnSpc>
                <a:spcPct val="113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Python以其清晰和直观的语法著称，使得开发者能够以更少的代码行表达概念，这不仅加快了开发速度，也提高了代码的可读性和可维护性。</a:t>
            </a:r>
            <a:endParaRPr lang="en-US" sz="1450"/>
          </a:p>
        </p:txBody>
      </p:sp>
      <p:sp>
        <p:nvSpPr>
          <p:cNvPr id="5" name="Shape 3"/>
          <p:cNvSpPr/>
          <p:nvPr/>
        </p:nvSpPr>
        <p:spPr bwMode="auto">
          <a:xfrm>
            <a:off x="886489" y="1045921"/>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6" name="Text 4"/>
          <p:cNvSpPr/>
          <p:nvPr/>
        </p:nvSpPr>
        <p:spPr bwMode="auto">
          <a:xfrm>
            <a:off x="813116" y="1076047"/>
            <a:ext cx="554470"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7" name="Text 5"/>
          <p:cNvSpPr/>
          <p:nvPr/>
        </p:nvSpPr>
        <p:spPr bwMode="auto">
          <a:xfrm>
            <a:off x="3502092" y="1527087"/>
            <a:ext cx="2212848" cy="3840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高效的开发效率</a:t>
            </a:r>
            <a:endParaRPr lang="en-US" sz="1450"/>
          </a:p>
        </p:txBody>
      </p:sp>
      <p:sp>
        <p:nvSpPr>
          <p:cNvPr id="8" name="Text 6"/>
          <p:cNvSpPr/>
          <p:nvPr/>
        </p:nvSpPr>
        <p:spPr bwMode="auto">
          <a:xfrm>
            <a:off x="3502092" y="1920278"/>
            <a:ext cx="2212848" cy="1828800"/>
          </a:xfrm>
          <a:prstGeom prst="rect">
            <a:avLst/>
          </a:prstGeom>
          <a:noFill/>
        </p:spPr>
        <p:txBody>
          <a:bodyPr wrap="square" lIns="95250" tIns="95250" rIns="95250" bIns="95250" rtlCol="0" anchor="t">
            <a:spAutoFit/>
          </a:bodyPr>
          <a:lstStyle/>
          <a:p>
            <a:pPr marL="0" indent="0" algn="just">
              <a:lnSpc>
                <a:spcPct val="113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Python语言支持多种编程范式，包括面向对象、命令式、函数式和过程式编程，这种灵活性让开发者可以根据项目需求选择最合适的编程风格，从而提升开发效率。</a:t>
            </a:r>
            <a:endParaRPr lang="en-US" sz="1450"/>
          </a:p>
        </p:txBody>
      </p:sp>
      <p:sp>
        <p:nvSpPr>
          <p:cNvPr id="9" name="Shape 7"/>
          <p:cNvSpPr/>
          <p:nvPr/>
        </p:nvSpPr>
        <p:spPr bwMode="auto">
          <a:xfrm>
            <a:off x="3502092" y="1045921"/>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0" name="Text 8"/>
          <p:cNvSpPr/>
          <p:nvPr/>
        </p:nvSpPr>
        <p:spPr bwMode="auto">
          <a:xfrm>
            <a:off x="3447228" y="1076047"/>
            <a:ext cx="517553"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1" name="Text 9"/>
          <p:cNvSpPr/>
          <p:nvPr/>
        </p:nvSpPr>
        <p:spPr bwMode="auto">
          <a:xfrm>
            <a:off x="6118036" y="1527087"/>
            <a:ext cx="2212848" cy="3840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强大的社区支持</a:t>
            </a:r>
            <a:endParaRPr lang="en-US" sz="1450"/>
          </a:p>
        </p:txBody>
      </p:sp>
      <p:sp>
        <p:nvSpPr>
          <p:cNvPr id="12" name="Text 10"/>
          <p:cNvSpPr/>
          <p:nvPr/>
        </p:nvSpPr>
        <p:spPr bwMode="auto">
          <a:xfrm>
            <a:off x="6118036" y="1920278"/>
            <a:ext cx="2212848" cy="1828800"/>
          </a:xfrm>
          <a:prstGeom prst="rect">
            <a:avLst/>
          </a:prstGeom>
          <a:noFill/>
        </p:spPr>
        <p:txBody>
          <a:bodyPr wrap="square" lIns="95250" tIns="95250" rIns="95250" bIns="95250" rtlCol="0" anchor="t">
            <a:spAutoFit/>
          </a:bodyPr>
          <a:lstStyle/>
          <a:p>
            <a:pPr marL="0" indent="0" algn="just">
              <a:lnSpc>
                <a:spcPct val="113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Python拥有一个庞大且活跃的开发者社区，提供了大量的库和框架，这些资源极大地丰富了Python的应用范围，从Web开发到数据科学，无所不包。</a:t>
            </a:r>
            <a:endParaRPr lang="en-US" sz="1450"/>
          </a:p>
        </p:txBody>
      </p:sp>
      <p:sp>
        <p:nvSpPr>
          <p:cNvPr id="13" name="Shape 11"/>
          <p:cNvSpPr/>
          <p:nvPr/>
        </p:nvSpPr>
        <p:spPr bwMode="auto">
          <a:xfrm>
            <a:off x="6118036" y="1045921"/>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4" name="Text 12"/>
          <p:cNvSpPr/>
          <p:nvPr/>
        </p:nvSpPr>
        <p:spPr bwMode="auto">
          <a:xfrm>
            <a:off x="6090604" y="1076047"/>
            <a:ext cx="479885"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Django框架功能</a:t>
            </a:r>
            <a:endParaRPr lang="en-US" sz="1450"/>
          </a:p>
        </p:txBody>
      </p:sp>
      <p:pic>
        <p:nvPicPr>
          <p:cNvPr id="3" name="Image 0" descr="https://sgw-dx.xf-yun.com/api/v1/sparkdesk/1600593683_fm9ont1721702941887-01709398541764393.png?authorization=c2ltcGxlLWp3dCBhaz1zcGFya2Rlc2s4MDAwMDAwMDAwMDE7ZXhwPTMyOTg1MDI5NDI7YWxnbz1obWFjLXNoYTI1NjtzaWc9YlBnV1pOdjhqZnhwRldiUmUyTmJFUENOV1pMaGFpdEVmbHdBbWd3OXRCdz0=&amp;x_location=7YfmxI7B7uKO7jlRxIftd6eZdo=="/>
          <p:cNvPicPr>
            <a:picLocks noChangeAspect="1"/>
          </p:cNvPicPr>
          <p:nvPr/>
        </p:nvPicPr>
        <p:blipFill>
          <a:blip r:embed="rId2"/>
          <a:stretch>
            <a:fillRect/>
          </a:stretch>
        </p:blipFill>
        <p:spPr bwMode="auto">
          <a:xfrm>
            <a:off x="445242" y="1227435"/>
            <a:ext cx="2831634" cy="2831634"/>
          </a:xfrm>
          <a:prstGeom prst="rect">
            <a:avLst/>
          </a:prstGeom>
        </p:spPr>
      </p:pic>
      <p:sp>
        <p:nvSpPr>
          <p:cNvPr id="4" name="Text 1"/>
          <p:cNvSpPr/>
          <p:nvPr/>
        </p:nvSpPr>
        <p:spPr bwMode="auto">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对象关系映射器（ORM）</a:t>
            </a:r>
            <a:endParaRPr lang="en-US" sz="1450"/>
          </a:p>
        </p:txBody>
      </p:sp>
      <p:sp>
        <p:nvSpPr>
          <p:cNvPr id="5" name="Text 2"/>
          <p:cNvSpPr/>
          <p:nvPr/>
        </p:nvSpPr>
        <p:spPr bwMode="auto">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Django的ORM系统简化了数据库交互，允许开发者使用Python代码而非SQL语句来操作数据库，有效提升开发效率并减少错误。</a:t>
            </a:r>
            <a:endParaRPr lang="en-US" sz="1450"/>
          </a:p>
        </p:txBody>
      </p:sp>
      <p:sp>
        <p:nvSpPr>
          <p:cNvPr id="6" name="Text 3"/>
          <p:cNvSpPr/>
          <p:nvPr/>
        </p:nvSpPr>
        <p:spPr bwMode="auto">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URL路由系统</a:t>
            </a:r>
            <a:endParaRPr lang="en-US" sz="1450"/>
          </a:p>
        </p:txBody>
      </p:sp>
      <p:sp>
        <p:nvSpPr>
          <p:cNvPr id="7" name="Text 4"/>
          <p:cNvSpPr/>
          <p:nvPr/>
        </p:nvSpPr>
        <p:spPr bwMode="auto">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Django的URL路由系统提供了一种灵活且直观的方式来定义网页地址，使得网站结构清晰，便于管理和维护。</a:t>
            </a:r>
            <a:endParaRPr lang="en-US" sz="1450"/>
          </a:p>
        </p:txBody>
      </p:sp>
      <p:sp>
        <p:nvSpPr>
          <p:cNvPr id="8" name="Text 5"/>
          <p:cNvSpPr/>
          <p:nvPr/>
        </p:nvSpPr>
        <p:spPr bwMode="auto">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模板引擎</a:t>
            </a:r>
            <a:endParaRPr lang="en-US" sz="1450"/>
          </a:p>
        </p:txBody>
      </p:sp>
      <p:sp>
        <p:nvSpPr>
          <p:cNvPr id="9" name="Text 6"/>
          <p:cNvSpPr/>
          <p:nvPr/>
        </p:nvSpPr>
        <p:spPr bwMode="auto">
          <a:xfrm>
            <a:off x="3485040" y="3491058"/>
            <a:ext cx="5213718"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Django内置的模板引擎支持前端设计师和后端开发者高效协作，通过分离逻辑与展示层，加速网站开发过程。</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MySQL数据库效率</a:t>
            </a:r>
            <a:endParaRPr lang="en-US" sz="1450"/>
          </a:p>
        </p:txBody>
      </p:sp>
      <p:sp>
        <p:nvSpPr>
          <p:cNvPr id="3" name="Shape 1"/>
          <p:cNvSpPr/>
          <p:nvPr/>
        </p:nvSpPr>
        <p:spPr bwMode="auto">
          <a:xfrm>
            <a:off x="801601" y="1138322"/>
            <a:ext cx="528891" cy="391522"/>
          </a:xfrm>
          <a:custGeom>
            <a:avLst/>
            <a:gdLst/>
            <a:ahLst/>
            <a:cxnLst/>
            <a:rect l="l" t="t" r="r" b="b"/>
            <a:pathLst>
              <a:path w="528891" h="391522" extrusionOk="0">
                <a:moveTo>
                  <a:pt x="0" y="0"/>
                </a:moveTo>
                <a:moveTo>
                  <a:pt x="0" y="0"/>
                </a:moveTo>
                <a:lnTo>
                  <a:pt x="528891" y="0"/>
                </a:lnTo>
                <a:lnTo>
                  <a:pt x="528891" y="391522"/>
                </a:lnTo>
                <a:lnTo>
                  <a:pt x="0" y="391522"/>
                </a:lnTo>
                <a:close/>
              </a:path>
            </a:pathLst>
          </a:custGeom>
          <a:solidFill>
            <a:srgbClr val="0084FF"/>
          </a:solidFill>
        </p:spPr>
      </p:sp>
      <p:sp>
        <p:nvSpPr>
          <p:cNvPr id="4" name="Shape 2"/>
          <p:cNvSpPr/>
          <p:nvPr/>
        </p:nvSpPr>
        <p:spPr bwMode="auto">
          <a:xfrm>
            <a:off x="1330124" y="1132915"/>
            <a:ext cx="2944368" cy="1645920"/>
          </a:xfrm>
          <a:custGeom>
            <a:avLst/>
            <a:gdLst/>
            <a:ahLst/>
            <a:cxnLst/>
            <a:rect l="l" t="t" r="r" b="b"/>
            <a:pathLst>
              <a:path w="2944368" h="1645920" extrusionOk="0">
                <a:moveTo>
                  <a:pt x="0" y="0"/>
                </a:moveTo>
                <a:moveTo>
                  <a:pt x="0" y="0"/>
                </a:moveTo>
                <a:lnTo>
                  <a:pt x="2944368" y="0"/>
                </a:lnTo>
                <a:lnTo>
                  <a:pt x="2944368" y="1645920"/>
                </a:lnTo>
                <a:lnTo>
                  <a:pt x="0" y="1645920"/>
                </a:lnTo>
                <a:close/>
              </a:path>
            </a:pathLst>
          </a:custGeom>
          <a:solidFill>
            <a:srgbClr val="0084FF">
              <a:alpha val="10000"/>
            </a:srgbClr>
          </a:solidFill>
        </p:spPr>
      </p:sp>
      <p:sp>
        <p:nvSpPr>
          <p:cNvPr id="5" name="Shape 3"/>
          <p:cNvSpPr/>
          <p:nvPr/>
        </p:nvSpPr>
        <p:spPr bwMode="auto">
          <a:xfrm>
            <a:off x="5495514" y="1529844"/>
            <a:ext cx="2944368" cy="1645920"/>
          </a:xfrm>
          <a:custGeom>
            <a:avLst/>
            <a:gdLst/>
            <a:ahLst/>
            <a:cxnLst/>
            <a:rect l="l" t="t" r="r" b="b"/>
            <a:pathLst>
              <a:path w="2944368" h="1645920" extrusionOk="0">
                <a:moveTo>
                  <a:pt x="0" y="0"/>
                </a:moveTo>
                <a:moveTo>
                  <a:pt x="0" y="0"/>
                </a:moveTo>
                <a:lnTo>
                  <a:pt x="2944368" y="0"/>
                </a:lnTo>
                <a:lnTo>
                  <a:pt x="2944368" y="1645920"/>
                </a:lnTo>
                <a:lnTo>
                  <a:pt x="0" y="1645920"/>
                </a:lnTo>
                <a:close/>
              </a:path>
            </a:pathLst>
          </a:custGeom>
          <a:solidFill>
            <a:srgbClr val="0084FF">
              <a:alpha val="10000"/>
            </a:srgbClr>
          </a:solidFill>
        </p:spPr>
      </p:sp>
      <p:sp>
        <p:nvSpPr>
          <p:cNvPr id="6" name="Shape 4"/>
          <p:cNvSpPr/>
          <p:nvPr/>
        </p:nvSpPr>
        <p:spPr bwMode="auto">
          <a:xfrm>
            <a:off x="2206032" y="3066458"/>
            <a:ext cx="2944368" cy="1645920"/>
          </a:xfrm>
          <a:custGeom>
            <a:avLst/>
            <a:gdLst/>
            <a:ahLst/>
            <a:cxnLst/>
            <a:rect l="l" t="t" r="r" b="b"/>
            <a:pathLst>
              <a:path w="2944368" h="1645920" extrusionOk="0">
                <a:moveTo>
                  <a:pt x="0" y="0"/>
                </a:moveTo>
                <a:moveTo>
                  <a:pt x="0" y="0"/>
                </a:moveTo>
                <a:lnTo>
                  <a:pt x="2944368" y="0"/>
                </a:lnTo>
                <a:lnTo>
                  <a:pt x="2944368" y="1645920"/>
                </a:lnTo>
                <a:lnTo>
                  <a:pt x="0" y="1645920"/>
                </a:lnTo>
                <a:close/>
              </a:path>
            </a:pathLst>
          </a:custGeom>
          <a:solidFill>
            <a:srgbClr val="0084FF">
              <a:alpha val="10000"/>
            </a:srgbClr>
          </a:solidFill>
        </p:spPr>
      </p:sp>
      <p:sp>
        <p:nvSpPr>
          <p:cNvPr id="7" name="Text 5"/>
          <p:cNvSpPr/>
          <p:nvPr/>
        </p:nvSpPr>
        <p:spPr bwMode="auto">
          <a:xfrm>
            <a:off x="703661" y="1129178"/>
            <a:ext cx="68819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8" name="Text 6"/>
          <p:cNvSpPr/>
          <p:nvPr/>
        </p:nvSpPr>
        <p:spPr bwMode="auto">
          <a:xfrm>
            <a:off x="1330491" y="1187779"/>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高效查询性能</a:t>
            </a:r>
            <a:endParaRPr lang="en-US" sz="1450"/>
          </a:p>
        </p:txBody>
      </p:sp>
      <p:sp>
        <p:nvSpPr>
          <p:cNvPr id="9" name="Text 7"/>
          <p:cNvSpPr/>
          <p:nvPr/>
        </p:nvSpPr>
        <p:spPr bwMode="auto">
          <a:xfrm>
            <a:off x="1330491" y="1489531"/>
            <a:ext cx="2944368" cy="1024128"/>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MySQL数据库以其卓越的查询处理能力，确保报修信息能够迅速被检索和响应，极大提升了维修服务的效率和用户满意度。</a:t>
            </a:r>
            <a:endParaRPr lang="en-US" sz="1450"/>
          </a:p>
        </p:txBody>
      </p:sp>
      <p:sp>
        <p:nvSpPr>
          <p:cNvPr id="10" name="Text 8"/>
          <p:cNvSpPr/>
          <p:nvPr/>
        </p:nvSpPr>
        <p:spPr bwMode="auto">
          <a:xfrm>
            <a:off x="5495971" y="1584691"/>
            <a:ext cx="2944368"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良好的可扩展性</a:t>
            </a:r>
            <a:endParaRPr lang="en-US" sz="1450"/>
          </a:p>
        </p:txBody>
      </p:sp>
      <p:sp>
        <p:nvSpPr>
          <p:cNvPr id="11" name="Text 9"/>
          <p:cNvSpPr/>
          <p:nvPr/>
        </p:nvSpPr>
        <p:spPr bwMode="auto">
          <a:xfrm>
            <a:off x="5495514" y="1886460"/>
            <a:ext cx="2944368" cy="1024128"/>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随着报修信息量的不断增长，MySQL的可扩展性保证了系统能够灵活地增加资源，从而持续提供稳定可靠的服务。</a:t>
            </a:r>
            <a:endParaRPr lang="en-US" sz="1450"/>
          </a:p>
        </p:txBody>
      </p:sp>
      <p:sp>
        <p:nvSpPr>
          <p:cNvPr id="12" name="Text 10"/>
          <p:cNvSpPr/>
          <p:nvPr/>
        </p:nvSpPr>
        <p:spPr bwMode="auto">
          <a:xfrm>
            <a:off x="2206075" y="3120882"/>
            <a:ext cx="2944001"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数据存储优化</a:t>
            </a:r>
            <a:endParaRPr lang="en-US" sz="1450"/>
          </a:p>
        </p:txBody>
      </p:sp>
      <p:sp>
        <p:nvSpPr>
          <p:cNvPr id="13" name="Text 11"/>
          <p:cNvSpPr/>
          <p:nvPr/>
        </p:nvSpPr>
        <p:spPr bwMode="auto">
          <a:xfrm>
            <a:off x="2206075" y="3422634"/>
            <a:ext cx="2944368" cy="1024128"/>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MySQL通过优化数据存储结构，有效减少了数据冗余，提高了存储效率，使得报修信息的存取更加快速和准确。</a:t>
            </a:r>
            <a:endParaRPr lang="en-US" sz="1450"/>
          </a:p>
        </p:txBody>
      </p:sp>
      <p:sp>
        <p:nvSpPr>
          <p:cNvPr id="14" name="Shape 12"/>
          <p:cNvSpPr/>
          <p:nvPr/>
        </p:nvSpPr>
        <p:spPr bwMode="auto">
          <a:xfrm>
            <a:off x="1677184" y="3071780"/>
            <a:ext cx="528891" cy="391522"/>
          </a:xfrm>
          <a:custGeom>
            <a:avLst/>
            <a:gdLst/>
            <a:ahLst/>
            <a:cxnLst/>
            <a:rect l="l" t="t" r="r" b="b"/>
            <a:pathLst>
              <a:path w="528891" h="391522" extrusionOk="0">
                <a:moveTo>
                  <a:pt x="0" y="0"/>
                </a:moveTo>
                <a:moveTo>
                  <a:pt x="0" y="0"/>
                </a:moveTo>
                <a:lnTo>
                  <a:pt x="528891" y="0"/>
                </a:lnTo>
                <a:lnTo>
                  <a:pt x="528891" y="391522"/>
                </a:lnTo>
                <a:lnTo>
                  <a:pt x="0" y="391522"/>
                </a:lnTo>
                <a:close/>
              </a:path>
            </a:pathLst>
          </a:custGeom>
          <a:solidFill>
            <a:srgbClr val="0084FF"/>
          </a:solidFill>
        </p:spPr>
      </p:sp>
      <p:sp>
        <p:nvSpPr>
          <p:cNvPr id="15" name="Text 13"/>
          <p:cNvSpPr/>
          <p:nvPr/>
        </p:nvSpPr>
        <p:spPr bwMode="auto">
          <a:xfrm>
            <a:off x="1604032" y="3066373"/>
            <a:ext cx="650309"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6" name="Shape 14"/>
          <p:cNvSpPr/>
          <p:nvPr/>
        </p:nvSpPr>
        <p:spPr bwMode="auto">
          <a:xfrm>
            <a:off x="4966302" y="1535251"/>
            <a:ext cx="528891" cy="391522"/>
          </a:xfrm>
          <a:custGeom>
            <a:avLst/>
            <a:gdLst/>
            <a:ahLst/>
            <a:cxnLst/>
            <a:rect l="l" t="t" r="r" b="b"/>
            <a:pathLst>
              <a:path w="528891" h="391522" extrusionOk="0">
                <a:moveTo>
                  <a:pt x="0" y="0"/>
                </a:moveTo>
                <a:moveTo>
                  <a:pt x="0" y="0"/>
                </a:moveTo>
                <a:lnTo>
                  <a:pt x="528891" y="0"/>
                </a:lnTo>
                <a:lnTo>
                  <a:pt x="528891" y="391522"/>
                </a:lnTo>
                <a:lnTo>
                  <a:pt x="0" y="391522"/>
                </a:lnTo>
                <a:close/>
              </a:path>
            </a:pathLst>
          </a:custGeom>
          <a:solidFill>
            <a:srgbClr val="0084FF"/>
          </a:solidFill>
        </p:spPr>
      </p:sp>
      <p:sp>
        <p:nvSpPr>
          <p:cNvPr id="17" name="Text 15"/>
          <p:cNvSpPr/>
          <p:nvPr/>
        </p:nvSpPr>
        <p:spPr bwMode="auto">
          <a:xfrm>
            <a:off x="4847430" y="1529844"/>
            <a:ext cx="739524"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系统分析与设计</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可行性分析</a:t>
            </a:r>
            <a:endParaRPr lang="en-US" sz="1450"/>
          </a:p>
        </p:txBody>
      </p:sp>
      <p:sp>
        <p:nvSpPr>
          <p:cNvPr id="3" name="Shape 1"/>
          <p:cNvSpPr/>
          <p:nvPr/>
        </p:nvSpPr>
        <p:spPr bwMode="auto">
          <a:xfrm>
            <a:off x="4148425" y="2215286"/>
            <a:ext cx="576615" cy="834888"/>
          </a:xfrm>
          <a:custGeom>
            <a:avLst/>
            <a:gdLst/>
            <a:ahLst/>
            <a:cxnLst/>
            <a:rect l="l" t="t" r="r" b="b"/>
            <a:pathLst>
              <a:path w="576615" h="834888" extrusionOk="0">
                <a:moveTo>
                  <a:pt x="576615" y="0"/>
                </a:moveTo>
                <a:moveTo>
                  <a:pt x="576615" y="0"/>
                </a:moveTo>
                <a:lnTo>
                  <a:pt x="0" y="834888"/>
                </a:lnTo>
              </a:path>
            </a:pathLst>
          </a:custGeom>
          <a:noFill/>
          <a:ln w="19050">
            <a:solidFill>
              <a:srgbClr val="002DB0"/>
            </a:solidFill>
            <a:prstDash val="solid"/>
            <a:headEnd type="none"/>
            <a:tailEnd type="none"/>
          </a:ln>
        </p:spPr>
      </p:sp>
      <p:sp>
        <p:nvSpPr>
          <p:cNvPr id="4" name="Shape 2"/>
          <p:cNvSpPr/>
          <p:nvPr/>
        </p:nvSpPr>
        <p:spPr bwMode="auto">
          <a:xfrm>
            <a:off x="4160714" y="1450417"/>
            <a:ext cx="564612" cy="751974"/>
          </a:xfrm>
          <a:custGeom>
            <a:avLst/>
            <a:gdLst/>
            <a:ahLst/>
            <a:cxnLst/>
            <a:rect l="l" t="t" r="r" b="b"/>
            <a:pathLst>
              <a:path w="564612" h="751974" extrusionOk="0">
                <a:moveTo>
                  <a:pt x="0" y="0"/>
                </a:moveTo>
                <a:moveTo>
                  <a:pt x="0" y="0"/>
                </a:moveTo>
                <a:lnTo>
                  <a:pt x="564612" y="751974"/>
                </a:lnTo>
              </a:path>
            </a:pathLst>
          </a:custGeom>
          <a:noFill/>
          <a:ln w="19050">
            <a:solidFill>
              <a:srgbClr val="002DB0"/>
            </a:solidFill>
            <a:prstDash val="solid"/>
            <a:headEnd type="none"/>
            <a:tailEnd type="none"/>
          </a:ln>
        </p:spPr>
      </p:sp>
      <p:sp>
        <p:nvSpPr>
          <p:cNvPr id="5" name="Shape 3"/>
          <p:cNvSpPr/>
          <p:nvPr/>
        </p:nvSpPr>
        <p:spPr bwMode="auto">
          <a:xfrm>
            <a:off x="646623" y="1078530"/>
            <a:ext cx="556517" cy="556517"/>
          </a:xfrm>
          <a:custGeom>
            <a:avLst/>
            <a:gdLst/>
            <a:ahLst/>
            <a:cxnLst/>
            <a:rect l="l" t="t" r="r" b="b"/>
            <a:pathLst>
              <a:path w="556517" h="556517" extrusionOk="0">
                <a:moveTo>
                  <a:pt x="0" y="0"/>
                </a:moveTo>
                <a:moveTo>
                  <a:pt x="0" y="0"/>
                </a:moveTo>
                <a:lnTo>
                  <a:pt x="556517" y="0"/>
                </a:lnTo>
                <a:lnTo>
                  <a:pt x="556517" y="556517"/>
                </a:lnTo>
                <a:lnTo>
                  <a:pt x="0" y="556517"/>
                </a:lnTo>
                <a:close/>
              </a:path>
            </a:pathLst>
          </a:custGeom>
          <a:solidFill>
            <a:srgbClr val="0084FF"/>
          </a:solidFill>
        </p:spPr>
      </p:sp>
      <p:sp>
        <p:nvSpPr>
          <p:cNvPr id="6" name="Shape 4"/>
          <p:cNvSpPr/>
          <p:nvPr/>
        </p:nvSpPr>
        <p:spPr bwMode="auto">
          <a:xfrm>
            <a:off x="1203141" y="1359276"/>
            <a:ext cx="2868202" cy="0"/>
          </a:xfrm>
          <a:custGeom>
            <a:avLst/>
            <a:gdLst/>
            <a:ahLst/>
            <a:cxnLst/>
            <a:rect l="l" t="t" r="r" b="b"/>
            <a:pathLst>
              <a:path w="2868202" extrusionOk="0">
                <a:moveTo>
                  <a:pt x="0" y="0"/>
                </a:moveTo>
                <a:moveTo>
                  <a:pt x="0" y="0"/>
                </a:moveTo>
                <a:lnTo>
                  <a:pt x="2868202" y="0"/>
                </a:lnTo>
              </a:path>
            </a:pathLst>
          </a:custGeom>
          <a:noFill/>
          <a:ln w="19050">
            <a:solidFill>
              <a:srgbClr val="002DB0"/>
            </a:solidFill>
            <a:prstDash val="solid"/>
            <a:headEnd type="none"/>
            <a:tailEnd type="none"/>
          </a:ln>
        </p:spPr>
      </p:sp>
      <p:sp>
        <p:nvSpPr>
          <p:cNvPr id="7" name="Shape 5"/>
          <p:cNvSpPr/>
          <p:nvPr/>
        </p:nvSpPr>
        <p:spPr bwMode="auto">
          <a:xfrm>
            <a:off x="4056069" y="1350132"/>
            <a:ext cx="192640" cy="192640"/>
          </a:xfrm>
          <a:custGeom>
            <a:avLst/>
            <a:gdLst/>
            <a:ahLst/>
            <a:cxnLst/>
            <a:rect l="l" t="t" r="r" b="b"/>
            <a:pathLst>
              <a:path w="192640" h="192640" extrusionOk="0">
                <a:moveTo>
                  <a:pt x="0" y="0"/>
                </a:moveTo>
                <a:moveTo>
                  <a:pt x="0" y="0"/>
                </a:moveTo>
                <a:lnTo>
                  <a:pt x="192640" y="0"/>
                </a:lnTo>
                <a:lnTo>
                  <a:pt x="192640" y="192640"/>
                </a:lnTo>
                <a:lnTo>
                  <a:pt x="0" y="192640"/>
                </a:lnTo>
                <a:close/>
              </a:path>
            </a:pathLst>
          </a:custGeom>
          <a:solidFill>
            <a:srgbClr val="0084FF"/>
          </a:solidFill>
        </p:spPr>
      </p:sp>
      <p:sp>
        <p:nvSpPr>
          <p:cNvPr id="8" name="Shape 6"/>
          <p:cNvSpPr/>
          <p:nvPr/>
        </p:nvSpPr>
        <p:spPr bwMode="auto">
          <a:xfrm>
            <a:off x="4056069" y="2932872"/>
            <a:ext cx="192640" cy="192640"/>
          </a:xfrm>
          <a:custGeom>
            <a:avLst/>
            <a:gdLst/>
            <a:ahLst/>
            <a:cxnLst/>
            <a:rect l="l" t="t" r="r" b="b"/>
            <a:pathLst>
              <a:path w="192640" h="192640" extrusionOk="0">
                <a:moveTo>
                  <a:pt x="0" y="0"/>
                </a:moveTo>
                <a:moveTo>
                  <a:pt x="0" y="0"/>
                </a:moveTo>
                <a:lnTo>
                  <a:pt x="192640" y="0"/>
                </a:lnTo>
                <a:lnTo>
                  <a:pt x="192640" y="192640"/>
                </a:lnTo>
                <a:lnTo>
                  <a:pt x="0" y="192640"/>
                </a:lnTo>
                <a:close/>
              </a:path>
            </a:pathLst>
          </a:custGeom>
          <a:solidFill>
            <a:srgbClr val="0084FF"/>
          </a:solidFill>
        </p:spPr>
      </p:sp>
      <p:sp>
        <p:nvSpPr>
          <p:cNvPr id="9" name="Shape 7"/>
          <p:cNvSpPr/>
          <p:nvPr/>
        </p:nvSpPr>
        <p:spPr bwMode="auto">
          <a:xfrm>
            <a:off x="4838991" y="2211190"/>
            <a:ext cx="3224944" cy="0"/>
          </a:xfrm>
          <a:custGeom>
            <a:avLst/>
            <a:gdLst/>
            <a:ahLst/>
            <a:cxnLst/>
            <a:rect l="l" t="t" r="r" b="b"/>
            <a:pathLst>
              <a:path w="3224944" extrusionOk="0">
                <a:moveTo>
                  <a:pt x="0" y="0"/>
                </a:moveTo>
                <a:moveTo>
                  <a:pt x="0" y="0"/>
                </a:moveTo>
                <a:lnTo>
                  <a:pt x="3224944" y="0"/>
                </a:lnTo>
              </a:path>
            </a:pathLst>
          </a:custGeom>
          <a:noFill/>
          <a:ln w="19050">
            <a:solidFill>
              <a:srgbClr val="002DB0"/>
            </a:solidFill>
            <a:prstDash val="solid"/>
            <a:headEnd type="none"/>
            <a:tailEnd type="none"/>
          </a:ln>
        </p:spPr>
      </p:sp>
      <p:sp>
        <p:nvSpPr>
          <p:cNvPr id="10" name="Shape 8"/>
          <p:cNvSpPr/>
          <p:nvPr/>
        </p:nvSpPr>
        <p:spPr bwMode="auto">
          <a:xfrm>
            <a:off x="7940859" y="1957076"/>
            <a:ext cx="556517" cy="556517"/>
          </a:xfrm>
          <a:custGeom>
            <a:avLst/>
            <a:gdLst/>
            <a:ahLst/>
            <a:cxnLst/>
            <a:rect l="l" t="t" r="r" b="b"/>
            <a:pathLst>
              <a:path w="556517" h="556517" extrusionOk="0">
                <a:moveTo>
                  <a:pt x="0" y="0"/>
                </a:moveTo>
                <a:moveTo>
                  <a:pt x="0" y="0"/>
                </a:moveTo>
                <a:lnTo>
                  <a:pt x="556517" y="0"/>
                </a:lnTo>
                <a:lnTo>
                  <a:pt x="556517" y="556517"/>
                </a:lnTo>
                <a:lnTo>
                  <a:pt x="0" y="556517"/>
                </a:lnTo>
                <a:close/>
              </a:path>
            </a:pathLst>
          </a:custGeom>
          <a:solidFill>
            <a:srgbClr val="0084FF"/>
          </a:solidFill>
        </p:spPr>
      </p:sp>
      <p:sp>
        <p:nvSpPr>
          <p:cNvPr id="11" name="Shape 9"/>
          <p:cNvSpPr/>
          <p:nvPr/>
        </p:nvSpPr>
        <p:spPr bwMode="auto">
          <a:xfrm>
            <a:off x="1203141" y="3113881"/>
            <a:ext cx="2886490" cy="2488"/>
          </a:xfrm>
          <a:custGeom>
            <a:avLst/>
            <a:gdLst/>
            <a:ahLst/>
            <a:cxnLst/>
            <a:rect l="l" t="t" r="r" b="b"/>
            <a:pathLst>
              <a:path w="2886490" h="2488" extrusionOk="0">
                <a:moveTo>
                  <a:pt x="0" y="0"/>
                </a:moveTo>
                <a:moveTo>
                  <a:pt x="0" y="0"/>
                </a:moveTo>
                <a:lnTo>
                  <a:pt x="2886490" y="2488"/>
                </a:lnTo>
              </a:path>
            </a:pathLst>
          </a:custGeom>
          <a:noFill/>
          <a:ln w="19050">
            <a:solidFill>
              <a:srgbClr val="002DB0"/>
            </a:solidFill>
            <a:prstDash val="solid"/>
            <a:headEnd type="none"/>
            <a:tailEnd type="none"/>
          </a:ln>
        </p:spPr>
      </p:sp>
      <p:sp>
        <p:nvSpPr>
          <p:cNvPr id="12" name="Shape 10"/>
          <p:cNvSpPr/>
          <p:nvPr/>
        </p:nvSpPr>
        <p:spPr bwMode="auto">
          <a:xfrm>
            <a:off x="646623" y="2835622"/>
            <a:ext cx="556517" cy="556517"/>
          </a:xfrm>
          <a:custGeom>
            <a:avLst/>
            <a:gdLst/>
            <a:ahLst/>
            <a:cxnLst/>
            <a:rect l="l" t="t" r="r" b="b"/>
            <a:pathLst>
              <a:path w="556517" h="556517" extrusionOk="0">
                <a:moveTo>
                  <a:pt x="0" y="0"/>
                </a:moveTo>
                <a:moveTo>
                  <a:pt x="0" y="0"/>
                </a:moveTo>
                <a:lnTo>
                  <a:pt x="556517" y="0"/>
                </a:lnTo>
                <a:lnTo>
                  <a:pt x="556517" y="556517"/>
                </a:lnTo>
                <a:lnTo>
                  <a:pt x="0" y="556517"/>
                </a:lnTo>
                <a:close/>
              </a:path>
            </a:pathLst>
          </a:custGeom>
          <a:solidFill>
            <a:srgbClr val="0084FF"/>
          </a:solidFill>
        </p:spPr>
      </p:sp>
      <p:sp>
        <p:nvSpPr>
          <p:cNvPr id="13" name="Text 11"/>
          <p:cNvSpPr/>
          <p:nvPr/>
        </p:nvSpPr>
        <p:spPr bwMode="auto">
          <a:xfrm>
            <a:off x="646623" y="1105962"/>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2150" b="1">
                <a:solidFill>
                  <a:srgbClr val="E1E1E1"/>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14" name="Text 12"/>
          <p:cNvSpPr/>
          <p:nvPr/>
        </p:nvSpPr>
        <p:spPr bwMode="auto">
          <a:xfrm>
            <a:off x="7940859" y="1984508"/>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2150" b="1">
                <a:solidFill>
                  <a:srgbClr val="E1E1E1"/>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5" name="Text 13"/>
          <p:cNvSpPr/>
          <p:nvPr/>
        </p:nvSpPr>
        <p:spPr bwMode="auto">
          <a:xfrm>
            <a:off x="646623" y="2862421"/>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2150" b="1">
                <a:solidFill>
                  <a:srgbClr val="E1E1E1"/>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16" name="Text 14"/>
          <p:cNvSpPr/>
          <p:nvPr/>
        </p:nvSpPr>
        <p:spPr bwMode="auto">
          <a:xfrm>
            <a:off x="1203141" y="957284"/>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技术可行性</a:t>
            </a:r>
            <a:endParaRPr lang="en-US" sz="1450"/>
          </a:p>
        </p:txBody>
      </p:sp>
      <p:sp>
        <p:nvSpPr>
          <p:cNvPr id="17" name="Text 15"/>
          <p:cNvSpPr/>
          <p:nvPr/>
        </p:nvSpPr>
        <p:spPr bwMode="auto">
          <a:xfrm>
            <a:off x="1203665" y="1359620"/>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利用Django框架、VUE.js前端和MySQL数据库等成熟技术，确保了高校后勤报修系统开发的技术基础稳固可靠，易于实现和维护。</a:t>
            </a:r>
            <a:endParaRPr lang="en-US" sz="1450"/>
          </a:p>
        </p:txBody>
      </p:sp>
      <p:sp>
        <p:nvSpPr>
          <p:cNvPr id="18" name="Text 16"/>
          <p:cNvSpPr/>
          <p:nvPr/>
        </p:nvSpPr>
        <p:spPr bwMode="auto">
          <a:xfrm>
            <a:off x="4838690" y="1808486"/>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经济可行性</a:t>
            </a:r>
            <a:endParaRPr lang="en-US" sz="1450"/>
          </a:p>
        </p:txBody>
      </p:sp>
      <p:sp>
        <p:nvSpPr>
          <p:cNvPr id="19" name="Text 17"/>
          <p:cNvSpPr/>
          <p:nvPr/>
        </p:nvSpPr>
        <p:spPr bwMode="auto">
          <a:xfrm>
            <a:off x="4838404" y="2210926"/>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考虑到所选技术的开源性质和低成本优势，以及系统能显著提升管理效率和降低人力成本，从长远角度看，开发此系统是经济可行的。</a:t>
            </a:r>
            <a:endParaRPr lang="en-US" sz="1450"/>
          </a:p>
        </p:txBody>
      </p:sp>
      <p:sp>
        <p:nvSpPr>
          <p:cNvPr id="20" name="Text 18"/>
          <p:cNvSpPr/>
          <p:nvPr/>
        </p:nvSpPr>
        <p:spPr bwMode="auto">
          <a:xfrm>
            <a:off x="1203141" y="2704702"/>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操作可行性</a:t>
            </a:r>
            <a:endParaRPr lang="en-US" sz="1450"/>
          </a:p>
        </p:txBody>
      </p:sp>
      <p:sp>
        <p:nvSpPr>
          <p:cNvPr id="21" name="Text 19"/>
          <p:cNvSpPr/>
          <p:nvPr/>
        </p:nvSpPr>
        <p:spPr bwMode="auto">
          <a:xfrm>
            <a:off x="1203141" y="3125512"/>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系统功能模块划分明确，用户界面设计直观友好，确保了操作流程的清晰性和系统的易用性，使得维护和管理变得简单高效。</a:t>
            </a:r>
            <a:endParaRPr lang="en-US" sz="1450"/>
          </a:p>
        </p:txBody>
      </p:sp>
      <p:sp>
        <p:nvSpPr>
          <p:cNvPr id="22" name="Shape 20"/>
          <p:cNvSpPr/>
          <p:nvPr/>
        </p:nvSpPr>
        <p:spPr bwMode="auto">
          <a:xfrm>
            <a:off x="4646351" y="2114870"/>
            <a:ext cx="192640" cy="192640"/>
          </a:xfrm>
          <a:custGeom>
            <a:avLst/>
            <a:gdLst/>
            <a:ahLst/>
            <a:cxnLst/>
            <a:rect l="l" t="t" r="r" b="b"/>
            <a:pathLst>
              <a:path w="192640" h="192640" extrusionOk="0">
                <a:moveTo>
                  <a:pt x="0" y="0"/>
                </a:moveTo>
                <a:moveTo>
                  <a:pt x="0" y="0"/>
                </a:moveTo>
                <a:lnTo>
                  <a:pt x="192640" y="0"/>
                </a:lnTo>
                <a:lnTo>
                  <a:pt x="192640" y="192640"/>
                </a:lnTo>
                <a:lnTo>
                  <a:pt x="0" y="192640"/>
                </a:lnTo>
                <a:close/>
              </a:path>
            </a:pathLst>
          </a:custGeom>
          <a:solidFill>
            <a:srgbClr val="0084FF"/>
          </a:solidFill>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需求分析</a:t>
            </a:r>
            <a:endParaRPr lang="en-US" sz="1450"/>
          </a:p>
        </p:txBody>
      </p:sp>
      <p:pic>
        <p:nvPicPr>
          <p:cNvPr id="3" name="Image 0" descr="https://sgw-dx.xf-yun.com/api/v1/sparkdesk/_1740023187213f25a537c1c9d4e83841118f84660833b.jpg?authorization=c2ltcGxlLWp3dCBhaz1zcGFya2Rlc2s4MDAwMDAwMDAwMDE7ZXhwPTMzMTY4MjMxODc7YWxnbz1obWFjLXNoYTI1NjtzaWc9M0drdTVvNE9sTit6MXR2cnRPVnRDU2phYjhUU1B1YWVCVFBnNFVIZlF3WT0=&amp;x_location=7YfmxI7B7uKO7jlRxIftd60uePD="/>
          <p:cNvPicPr>
            <a:picLocks noChangeAspect="1"/>
          </p:cNvPicPr>
          <p:nvPr/>
        </p:nvPicPr>
        <p:blipFill>
          <a:blip r:embed="rId2"/>
          <a:stretch>
            <a:fillRect/>
          </a:stretch>
        </p:blipFill>
        <p:spPr bwMode="auto">
          <a:xfrm>
            <a:off x="888372" y="1088132"/>
            <a:ext cx="2283193" cy="1282693"/>
          </a:xfrm>
          <a:prstGeom prst="rect">
            <a:avLst/>
          </a:prstGeom>
        </p:spPr>
      </p:pic>
      <p:sp>
        <p:nvSpPr>
          <p:cNvPr id="4" name="Text 1"/>
          <p:cNvSpPr/>
          <p:nvPr/>
        </p:nvSpPr>
        <p:spPr bwMode="auto">
          <a:xfrm>
            <a:off x="786384"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需求分析的重要性</a:t>
            </a:r>
            <a:endParaRPr lang="en-US" sz="1450"/>
          </a:p>
        </p:txBody>
      </p:sp>
      <p:sp>
        <p:nvSpPr>
          <p:cNvPr id="5" name="Text 2"/>
          <p:cNvSpPr/>
          <p:nvPr/>
        </p:nvSpPr>
        <p:spPr bwMode="auto">
          <a:xfrm>
            <a:off x="822960" y="2773736"/>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需求分析是软件开发的基石，通过深入理解和定义项目需求，确保开发团队充分理解用户期望，为项目成功奠定基础。</a:t>
            </a:r>
            <a:endParaRPr lang="en-US" sz="1450"/>
          </a:p>
        </p:txBody>
      </p:sp>
      <p:pic>
        <p:nvPicPr>
          <p:cNvPr id="6" name="Image 1" descr="https://sgw-dx.xf-yun.com/api/v1/sparkdesk/_17400231901968a498337c1d54a4188eb60b0cf008e3d.jpg?authorization=c2ltcGxlLWp3dCBhaz1zcGFya2Rlc2s4MDAwMDAwMDAwMDE7ZXhwPTMzMTY4MjMxOTA7YWxnbz1obWFjLXNoYTI1NjtzaWc9cUtQVFFyVUgxQjZsZDBPcCtrdGt2VXNoN0xzc3ZxbnM4dG9SSHJMbEdRZz0=&amp;x_location=7YfmxI7B7uKO7jlRxIftd60uePD="/>
          <p:cNvPicPr>
            <a:picLocks noChangeAspect="1"/>
          </p:cNvPicPr>
          <p:nvPr/>
        </p:nvPicPr>
        <p:blipFill>
          <a:blip r:embed="rId3"/>
          <a:stretch>
            <a:fillRect/>
          </a:stretch>
        </p:blipFill>
        <p:spPr bwMode="auto">
          <a:xfrm>
            <a:off x="3466980" y="1088132"/>
            <a:ext cx="2283193" cy="1282693"/>
          </a:xfrm>
          <a:prstGeom prst="rect">
            <a:avLst/>
          </a:prstGeom>
        </p:spPr>
      </p:pic>
      <p:sp>
        <p:nvSpPr>
          <p:cNvPr id="7" name="Text 3"/>
          <p:cNvSpPr/>
          <p:nvPr/>
        </p:nvSpPr>
        <p:spPr bwMode="auto">
          <a:xfrm>
            <a:off x="3328416"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收集与分析需求</a:t>
            </a:r>
            <a:endParaRPr lang="en-US" sz="1450"/>
          </a:p>
        </p:txBody>
      </p:sp>
      <p:sp>
        <p:nvSpPr>
          <p:cNvPr id="8" name="Text 4"/>
          <p:cNvSpPr/>
          <p:nvPr/>
        </p:nvSpPr>
        <p:spPr bwMode="auto">
          <a:xfrm>
            <a:off x="3401568" y="2773736"/>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通过与利益相关者的沟通合作，分析团队收集并分析需求，识别功能和性能需求，评估其实际可行性，确保需求的全面性和准确性。</a:t>
            </a:r>
            <a:endParaRPr lang="en-US" sz="1450"/>
          </a:p>
        </p:txBody>
      </p:sp>
      <p:pic>
        <p:nvPicPr>
          <p:cNvPr id="9" name="Image 2" descr="https://sgw-dx.xf-yun.com/api/v1/sparkdesk/_174002319290540746c7265e8457bbba88fd48bcc5463.jpg?authorization=c2ltcGxlLWp3dCBhaz1zcGFya2Rlc2s4MDAwMDAwMDAwMDE7ZXhwPTMzMTY4MjMxOTI7YWxnbz1obWFjLXNoYTI1NjtzaWc9NFNNTHJLVFZ2a25jb1NmQWttVCtLSnFLeHo5Uzd3aXJYSGVEY0V3eXkvcz0=&amp;x_location=7YfmxI7B7uKO7jlRxIftd60uePD="/>
          <p:cNvPicPr>
            <a:picLocks noChangeAspect="1"/>
          </p:cNvPicPr>
          <p:nvPr/>
        </p:nvPicPr>
        <p:blipFill>
          <a:blip r:embed="rId4"/>
          <a:stretch>
            <a:fillRect/>
          </a:stretch>
        </p:blipFill>
        <p:spPr bwMode="auto">
          <a:xfrm>
            <a:off x="6009012" y="1088132"/>
            <a:ext cx="2283193" cy="1282693"/>
          </a:xfrm>
          <a:prstGeom prst="rect">
            <a:avLst/>
          </a:prstGeom>
        </p:spPr>
      </p:pic>
      <p:sp>
        <p:nvSpPr>
          <p:cNvPr id="10" name="Text 5"/>
          <p:cNvSpPr/>
          <p:nvPr/>
        </p:nvSpPr>
        <p:spPr bwMode="auto">
          <a:xfrm>
            <a:off x="5870448" y="2447488"/>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产出详细的需求文档</a:t>
            </a:r>
            <a:endParaRPr lang="en-US" sz="1450"/>
          </a:p>
        </p:txBody>
      </p:sp>
      <p:sp>
        <p:nvSpPr>
          <p:cNvPr id="11" name="Text 6"/>
          <p:cNvSpPr/>
          <p:nvPr/>
        </p:nvSpPr>
        <p:spPr bwMode="auto">
          <a:xfrm>
            <a:off x="5943600" y="2775208"/>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需求分析的最终产出是详细的需求文档，该文档将指导后续的设计和开发工作，明确项目目标和方向，处理矛盾或模糊的需求。</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UML用例分析</a:t>
            </a:r>
            <a:endParaRPr lang="en-US" sz="1450"/>
          </a:p>
        </p:txBody>
      </p:sp>
      <p:sp>
        <p:nvSpPr>
          <p:cNvPr id="3" name="Shape 1"/>
          <p:cNvSpPr/>
          <p:nvPr/>
        </p:nvSpPr>
        <p:spPr bwMode="auto">
          <a:xfrm>
            <a:off x="1528754"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4" name="Shape 2"/>
          <p:cNvSpPr/>
          <p:nvPr/>
        </p:nvSpPr>
        <p:spPr bwMode="auto">
          <a:xfrm>
            <a:off x="5687275"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5" name="Shape 3"/>
          <p:cNvSpPr/>
          <p:nvPr/>
        </p:nvSpPr>
        <p:spPr bwMode="auto">
          <a:xfrm>
            <a:off x="3542750" y="2852974"/>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6" name="Text 4"/>
          <p:cNvSpPr/>
          <p:nvPr/>
        </p:nvSpPr>
        <p:spPr bwMode="auto">
          <a:xfrm>
            <a:off x="1890784"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识别参与者</a:t>
            </a:r>
            <a:endParaRPr lang="en-US" sz="1450"/>
          </a:p>
        </p:txBody>
      </p:sp>
      <p:pic>
        <p:nvPicPr>
          <p:cNvPr id="7" name="Image 0" descr="https://sgw-dx.xf-yun.com/api/v1/sparkdesk/_17400232002201d6adb476a12496b95bc25d4043c09d7.jpg?authorization=c2ltcGxlLWp3dCBhaz1zcGFya2Rlc2s4MDAwMDAwMDAwMDE7ZXhwPTMzMTY4MjMyMDA7YWxnbz1obWFjLXNoYTI1NjtzaWc9dnhvbGh0MkxEODk0ZXJoZTBrL09HeTBGcWdlVWhLUm95MGNHYTZKRXB1bz0=&amp;x_location=7YfmxI7B7uKO7jlRxIftd60uePD="/>
          <p:cNvPicPr>
            <a:picLocks noChangeAspect="1"/>
          </p:cNvPicPr>
          <p:nvPr/>
        </p:nvPicPr>
        <p:blipFill>
          <a:blip r:embed="rId2"/>
          <a:srcRect l="21910" r="21909"/>
          <a:stretch>
            <a:fillRect/>
          </a:stretch>
        </p:blipFill>
        <p:spPr bwMode="auto">
          <a:xfrm>
            <a:off x="498274" y="1041561"/>
            <a:ext cx="1392512" cy="1392512"/>
          </a:xfrm>
          <a:prstGeom prst="ellipse">
            <a:avLst/>
          </a:prstGeom>
        </p:spPr>
      </p:pic>
      <p:sp>
        <p:nvSpPr>
          <p:cNvPr id="8" name="Text 5"/>
          <p:cNvSpPr/>
          <p:nvPr/>
        </p:nvSpPr>
        <p:spPr bwMode="auto">
          <a:xfrm>
            <a:off x="1890784"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在UML用例分析中，首先需要确定与系统交互的不同角色，即参与者。这些参与者可能包括管理员、用户、维修人员和审批员等，他们各自扮演着不同的角色，与系统进行交互。</a:t>
            </a:r>
            <a:endParaRPr lang="en-US" sz="1450"/>
          </a:p>
        </p:txBody>
      </p:sp>
      <p:sp>
        <p:nvSpPr>
          <p:cNvPr id="9" name="Text 6"/>
          <p:cNvSpPr/>
          <p:nvPr/>
        </p:nvSpPr>
        <p:spPr bwMode="auto">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定义用例</a:t>
            </a:r>
            <a:endParaRPr lang="en-US" sz="1450"/>
          </a:p>
        </p:txBody>
      </p:sp>
      <p:pic>
        <p:nvPicPr>
          <p:cNvPr id="10" name="Image 1" descr="https://sgw-dx.xf-yun.com/api/v1/sparkdesk/_1740023203028c1d2c3c7318f4d17a28f8ded1a66ea6d.jpg?authorization=c2ltcGxlLWp3dCBhaz1zcGFya2Rlc2s4MDAwMDAwMDAwMDE7ZXhwPTMzMTY4MjMyMDM7YWxnbz1obWFjLXNoYTI1NjtzaWc9bUppTjlhbXhVVEV6MHpBQVpBUmdwT1F6bUMrQk9ncWFlV2Z4OXpMb0RkND0=&amp;x_location=7YfmxI7B7uKO7jlRxIftd60uePD="/>
          <p:cNvPicPr>
            <a:picLocks noChangeAspect="1"/>
          </p:cNvPicPr>
          <p:nvPr/>
        </p:nvPicPr>
        <p:blipFill>
          <a:blip r:embed="rId3"/>
          <a:srcRect l="21910" r="21909"/>
          <a:stretch>
            <a:fillRect/>
          </a:stretch>
        </p:blipFill>
        <p:spPr bwMode="auto">
          <a:xfrm>
            <a:off x="4656795" y="1041561"/>
            <a:ext cx="1392512" cy="1392512"/>
          </a:xfrm>
          <a:prstGeom prst="ellipse">
            <a:avLst/>
          </a:prstGeom>
        </p:spPr>
      </p:pic>
      <p:sp>
        <p:nvSpPr>
          <p:cNvPr id="11" name="Text 7"/>
          <p:cNvSpPr/>
          <p:nvPr/>
        </p:nvSpPr>
        <p:spPr bwMode="auto">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为每个参与者定义他们可以执行的操作或业务流程，即用例。例如，管理员可能具有添加、修改和删除信息的权限，而普通用户可能只能提交报修请求和查看状态。</a:t>
            </a:r>
            <a:endParaRPr lang="en-US" sz="1450"/>
          </a:p>
        </p:txBody>
      </p:sp>
      <p:sp>
        <p:nvSpPr>
          <p:cNvPr id="12" name="Text 8"/>
          <p:cNvSpPr/>
          <p:nvPr/>
        </p:nvSpPr>
        <p:spPr bwMode="auto">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绘制用例图</a:t>
            </a:r>
            <a:endParaRPr lang="en-US" sz="1450"/>
          </a:p>
        </p:txBody>
      </p:sp>
      <p:pic>
        <p:nvPicPr>
          <p:cNvPr id="13" name="Image 2" descr="https://sgw-dx.xf-yun.com/api/v1/sparkdesk/_17400232062544bb975fa09c24b81aa83edaca785c695.jpg?authorization=c2ltcGxlLWp3dCBhaz1zcGFya2Rlc2s4MDAwMDAwMDAwMDE7ZXhwPTMzMTY4MjMyMDY7YWxnbz1obWFjLXNoYTI1NjtzaWc9TXVKNFBEUjR3QTZ2TEQvNWU5aUZxY0JzNVpLRDNiL1FwKzE4ZlpLYjk2dz0=&amp;x_location=7YfmxI7B7uKO7jlRxIftd60uePD="/>
          <p:cNvPicPr>
            <a:picLocks noChangeAspect="1"/>
          </p:cNvPicPr>
          <p:nvPr/>
        </p:nvPicPr>
        <p:blipFill>
          <a:blip r:embed="rId4"/>
          <a:srcRect l="21910" r="21909"/>
          <a:stretch>
            <a:fillRect/>
          </a:stretch>
        </p:blipFill>
        <p:spPr bwMode="auto">
          <a:xfrm>
            <a:off x="2512271" y="2852974"/>
            <a:ext cx="1392512" cy="1392512"/>
          </a:xfrm>
          <a:prstGeom prst="ellipse">
            <a:avLst/>
          </a:prstGeom>
        </p:spPr>
      </p:pic>
      <p:sp>
        <p:nvSpPr>
          <p:cNvPr id="14" name="Text 9"/>
          <p:cNvSpPr/>
          <p:nvPr/>
        </p:nvSpPr>
        <p:spPr bwMode="auto">
          <a:xfrm>
            <a:off x="3904782" y="3103003"/>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通过图形化的方式展示参与者与用例之间的关系。这有助于可视化系统的功能需求和用户交互，使得项目团队能够更清晰地理解系统应该做什么，以及如何为用户提供价值。</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流程分析</a:t>
            </a:r>
            <a:endParaRPr lang="en-US" sz="1450"/>
          </a:p>
        </p:txBody>
      </p:sp>
      <p:sp>
        <p:nvSpPr>
          <p:cNvPr id="3" name="Shape 1"/>
          <p:cNvSpPr/>
          <p:nvPr/>
        </p:nvSpPr>
        <p:spPr bwMode="auto">
          <a:xfrm>
            <a:off x="4148425" y="2215286"/>
            <a:ext cx="576615" cy="834888"/>
          </a:xfrm>
          <a:custGeom>
            <a:avLst/>
            <a:gdLst/>
            <a:ahLst/>
            <a:cxnLst/>
            <a:rect l="l" t="t" r="r" b="b"/>
            <a:pathLst>
              <a:path w="576615" h="834888" extrusionOk="0">
                <a:moveTo>
                  <a:pt x="576615" y="0"/>
                </a:moveTo>
                <a:moveTo>
                  <a:pt x="576615" y="0"/>
                </a:moveTo>
                <a:lnTo>
                  <a:pt x="0" y="834888"/>
                </a:lnTo>
              </a:path>
            </a:pathLst>
          </a:custGeom>
          <a:noFill/>
          <a:ln w="19050">
            <a:solidFill>
              <a:srgbClr val="002DB0"/>
            </a:solidFill>
            <a:prstDash val="solid"/>
            <a:headEnd type="none"/>
            <a:tailEnd type="none"/>
          </a:ln>
        </p:spPr>
      </p:sp>
      <p:sp>
        <p:nvSpPr>
          <p:cNvPr id="4" name="Shape 2"/>
          <p:cNvSpPr/>
          <p:nvPr/>
        </p:nvSpPr>
        <p:spPr bwMode="auto">
          <a:xfrm>
            <a:off x="4160714" y="1450417"/>
            <a:ext cx="564612" cy="751974"/>
          </a:xfrm>
          <a:custGeom>
            <a:avLst/>
            <a:gdLst/>
            <a:ahLst/>
            <a:cxnLst/>
            <a:rect l="l" t="t" r="r" b="b"/>
            <a:pathLst>
              <a:path w="564612" h="751974" extrusionOk="0">
                <a:moveTo>
                  <a:pt x="0" y="0"/>
                </a:moveTo>
                <a:moveTo>
                  <a:pt x="0" y="0"/>
                </a:moveTo>
                <a:lnTo>
                  <a:pt x="564612" y="751974"/>
                </a:lnTo>
              </a:path>
            </a:pathLst>
          </a:custGeom>
          <a:noFill/>
          <a:ln w="19050">
            <a:solidFill>
              <a:srgbClr val="002DB0"/>
            </a:solidFill>
            <a:prstDash val="solid"/>
            <a:headEnd type="none"/>
            <a:tailEnd type="none"/>
          </a:ln>
        </p:spPr>
      </p:sp>
      <p:sp>
        <p:nvSpPr>
          <p:cNvPr id="5" name="Shape 3"/>
          <p:cNvSpPr/>
          <p:nvPr/>
        </p:nvSpPr>
        <p:spPr bwMode="auto">
          <a:xfrm>
            <a:off x="646623" y="1078530"/>
            <a:ext cx="556517" cy="556517"/>
          </a:xfrm>
          <a:custGeom>
            <a:avLst/>
            <a:gdLst/>
            <a:ahLst/>
            <a:cxnLst/>
            <a:rect l="l" t="t" r="r" b="b"/>
            <a:pathLst>
              <a:path w="556517" h="556517" extrusionOk="0">
                <a:moveTo>
                  <a:pt x="0" y="0"/>
                </a:moveTo>
                <a:moveTo>
                  <a:pt x="0" y="0"/>
                </a:moveTo>
                <a:lnTo>
                  <a:pt x="556517" y="0"/>
                </a:lnTo>
                <a:lnTo>
                  <a:pt x="556517" y="556517"/>
                </a:lnTo>
                <a:lnTo>
                  <a:pt x="0" y="556517"/>
                </a:lnTo>
                <a:close/>
              </a:path>
            </a:pathLst>
          </a:custGeom>
          <a:solidFill>
            <a:srgbClr val="0084FF"/>
          </a:solidFill>
        </p:spPr>
      </p:sp>
      <p:sp>
        <p:nvSpPr>
          <p:cNvPr id="6" name="Shape 4"/>
          <p:cNvSpPr/>
          <p:nvPr/>
        </p:nvSpPr>
        <p:spPr bwMode="auto">
          <a:xfrm>
            <a:off x="1203141" y="1359276"/>
            <a:ext cx="2868202" cy="0"/>
          </a:xfrm>
          <a:custGeom>
            <a:avLst/>
            <a:gdLst/>
            <a:ahLst/>
            <a:cxnLst/>
            <a:rect l="l" t="t" r="r" b="b"/>
            <a:pathLst>
              <a:path w="2868202" extrusionOk="0">
                <a:moveTo>
                  <a:pt x="0" y="0"/>
                </a:moveTo>
                <a:moveTo>
                  <a:pt x="0" y="0"/>
                </a:moveTo>
                <a:lnTo>
                  <a:pt x="2868202" y="0"/>
                </a:lnTo>
              </a:path>
            </a:pathLst>
          </a:custGeom>
          <a:noFill/>
          <a:ln w="19050">
            <a:solidFill>
              <a:srgbClr val="002DB0"/>
            </a:solidFill>
            <a:prstDash val="solid"/>
            <a:headEnd type="none"/>
            <a:tailEnd type="none"/>
          </a:ln>
        </p:spPr>
      </p:sp>
      <p:sp>
        <p:nvSpPr>
          <p:cNvPr id="7" name="Shape 5"/>
          <p:cNvSpPr/>
          <p:nvPr/>
        </p:nvSpPr>
        <p:spPr bwMode="auto">
          <a:xfrm>
            <a:off x="4056069" y="1350132"/>
            <a:ext cx="192640" cy="192640"/>
          </a:xfrm>
          <a:custGeom>
            <a:avLst/>
            <a:gdLst/>
            <a:ahLst/>
            <a:cxnLst/>
            <a:rect l="l" t="t" r="r" b="b"/>
            <a:pathLst>
              <a:path w="192640" h="192640" extrusionOk="0">
                <a:moveTo>
                  <a:pt x="0" y="0"/>
                </a:moveTo>
                <a:moveTo>
                  <a:pt x="0" y="0"/>
                </a:moveTo>
                <a:lnTo>
                  <a:pt x="192640" y="0"/>
                </a:lnTo>
                <a:lnTo>
                  <a:pt x="192640" y="192640"/>
                </a:lnTo>
                <a:lnTo>
                  <a:pt x="0" y="192640"/>
                </a:lnTo>
                <a:close/>
              </a:path>
            </a:pathLst>
          </a:custGeom>
          <a:solidFill>
            <a:srgbClr val="0084FF"/>
          </a:solidFill>
        </p:spPr>
      </p:sp>
      <p:sp>
        <p:nvSpPr>
          <p:cNvPr id="8" name="Shape 6"/>
          <p:cNvSpPr/>
          <p:nvPr/>
        </p:nvSpPr>
        <p:spPr bwMode="auto">
          <a:xfrm>
            <a:off x="4056069" y="2932872"/>
            <a:ext cx="192640" cy="192640"/>
          </a:xfrm>
          <a:custGeom>
            <a:avLst/>
            <a:gdLst/>
            <a:ahLst/>
            <a:cxnLst/>
            <a:rect l="l" t="t" r="r" b="b"/>
            <a:pathLst>
              <a:path w="192640" h="192640" extrusionOk="0">
                <a:moveTo>
                  <a:pt x="0" y="0"/>
                </a:moveTo>
                <a:moveTo>
                  <a:pt x="0" y="0"/>
                </a:moveTo>
                <a:lnTo>
                  <a:pt x="192640" y="0"/>
                </a:lnTo>
                <a:lnTo>
                  <a:pt x="192640" y="192640"/>
                </a:lnTo>
                <a:lnTo>
                  <a:pt x="0" y="192640"/>
                </a:lnTo>
                <a:close/>
              </a:path>
            </a:pathLst>
          </a:custGeom>
          <a:solidFill>
            <a:srgbClr val="0084FF"/>
          </a:solidFill>
        </p:spPr>
      </p:sp>
      <p:sp>
        <p:nvSpPr>
          <p:cNvPr id="9" name="Shape 7"/>
          <p:cNvSpPr/>
          <p:nvPr/>
        </p:nvSpPr>
        <p:spPr bwMode="auto">
          <a:xfrm>
            <a:off x="4838991" y="2211190"/>
            <a:ext cx="3224944" cy="0"/>
          </a:xfrm>
          <a:custGeom>
            <a:avLst/>
            <a:gdLst/>
            <a:ahLst/>
            <a:cxnLst/>
            <a:rect l="l" t="t" r="r" b="b"/>
            <a:pathLst>
              <a:path w="3224944" extrusionOk="0">
                <a:moveTo>
                  <a:pt x="0" y="0"/>
                </a:moveTo>
                <a:moveTo>
                  <a:pt x="0" y="0"/>
                </a:moveTo>
                <a:lnTo>
                  <a:pt x="3224944" y="0"/>
                </a:lnTo>
              </a:path>
            </a:pathLst>
          </a:custGeom>
          <a:noFill/>
          <a:ln w="19050">
            <a:solidFill>
              <a:srgbClr val="002DB0"/>
            </a:solidFill>
            <a:prstDash val="solid"/>
            <a:headEnd type="none"/>
            <a:tailEnd type="none"/>
          </a:ln>
        </p:spPr>
      </p:sp>
      <p:sp>
        <p:nvSpPr>
          <p:cNvPr id="10" name="Shape 8"/>
          <p:cNvSpPr/>
          <p:nvPr/>
        </p:nvSpPr>
        <p:spPr bwMode="auto">
          <a:xfrm>
            <a:off x="7940859" y="1957076"/>
            <a:ext cx="556517" cy="556517"/>
          </a:xfrm>
          <a:custGeom>
            <a:avLst/>
            <a:gdLst/>
            <a:ahLst/>
            <a:cxnLst/>
            <a:rect l="l" t="t" r="r" b="b"/>
            <a:pathLst>
              <a:path w="556517" h="556517" extrusionOk="0">
                <a:moveTo>
                  <a:pt x="0" y="0"/>
                </a:moveTo>
                <a:moveTo>
                  <a:pt x="0" y="0"/>
                </a:moveTo>
                <a:lnTo>
                  <a:pt x="556517" y="0"/>
                </a:lnTo>
                <a:lnTo>
                  <a:pt x="556517" y="556517"/>
                </a:lnTo>
                <a:lnTo>
                  <a:pt x="0" y="556517"/>
                </a:lnTo>
                <a:close/>
              </a:path>
            </a:pathLst>
          </a:custGeom>
          <a:solidFill>
            <a:srgbClr val="0084FF"/>
          </a:solidFill>
        </p:spPr>
      </p:sp>
      <p:sp>
        <p:nvSpPr>
          <p:cNvPr id="11" name="Shape 9"/>
          <p:cNvSpPr/>
          <p:nvPr/>
        </p:nvSpPr>
        <p:spPr bwMode="auto">
          <a:xfrm>
            <a:off x="1203141" y="3113881"/>
            <a:ext cx="2886490" cy="2488"/>
          </a:xfrm>
          <a:custGeom>
            <a:avLst/>
            <a:gdLst/>
            <a:ahLst/>
            <a:cxnLst/>
            <a:rect l="l" t="t" r="r" b="b"/>
            <a:pathLst>
              <a:path w="2886490" h="2488" extrusionOk="0">
                <a:moveTo>
                  <a:pt x="0" y="0"/>
                </a:moveTo>
                <a:moveTo>
                  <a:pt x="0" y="0"/>
                </a:moveTo>
                <a:lnTo>
                  <a:pt x="2886490" y="2488"/>
                </a:lnTo>
              </a:path>
            </a:pathLst>
          </a:custGeom>
          <a:noFill/>
          <a:ln w="19050">
            <a:solidFill>
              <a:srgbClr val="002DB0"/>
            </a:solidFill>
            <a:prstDash val="solid"/>
            <a:headEnd type="none"/>
            <a:tailEnd type="none"/>
          </a:ln>
        </p:spPr>
      </p:sp>
      <p:sp>
        <p:nvSpPr>
          <p:cNvPr id="12" name="Shape 10"/>
          <p:cNvSpPr/>
          <p:nvPr/>
        </p:nvSpPr>
        <p:spPr bwMode="auto">
          <a:xfrm>
            <a:off x="646623" y="2835622"/>
            <a:ext cx="556517" cy="556517"/>
          </a:xfrm>
          <a:custGeom>
            <a:avLst/>
            <a:gdLst/>
            <a:ahLst/>
            <a:cxnLst/>
            <a:rect l="l" t="t" r="r" b="b"/>
            <a:pathLst>
              <a:path w="556517" h="556517" extrusionOk="0">
                <a:moveTo>
                  <a:pt x="0" y="0"/>
                </a:moveTo>
                <a:moveTo>
                  <a:pt x="0" y="0"/>
                </a:moveTo>
                <a:lnTo>
                  <a:pt x="556517" y="0"/>
                </a:lnTo>
                <a:lnTo>
                  <a:pt x="556517" y="556517"/>
                </a:lnTo>
                <a:lnTo>
                  <a:pt x="0" y="556517"/>
                </a:lnTo>
                <a:close/>
              </a:path>
            </a:pathLst>
          </a:custGeom>
          <a:solidFill>
            <a:srgbClr val="0084FF"/>
          </a:solidFill>
        </p:spPr>
      </p:sp>
      <p:sp>
        <p:nvSpPr>
          <p:cNvPr id="13" name="Text 11"/>
          <p:cNvSpPr/>
          <p:nvPr/>
        </p:nvSpPr>
        <p:spPr bwMode="auto">
          <a:xfrm>
            <a:off x="646623" y="1105962"/>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2150" b="1">
                <a:solidFill>
                  <a:srgbClr val="E1E1E1"/>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14" name="Text 12"/>
          <p:cNvSpPr/>
          <p:nvPr/>
        </p:nvSpPr>
        <p:spPr bwMode="auto">
          <a:xfrm>
            <a:off x="7940859" y="1984508"/>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2150" b="1">
                <a:solidFill>
                  <a:srgbClr val="E1E1E1"/>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5" name="Text 13"/>
          <p:cNvSpPr/>
          <p:nvPr/>
        </p:nvSpPr>
        <p:spPr bwMode="auto">
          <a:xfrm>
            <a:off x="646623" y="2862421"/>
            <a:ext cx="556517" cy="512064"/>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2150" b="1">
                <a:solidFill>
                  <a:srgbClr val="E1E1E1"/>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16" name="Text 14"/>
          <p:cNvSpPr/>
          <p:nvPr/>
        </p:nvSpPr>
        <p:spPr bwMode="auto">
          <a:xfrm>
            <a:off x="1203141" y="957284"/>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流程分析的重要性</a:t>
            </a:r>
            <a:endParaRPr lang="en-US" sz="1450"/>
          </a:p>
        </p:txBody>
      </p:sp>
      <p:sp>
        <p:nvSpPr>
          <p:cNvPr id="17" name="Text 15"/>
          <p:cNvSpPr/>
          <p:nvPr/>
        </p:nvSpPr>
        <p:spPr bwMode="auto">
          <a:xfrm>
            <a:off x="1203665" y="1359620"/>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流程分析是软件开发中不可或缺的一环，它通过深入剖析系统内部的运作细节，确保信息高效、准确地传递，为优化提供理论支持和改进方向。</a:t>
            </a:r>
            <a:endParaRPr lang="en-US" sz="1450"/>
          </a:p>
        </p:txBody>
      </p:sp>
      <p:sp>
        <p:nvSpPr>
          <p:cNvPr id="18" name="Text 16"/>
          <p:cNvSpPr/>
          <p:nvPr/>
        </p:nvSpPr>
        <p:spPr bwMode="auto">
          <a:xfrm>
            <a:off x="4838690" y="1808486"/>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功能模块间的交互顺序</a:t>
            </a:r>
            <a:endParaRPr lang="en-US" sz="1450"/>
          </a:p>
        </p:txBody>
      </p:sp>
      <p:sp>
        <p:nvSpPr>
          <p:cNvPr id="19" name="Text 17"/>
          <p:cNvSpPr/>
          <p:nvPr/>
        </p:nvSpPr>
        <p:spPr bwMode="auto">
          <a:xfrm>
            <a:off x="4838404" y="2210926"/>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明晰功能模块间的交互顺序和数据流向，有助于揭示效率瓶颈和错误处理机制，从而提升软件质量和用户满意度。</a:t>
            </a:r>
            <a:endParaRPr lang="en-US" sz="1450"/>
          </a:p>
        </p:txBody>
      </p:sp>
      <p:sp>
        <p:nvSpPr>
          <p:cNvPr id="20" name="Text 18"/>
          <p:cNvSpPr/>
          <p:nvPr/>
        </p:nvSpPr>
        <p:spPr bwMode="auto">
          <a:xfrm>
            <a:off x="1203141" y="2704702"/>
            <a:ext cx="2852928"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用户输入与结果输出</a:t>
            </a:r>
            <a:endParaRPr lang="en-US" sz="1450"/>
          </a:p>
        </p:txBody>
      </p:sp>
      <p:sp>
        <p:nvSpPr>
          <p:cNvPr id="21" name="Text 19"/>
          <p:cNvSpPr/>
          <p:nvPr/>
        </p:nvSpPr>
        <p:spPr bwMode="auto">
          <a:xfrm>
            <a:off x="1203141" y="3125512"/>
            <a:ext cx="2852928" cy="1060704"/>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流程分析涵盖用户输入、系统处理、结果输出的完整路径，确保最终实现满足设计目标和用户需求，提升用户体验。</a:t>
            </a:r>
            <a:endParaRPr lang="en-US" sz="1450"/>
          </a:p>
        </p:txBody>
      </p:sp>
      <p:sp>
        <p:nvSpPr>
          <p:cNvPr id="22" name="Shape 20"/>
          <p:cNvSpPr/>
          <p:nvPr/>
        </p:nvSpPr>
        <p:spPr bwMode="auto">
          <a:xfrm>
            <a:off x="4646351" y="2114870"/>
            <a:ext cx="192640" cy="192640"/>
          </a:xfrm>
          <a:custGeom>
            <a:avLst/>
            <a:gdLst/>
            <a:ahLst/>
            <a:cxnLst/>
            <a:rect l="l" t="t" r="r" b="b"/>
            <a:pathLst>
              <a:path w="192640" h="192640" extrusionOk="0">
                <a:moveTo>
                  <a:pt x="0" y="0"/>
                </a:moveTo>
                <a:moveTo>
                  <a:pt x="0" y="0"/>
                </a:moveTo>
                <a:lnTo>
                  <a:pt x="192640" y="0"/>
                </a:lnTo>
                <a:lnTo>
                  <a:pt x="192640" y="192640"/>
                </a:lnTo>
                <a:lnTo>
                  <a:pt x="0" y="192640"/>
                </a:lnTo>
                <a:close/>
              </a:path>
            </a:pathLst>
          </a:custGeom>
          <a:solidFill>
            <a:srgbClr val="0084FF"/>
          </a:solidFill>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04</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系统功能实现</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用户便捷提交</a:t>
            </a:r>
            <a:endParaRPr lang="en-US" sz="1450"/>
          </a:p>
        </p:txBody>
      </p:sp>
      <p:sp>
        <p:nvSpPr>
          <p:cNvPr id="3" name="Shape 1"/>
          <p:cNvSpPr/>
          <p:nvPr/>
        </p:nvSpPr>
        <p:spPr bwMode="auto">
          <a:xfrm>
            <a:off x="1528754"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4" name="Shape 2"/>
          <p:cNvSpPr/>
          <p:nvPr/>
        </p:nvSpPr>
        <p:spPr bwMode="auto">
          <a:xfrm>
            <a:off x="5687275"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5" name="Shape 3"/>
          <p:cNvSpPr/>
          <p:nvPr/>
        </p:nvSpPr>
        <p:spPr bwMode="auto">
          <a:xfrm>
            <a:off x="3542750" y="2852974"/>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6" name="Text 4"/>
          <p:cNvSpPr/>
          <p:nvPr/>
        </p:nvSpPr>
        <p:spPr bwMode="auto">
          <a:xfrm>
            <a:off x="1890784"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报修类型选择</a:t>
            </a:r>
            <a:endParaRPr lang="en-US" sz="1450"/>
          </a:p>
        </p:txBody>
      </p:sp>
      <p:pic>
        <p:nvPicPr>
          <p:cNvPr id="7" name="Image 0" descr="https://sgw-dx.xf-yun.com/api/v1/sparkdesk/_1740023200151177fbf245bbc4b7ea8b8c54d56c784cd.jpg?authorization=c2ltcGxlLWp3dCBhaz1zcGFya2Rlc2s4MDAwMDAwMDAwMDE7ZXhwPTMzMTY4MjMyMDA7YWxnbz1obWFjLXNoYTI1NjtzaWc9a0ZYdktsZHU2SUlpZ0piNDVxT1pBd2tjUTliZGIxVCszZXBSNW1sdW9pMD0=&amp;x_location=7YfmxI7B7uKO7jlRxIftd60uePD="/>
          <p:cNvPicPr>
            <a:picLocks noChangeAspect="1"/>
          </p:cNvPicPr>
          <p:nvPr/>
        </p:nvPicPr>
        <p:blipFill>
          <a:blip r:embed="rId2"/>
          <a:srcRect l="21910" r="21909"/>
          <a:stretch>
            <a:fillRect/>
          </a:stretch>
        </p:blipFill>
        <p:spPr bwMode="auto">
          <a:xfrm>
            <a:off x="498274" y="1041561"/>
            <a:ext cx="1392512" cy="1392512"/>
          </a:xfrm>
          <a:prstGeom prst="ellipse">
            <a:avLst/>
          </a:prstGeom>
        </p:spPr>
      </p:pic>
      <p:sp>
        <p:nvSpPr>
          <p:cNvPr id="8" name="Text 5"/>
          <p:cNvSpPr/>
          <p:nvPr/>
        </p:nvSpPr>
        <p:spPr bwMode="auto">
          <a:xfrm>
            <a:off x="1890784"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用户在提交报修申请时，可以根据自身需求选择不同的报修类型，如电器故障、门窗损坏等，系统将根据报修类型进行分类处理。</a:t>
            </a:r>
            <a:endParaRPr lang="en-US" sz="1450"/>
          </a:p>
        </p:txBody>
      </p:sp>
      <p:sp>
        <p:nvSpPr>
          <p:cNvPr id="9" name="Text 6"/>
          <p:cNvSpPr/>
          <p:nvPr/>
        </p:nvSpPr>
        <p:spPr bwMode="auto">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实时查看进度</a:t>
            </a:r>
            <a:endParaRPr lang="en-US" sz="1450"/>
          </a:p>
        </p:txBody>
      </p:sp>
      <p:pic>
        <p:nvPicPr>
          <p:cNvPr id="10" name="Image 1" descr="https://sgw-dx.xf-yun.com/api/v1/sparkdesk/_174002320284097a2eae309d3463f8b226a1311a75e62.jpg?authorization=c2ltcGxlLWp3dCBhaz1zcGFya2Rlc2s4MDAwMDAwMDAwMDE7ZXhwPTMzMTY4MjMyMDI7YWxnbz1obWFjLXNoYTI1NjtzaWc9SWw4b0hjMlBYTTJ2ZGh0UFRibGd1ZTBFdjlyZ01ncUtlNzNPeUtwV2VaUT0=&amp;x_location=7YfmxI7B7uKO7jlRxIftd60uePD="/>
          <p:cNvPicPr>
            <a:picLocks noChangeAspect="1"/>
          </p:cNvPicPr>
          <p:nvPr/>
        </p:nvPicPr>
        <p:blipFill>
          <a:blip r:embed="rId3"/>
          <a:srcRect l="21910" r="21909"/>
          <a:stretch>
            <a:fillRect/>
          </a:stretch>
        </p:blipFill>
        <p:spPr bwMode="auto">
          <a:xfrm>
            <a:off x="4656795" y="1041561"/>
            <a:ext cx="1392512" cy="1392512"/>
          </a:xfrm>
          <a:prstGeom prst="ellipse">
            <a:avLst/>
          </a:prstGeom>
        </p:spPr>
      </p:pic>
      <p:sp>
        <p:nvSpPr>
          <p:cNvPr id="11" name="Text 7"/>
          <p:cNvSpPr/>
          <p:nvPr/>
        </p:nvSpPr>
        <p:spPr bwMode="auto">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用户提交报修申请后，可以通过系统实时查看报修进度，了解维修人员的安排情况和预计完成时间，方便用户合理安排时间。</a:t>
            </a:r>
            <a:endParaRPr lang="en-US" sz="1450"/>
          </a:p>
        </p:txBody>
      </p:sp>
      <p:sp>
        <p:nvSpPr>
          <p:cNvPr id="12" name="Text 8"/>
          <p:cNvSpPr/>
          <p:nvPr/>
        </p:nvSpPr>
        <p:spPr bwMode="auto">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维修结果反馈</a:t>
            </a:r>
            <a:endParaRPr lang="en-US" sz="1450"/>
          </a:p>
        </p:txBody>
      </p:sp>
      <p:pic>
        <p:nvPicPr>
          <p:cNvPr id="13" name="Image 2" descr="https://sgw-dx.xf-yun.com/api/v1/sparkdesk/_174002320565681699f51b63f48079a44fc7d8b0b4e4d.jpg?authorization=c2ltcGxlLWp3dCBhaz1zcGFya2Rlc2s4MDAwMDAwMDAwMDE7ZXhwPTMzMTY4MjMyMDU7YWxnbz1obWFjLXNoYTI1NjtzaWc9SFFZUEtXdVA2NUozckpXSS9rUWtUcXBURlZXcnVoM1dWOGI4Wld0dExyOD0=&amp;x_location=7YfmxI7B7uKO7jlRxIftd60uePD="/>
          <p:cNvPicPr>
            <a:picLocks noChangeAspect="1"/>
          </p:cNvPicPr>
          <p:nvPr/>
        </p:nvPicPr>
        <p:blipFill>
          <a:blip r:embed="rId4"/>
          <a:srcRect l="21910" r="21909"/>
          <a:stretch>
            <a:fillRect/>
          </a:stretch>
        </p:blipFill>
        <p:spPr bwMode="auto">
          <a:xfrm>
            <a:off x="2512271" y="2852974"/>
            <a:ext cx="1392512" cy="1392512"/>
          </a:xfrm>
          <a:prstGeom prst="ellipse">
            <a:avLst/>
          </a:prstGeom>
        </p:spPr>
      </p:pic>
      <p:sp>
        <p:nvSpPr>
          <p:cNvPr id="14" name="Text 9"/>
          <p:cNvSpPr/>
          <p:nvPr/>
        </p:nvSpPr>
        <p:spPr bwMode="auto">
          <a:xfrm>
            <a:off x="3904782" y="3103003"/>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维修完成后，用户可以在系统中查看维修结果，对维修质量进行评价，同时也可以提出改进建议，帮助我们不断优化服务。</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管理响应跟踪</a:t>
            </a:r>
            <a:endParaRPr lang="en-US" sz="1450"/>
          </a:p>
        </p:txBody>
      </p:sp>
      <p:sp>
        <p:nvSpPr>
          <p:cNvPr id="3" name="Shape 1"/>
          <p:cNvSpPr/>
          <p:nvPr/>
        </p:nvSpPr>
        <p:spPr bwMode="auto">
          <a:xfrm rot="-365999">
            <a:off x="639861" y="1356868"/>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0084FF">
              <a:alpha val="0"/>
            </a:srgbClr>
          </a:solidFill>
          <a:ln w="19050">
            <a:solidFill>
              <a:srgbClr val="002DB0"/>
            </a:solidFill>
            <a:prstDash val="solid"/>
          </a:ln>
        </p:spPr>
      </p:sp>
      <p:sp>
        <p:nvSpPr>
          <p:cNvPr id="4" name="Shape 2"/>
          <p:cNvSpPr/>
          <p:nvPr/>
        </p:nvSpPr>
        <p:spPr bwMode="auto">
          <a:xfrm>
            <a:off x="679498" y="1343207"/>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A2E5B9">
              <a:alpha val="0"/>
            </a:srgbClr>
          </a:solidFill>
          <a:ln w="19050">
            <a:solidFill>
              <a:srgbClr val="002DB0"/>
            </a:solidFill>
            <a:prstDash val="solid"/>
          </a:ln>
        </p:spPr>
      </p:sp>
      <p:sp>
        <p:nvSpPr>
          <p:cNvPr id="5" name="Shape 3"/>
          <p:cNvSpPr/>
          <p:nvPr/>
        </p:nvSpPr>
        <p:spPr bwMode="auto">
          <a:xfrm>
            <a:off x="916789" y="1153595"/>
            <a:ext cx="512064" cy="512064"/>
          </a:xfrm>
          <a:custGeom>
            <a:avLst/>
            <a:gdLst/>
            <a:ahLst/>
            <a:cxnLst/>
            <a:rect l="l" t="t" r="r" b="b"/>
            <a:pathLst>
              <a:path w="512064" h="512064" extrusionOk="0">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p:spPr>
      </p:sp>
      <p:sp>
        <p:nvSpPr>
          <p:cNvPr id="6" name="Text 4"/>
          <p:cNvSpPr/>
          <p:nvPr/>
        </p:nvSpPr>
        <p:spPr bwMode="auto">
          <a:xfrm>
            <a:off x="756803" y="1121591"/>
            <a:ext cx="813748"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7" name="Shape 5"/>
          <p:cNvSpPr/>
          <p:nvPr/>
        </p:nvSpPr>
        <p:spPr bwMode="auto">
          <a:xfrm rot="-365999">
            <a:off x="3346704" y="1356868"/>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5196FF">
              <a:alpha val="0"/>
            </a:srgbClr>
          </a:solidFill>
          <a:ln w="19050">
            <a:solidFill>
              <a:srgbClr val="002DB0"/>
            </a:solidFill>
            <a:prstDash val="solid"/>
          </a:ln>
        </p:spPr>
      </p:sp>
      <p:sp>
        <p:nvSpPr>
          <p:cNvPr id="8" name="Shape 6"/>
          <p:cNvSpPr/>
          <p:nvPr/>
        </p:nvSpPr>
        <p:spPr bwMode="auto">
          <a:xfrm>
            <a:off x="3386341" y="1343207"/>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A2E5B9">
              <a:alpha val="0"/>
            </a:srgbClr>
          </a:solidFill>
          <a:ln w="19050">
            <a:solidFill>
              <a:srgbClr val="002DB0"/>
            </a:solidFill>
            <a:prstDash val="solid"/>
          </a:ln>
        </p:spPr>
      </p:sp>
      <p:sp>
        <p:nvSpPr>
          <p:cNvPr id="9" name="Shape 7"/>
          <p:cNvSpPr/>
          <p:nvPr/>
        </p:nvSpPr>
        <p:spPr bwMode="auto">
          <a:xfrm>
            <a:off x="3623632" y="1153595"/>
            <a:ext cx="512064" cy="512064"/>
          </a:xfrm>
          <a:custGeom>
            <a:avLst/>
            <a:gdLst/>
            <a:ahLst/>
            <a:cxnLst/>
            <a:rect l="l" t="t" r="r" b="b"/>
            <a:pathLst>
              <a:path w="512064" h="512064" extrusionOk="0">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p:spPr>
      </p:sp>
      <p:sp>
        <p:nvSpPr>
          <p:cNvPr id="10" name="Text 8"/>
          <p:cNvSpPr/>
          <p:nvPr/>
        </p:nvSpPr>
        <p:spPr bwMode="auto">
          <a:xfrm>
            <a:off x="3472790" y="1126163"/>
            <a:ext cx="813748"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1" name="Shape 9"/>
          <p:cNvSpPr/>
          <p:nvPr/>
        </p:nvSpPr>
        <p:spPr bwMode="auto">
          <a:xfrm rot="-365999">
            <a:off x="6053547" y="1356868"/>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0084FF">
              <a:alpha val="0"/>
            </a:srgbClr>
          </a:solidFill>
          <a:ln w="19050">
            <a:solidFill>
              <a:srgbClr val="002DB0"/>
            </a:solidFill>
            <a:prstDash val="solid"/>
          </a:ln>
        </p:spPr>
      </p:sp>
      <p:sp>
        <p:nvSpPr>
          <p:cNvPr id="12" name="Shape 10"/>
          <p:cNvSpPr/>
          <p:nvPr/>
        </p:nvSpPr>
        <p:spPr bwMode="auto">
          <a:xfrm>
            <a:off x="6093184" y="1343207"/>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A2E5B9">
              <a:alpha val="0"/>
            </a:srgbClr>
          </a:solidFill>
          <a:ln w="19050">
            <a:solidFill>
              <a:srgbClr val="002DB0"/>
            </a:solidFill>
            <a:prstDash val="solid"/>
          </a:ln>
        </p:spPr>
      </p:sp>
      <p:sp>
        <p:nvSpPr>
          <p:cNvPr id="13" name="Shape 11"/>
          <p:cNvSpPr/>
          <p:nvPr/>
        </p:nvSpPr>
        <p:spPr bwMode="auto">
          <a:xfrm>
            <a:off x="6330475" y="1153595"/>
            <a:ext cx="512064" cy="512064"/>
          </a:xfrm>
          <a:custGeom>
            <a:avLst/>
            <a:gdLst/>
            <a:ahLst/>
            <a:cxnLst/>
            <a:rect l="l" t="t" r="r" b="b"/>
            <a:pathLst>
              <a:path w="512064" h="512064" extrusionOk="0">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p:spPr>
      </p:sp>
      <p:sp>
        <p:nvSpPr>
          <p:cNvPr id="14" name="Text 12"/>
          <p:cNvSpPr/>
          <p:nvPr/>
        </p:nvSpPr>
        <p:spPr bwMode="auto">
          <a:xfrm>
            <a:off x="6170489" y="1121591"/>
            <a:ext cx="813748"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15" name="Text 13"/>
          <p:cNvSpPr/>
          <p:nvPr/>
        </p:nvSpPr>
        <p:spPr bwMode="auto">
          <a:xfrm>
            <a:off x="679498" y="1667126"/>
            <a:ext cx="2449397" cy="448056"/>
          </a:xfrm>
          <a:prstGeom prst="rect">
            <a:avLst/>
          </a:prstGeom>
          <a:noFill/>
        </p:spPr>
        <p:txBody>
          <a:bodyPr wrap="square" lIns="95250" tIns="95250" rIns="95250" bIns="95250" rtlCol="0" anchor="t">
            <a:spAutoFit/>
          </a:bodyPr>
          <a:lstStyle/>
          <a:p>
            <a:pPr marL="0" indent="0" algn="ctr">
              <a:lnSpc>
                <a:spcPct val="100000"/>
              </a:lnSpc>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响应跟踪的重要性</a:t>
            </a:r>
            <a:endParaRPr lang="en-US" sz="1450"/>
          </a:p>
        </p:txBody>
      </p:sp>
      <p:sp>
        <p:nvSpPr>
          <p:cNvPr id="16" name="Text 14"/>
          <p:cNvSpPr/>
          <p:nvPr/>
        </p:nvSpPr>
        <p:spPr bwMode="auto">
          <a:xfrm>
            <a:off x="807514" y="1988925"/>
            <a:ext cx="2194560" cy="14996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管理响应跟踪是确保项目顺利进行的关键环节，它帮助团队及时了解任务执行情况，调整策略以应对可能出现的问题，保证项目按时完成。</a:t>
            </a:r>
            <a:endParaRPr lang="en-US" sz="1450"/>
          </a:p>
        </p:txBody>
      </p:sp>
      <p:sp>
        <p:nvSpPr>
          <p:cNvPr id="17" name="Text 15"/>
          <p:cNvSpPr/>
          <p:nvPr/>
        </p:nvSpPr>
        <p:spPr bwMode="auto">
          <a:xfrm>
            <a:off x="3386341" y="1667126"/>
            <a:ext cx="2449397" cy="448056"/>
          </a:xfrm>
          <a:prstGeom prst="rect">
            <a:avLst/>
          </a:prstGeom>
          <a:noFill/>
        </p:spPr>
        <p:txBody>
          <a:bodyPr wrap="square" lIns="95250" tIns="95250" rIns="95250" bIns="95250" rtlCol="0" anchor="t">
            <a:spAutoFit/>
          </a:bodyPr>
          <a:lstStyle/>
          <a:p>
            <a:pPr marL="0" indent="0" algn="ctr">
              <a:lnSpc>
                <a:spcPct val="100000"/>
              </a:lnSpc>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实施有效的响应跟踪系统</a:t>
            </a:r>
            <a:endParaRPr lang="en-US" sz="1450"/>
          </a:p>
        </p:txBody>
      </p:sp>
      <p:sp>
        <p:nvSpPr>
          <p:cNvPr id="18" name="Text 16"/>
          <p:cNvSpPr/>
          <p:nvPr/>
        </p:nvSpPr>
        <p:spPr bwMode="auto">
          <a:xfrm>
            <a:off x="3514357" y="1988925"/>
            <a:ext cx="2194560" cy="14996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为了提高项目管理效率，必须实施一个有效的响应跟踪系统。该系统应能实时监控任务进度，自动提醒相关人员关注并解决延误问题。</a:t>
            </a:r>
            <a:endParaRPr lang="en-US" sz="1450"/>
          </a:p>
        </p:txBody>
      </p:sp>
      <p:sp>
        <p:nvSpPr>
          <p:cNvPr id="19" name="Text 17"/>
          <p:cNvSpPr/>
          <p:nvPr/>
        </p:nvSpPr>
        <p:spPr bwMode="auto">
          <a:xfrm>
            <a:off x="6093184" y="1667126"/>
            <a:ext cx="2449397" cy="448056"/>
          </a:xfrm>
          <a:prstGeom prst="rect">
            <a:avLst/>
          </a:prstGeom>
          <a:noFill/>
        </p:spPr>
        <p:txBody>
          <a:bodyPr wrap="square" lIns="95250" tIns="95250" rIns="95250" bIns="95250" rtlCol="0" anchor="t">
            <a:spAutoFit/>
          </a:bodyPr>
          <a:lstStyle/>
          <a:p>
            <a:pPr marL="0" indent="0" algn="ctr">
              <a:lnSpc>
                <a:spcPct val="100000"/>
              </a:lnSpc>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持续改进与优化</a:t>
            </a:r>
            <a:endParaRPr lang="en-US" sz="1450"/>
          </a:p>
        </p:txBody>
      </p:sp>
      <p:sp>
        <p:nvSpPr>
          <p:cNvPr id="20" name="Text 18"/>
          <p:cNvSpPr/>
          <p:nvPr/>
        </p:nvSpPr>
        <p:spPr bwMode="auto">
          <a:xfrm>
            <a:off x="6221200" y="1988925"/>
            <a:ext cx="2194560" cy="14996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通过对响应跟踪数据的分析，可以发现流程中的瓶颈和低效环节，进而采取措施进行改进和优化，不断提升团队的工作效能和项目的成功率。</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提升服务质量</a:t>
            </a:r>
            <a:endParaRPr lang="en-US" sz="1450"/>
          </a:p>
        </p:txBody>
      </p:sp>
      <p:sp>
        <p:nvSpPr>
          <p:cNvPr id="3" name="Shape 1"/>
          <p:cNvSpPr/>
          <p:nvPr/>
        </p:nvSpPr>
        <p:spPr bwMode="auto">
          <a:xfrm>
            <a:off x="1528754"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4" name="Shape 2"/>
          <p:cNvSpPr/>
          <p:nvPr/>
        </p:nvSpPr>
        <p:spPr bwMode="auto">
          <a:xfrm>
            <a:off x="5687275"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5" name="Shape 3"/>
          <p:cNvSpPr/>
          <p:nvPr/>
        </p:nvSpPr>
        <p:spPr bwMode="auto">
          <a:xfrm>
            <a:off x="3542750" y="2852974"/>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6" name="Text 4"/>
          <p:cNvSpPr/>
          <p:nvPr/>
        </p:nvSpPr>
        <p:spPr bwMode="auto">
          <a:xfrm>
            <a:off x="1890784"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用户友好的报修流程</a:t>
            </a:r>
            <a:endParaRPr lang="en-US" sz="1450"/>
          </a:p>
        </p:txBody>
      </p:sp>
      <p:pic>
        <p:nvPicPr>
          <p:cNvPr id="7" name="Image 0" descr="https://sgw-dx.xf-yun.com/api/v1/sparkdesk/_17400232207185468966ef2334efa9827bfbeb684d06c.jpg?authorization=c2ltcGxlLWp3dCBhaz1zcGFya2Rlc2s4MDAwMDAwMDAwMDE7ZXhwPTMzMTY4MjMyMjA7YWxnbz1obWFjLXNoYTI1NjtzaWc9ei84NnE0enBqSTUxU2swcEUydHNnY2dsNkd0NXZ5MGd3ZEFQbm14d2tnQT0=&amp;x_location=7YfmxI7B7uKO7jlRxIftd60uePD="/>
          <p:cNvPicPr>
            <a:picLocks noChangeAspect="1"/>
          </p:cNvPicPr>
          <p:nvPr/>
        </p:nvPicPr>
        <p:blipFill>
          <a:blip r:embed="rId2"/>
          <a:srcRect l="21910" r="21909"/>
          <a:stretch>
            <a:fillRect/>
          </a:stretch>
        </p:blipFill>
        <p:spPr bwMode="auto">
          <a:xfrm>
            <a:off x="498274" y="1041561"/>
            <a:ext cx="1392512" cy="1392512"/>
          </a:xfrm>
          <a:prstGeom prst="ellipse">
            <a:avLst/>
          </a:prstGeom>
        </p:spPr>
      </p:pic>
      <p:sp>
        <p:nvSpPr>
          <p:cNvPr id="8" name="Text 5"/>
          <p:cNvSpPr/>
          <p:nvPr/>
        </p:nvSpPr>
        <p:spPr bwMode="auto">
          <a:xfrm>
            <a:off x="1890784"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系统设计了简洁直观的用户界面，使用户能够轻松提交报修申请并实时跟踪进度，从而提升用户体验和满意度。</a:t>
            </a:r>
            <a:endParaRPr lang="en-US" sz="1450"/>
          </a:p>
        </p:txBody>
      </p:sp>
      <p:sp>
        <p:nvSpPr>
          <p:cNvPr id="9" name="Text 6"/>
          <p:cNvSpPr/>
          <p:nvPr/>
        </p:nvSpPr>
        <p:spPr bwMode="auto">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智能化任务分配</a:t>
            </a:r>
            <a:endParaRPr lang="en-US" sz="1450"/>
          </a:p>
        </p:txBody>
      </p:sp>
      <p:pic>
        <p:nvPicPr>
          <p:cNvPr id="10" name="Image 1" descr="https://sgw-dx.xf-yun.com/api/v1/sparkdesk/_174002322396965282512c8a54078b0e5c995635439e5.jpg?authorization=c2ltcGxlLWp3dCBhaz1zcGFya2Rlc2s4MDAwMDAwMDAwMDE7ZXhwPTMzMTY4MjMyMjM7YWxnbz1obWFjLXNoYTI1NjtzaWc9VGkxbVEyRkhUOUhmdGZvNmN2UEF1YUdiWGRzV2pyNUJBazk3NWZNMEtzST0=&amp;x_location=7YfmxI7B7uKO7jlRxIftd60uePD="/>
          <p:cNvPicPr>
            <a:picLocks noChangeAspect="1"/>
          </p:cNvPicPr>
          <p:nvPr/>
        </p:nvPicPr>
        <p:blipFill>
          <a:blip r:embed="rId3"/>
          <a:srcRect l="21910" r="21909"/>
          <a:stretch>
            <a:fillRect/>
          </a:stretch>
        </p:blipFill>
        <p:spPr bwMode="auto">
          <a:xfrm>
            <a:off x="4656795" y="1041561"/>
            <a:ext cx="1392512" cy="1392512"/>
          </a:xfrm>
          <a:prstGeom prst="ellipse">
            <a:avLst/>
          </a:prstGeom>
        </p:spPr>
      </p:pic>
      <p:sp>
        <p:nvSpPr>
          <p:cNvPr id="11" name="Text 7"/>
          <p:cNvSpPr/>
          <p:nvPr/>
        </p:nvSpPr>
        <p:spPr bwMode="auto">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通过考虑维修人员的专长、工作量和地理位置，系统能自动或手动高效分配任务，确保快速响应和问题解决。</a:t>
            </a:r>
            <a:endParaRPr lang="en-US" sz="1450"/>
          </a:p>
        </p:txBody>
      </p:sp>
      <p:sp>
        <p:nvSpPr>
          <p:cNvPr id="12" name="Text 8"/>
          <p:cNvSpPr/>
          <p:nvPr/>
        </p:nvSpPr>
        <p:spPr bwMode="auto">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反馈与评价机制</a:t>
            </a:r>
            <a:endParaRPr lang="en-US" sz="1450"/>
          </a:p>
        </p:txBody>
      </p:sp>
      <p:pic>
        <p:nvPicPr>
          <p:cNvPr id="13" name="Image 2" descr="https://sgw-dx.xf-yun.com/api/v1/sparkdesk/_17400232272422c19c6305b814976943f73518ec7ede8.jpg?authorization=c2ltcGxlLWp3dCBhaz1zcGFya2Rlc2s4MDAwMDAwMDAwMDE7ZXhwPTMzMTY4MjMyMjc7YWxnbz1obWFjLXNoYTI1NjtzaWc9UHlkRzFvM3NQNUhrRy9FVGpuZzZDVDFkODh1dW11NXNMUU1JWFg3UzdSQT0=&amp;x_location=7YfmxI7B7uKO7jlRxIftd60uePD="/>
          <p:cNvPicPr>
            <a:picLocks noChangeAspect="1"/>
          </p:cNvPicPr>
          <p:nvPr/>
        </p:nvPicPr>
        <p:blipFill>
          <a:blip r:embed="rId4"/>
          <a:srcRect l="21910" r="21909"/>
          <a:stretch>
            <a:fillRect/>
          </a:stretch>
        </p:blipFill>
        <p:spPr bwMode="auto">
          <a:xfrm>
            <a:off x="2512271" y="2852974"/>
            <a:ext cx="1392512" cy="1392512"/>
          </a:xfrm>
          <a:prstGeom prst="ellipse">
            <a:avLst/>
          </a:prstGeom>
        </p:spPr>
      </p:pic>
      <p:sp>
        <p:nvSpPr>
          <p:cNvPr id="14" name="Text 9"/>
          <p:cNvSpPr/>
          <p:nvPr/>
        </p:nvSpPr>
        <p:spPr bwMode="auto">
          <a:xfrm>
            <a:off x="3904782" y="3103003"/>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用户可以对完成的维修服务进行评价，这些反馈成为评估维修人员表现的重要依据，推动服务质量持续改进。</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05</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系统测试与完善</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测试目的方法</a:t>
            </a:r>
            <a:endParaRPr lang="en-US" sz="1450"/>
          </a:p>
        </p:txBody>
      </p:sp>
      <p:pic>
        <p:nvPicPr>
          <p:cNvPr id="3" name="Image 0" descr="https://sgw-dx.xf-yun.com/api/v1/sparkdesk/_1740023219054e0f57083ebd34b01b70a27c25b19fa62.jpg?authorization=c2ltcGxlLWp3dCBhaz1zcGFya2Rlc2s4MDAwMDAwMDAwMDE7ZXhwPTMzMTY4MjMyMTk7YWxnbz1obWFjLXNoYTI1NjtzaWc9Q1o2N3QxcEZIMkFaSlYwQnNtMWxCNDFRa2hiR2FYUmQ0YlR6Q1M4bXRrWT0=&amp;x_location=7YfmxI7B7uKO7jlRxIftd60uePD="/>
          <p:cNvPicPr>
            <a:picLocks noChangeAspect="1"/>
          </p:cNvPicPr>
          <p:nvPr/>
        </p:nvPicPr>
        <p:blipFill>
          <a:blip r:embed="rId2"/>
          <a:srcRect/>
          <a:stretch>
            <a:fillRect/>
          </a:stretch>
        </p:blipFill>
        <p:spPr bwMode="auto">
          <a:xfrm>
            <a:off x="505361" y="2646298"/>
            <a:ext cx="2516140" cy="1415329"/>
          </a:xfrm>
          <a:prstGeom prst="rect">
            <a:avLst/>
          </a:prstGeom>
        </p:spPr>
      </p:pic>
      <p:sp>
        <p:nvSpPr>
          <p:cNvPr id="4" name="Text 1"/>
          <p:cNvSpPr/>
          <p:nvPr/>
        </p:nvSpPr>
        <p:spPr bwMode="auto">
          <a:xfrm>
            <a:off x="45593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验证报修流程信息化管理</a:t>
            </a:r>
            <a:endParaRPr lang="en-US" sz="1450"/>
          </a:p>
        </p:txBody>
      </p:sp>
      <p:sp>
        <p:nvSpPr>
          <p:cNvPr id="5" name="Text 2"/>
          <p:cNvSpPr/>
          <p:nvPr/>
        </p:nvSpPr>
        <p:spPr bwMode="auto">
          <a:xfrm>
            <a:off x="324788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对系统进行全面的安全性、先进性和可扩展性测试，以确保系统不仅满足当前高校的管理需求，还能适应未来的发展变化。</a:t>
            </a:r>
            <a:endParaRPr lang="en-US" sz="1450"/>
          </a:p>
        </p:txBody>
      </p:sp>
      <p:pic>
        <p:nvPicPr>
          <p:cNvPr id="6" name="Image 1" descr="https://sgw-dx.xf-yun.com/api/v1/sparkdesk/_1740023221749c3f280d6ed914ba990bddc9348e751e7.jpg?authorization=c2ltcGxlLWp3dCBhaz1zcGFya2Rlc2s4MDAwMDAwMDAwMDE7ZXhwPTMzMTY4MjMyMjE7YWxnbz1obWFjLXNoYTI1NjtzaWc9cGZZZUhVU25GOUtyRHBxUmVvNlZiVTRacmVIbVh3Sm0xVTBxQUk0ZDRRMD0=&amp;x_location=7YfmxI7B7uKO7jlRxIftd60uePD="/>
          <p:cNvPicPr>
            <a:picLocks noChangeAspect="1"/>
          </p:cNvPicPr>
          <p:nvPr/>
        </p:nvPicPr>
        <p:blipFill>
          <a:blip r:embed="rId3"/>
          <a:srcRect l="154" r="153"/>
          <a:stretch>
            <a:fillRect/>
          </a:stretch>
        </p:blipFill>
        <p:spPr bwMode="auto">
          <a:xfrm>
            <a:off x="3297311" y="2646298"/>
            <a:ext cx="2516140" cy="1415329"/>
          </a:xfrm>
          <a:prstGeom prst="rect">
            <a:avLst/>
          </a:prstGeom>
        </p:spPr>
      </p:pic>
      <p:sp>
        <p:nvSpPr>
          <p:cNvPr id="7" name="Text 3"/>
          <p:cNvSpPr/>
          <p:nvPr/>
        </p:nvSpPr>
        <p:spPr bwMode="auto">
          <a:xfrm>
            <a:off x="324788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检查系统安全性与可扩展性</a:t>
            </a:r>
            <a:endParaRPr lang="en-US" sz="1450"/>
          </a:p>
        </p:txBody>
      </p:sp>
      <p:sp>
        <p:nvSpPr>
          <p:cNvPr id="8" name="Text 4"/>
          <p:cNvSpPr/>
          <p:nvPr/>
        </p:nvSpPr>
        <p:spPr bwMode="auto">
          <a:xfrm>
            <a:off x="6031158" y="1290078"/>
            <a:ext cx="265690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通过细致的测试过程，识别系统中可能存在的任何潜在问题，及时进行优化调整，以提高系统的性能和稳定性。</a:t>
            </a:r>
            <a:endParaRPr lang="en-US" sz="1450"/>
          </a:p>
        </p:txBody>
      </p:sp>
      <p:pic>
        <p:nvPicPr>
          <p:cNvPr id="9" name="Image 2" descr="https://sgw-dx.xf-yun.com/api/v1/sparkdesk/_1740023224739776f003689fa4f40b702e834852f1bcd.jpg?authorization=c2ltcGxlLWp3dCBhaz1zcGFya2Rlc2s4MDAwMDAwMDAwMDE7ZXhwPTMzMTY4MjMyMjQ7YWxnbz1obWFjLXNoYTI1NjtzaWc9cGxkS3p4dU9EYVdMMlJnTlMwOXdqWGFsZDlwcWFuS0JPZFhxZXh2RG0wND0=&amp;x_location=7YfmxI7B7uKO7jlRxIftd60uePD="/>
          <p:cNvPicPr>
            <a:picLocks noChangeAspect="1"/>
          </p:cNvPicPr>
          <p:nvPr/>
        </p:nvPicPr>
        <p:blipFill>
          <a:blip r:embed="rId4"/>
          <a:srcRect l="154" r="153"/>
          <a:stretch>
            <a:fillRect/>
          </a:stretch>
        </p:blipFill>
        <p:spPr bwMode="auto">
          <a:xfrm>
            <a:off x="6101539" y="2646298"/>
            <a:ext cx="2516140" cy="1415329"/>
          </a:xfrm>
          <a:prstGeom prst="rect">
            <a:avLst/>
          </a:prstGeom>
        </p:spPr>
      </p:pic>
      <p:sp>
        <p:nvSpPr>
          <p:cNvPr id="10" name="Text 5"/>
          <p:cNvSpPr/>
          <p:nvPr/>
        </p:nvSpPr>
        <p:spPr bwMode="auto">
          <a:xfrm>
            <a:off x="6031158" y="826507"/>
            <a:ext cx="2656902"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发现并解决潜在问题</a:t>
            </a:r>
            <a:endParaRPr lang="en-US" sz="1450"/>
          </a:p>
        </p:txBody>
      </p:sp>
      <p:sp>
        <p:nvSpPr>
          <p:cNvPr id="11" name="Text 6"/>
          <p:cNvSpPr/>
          <p:nvPr/>
        </p:nvSpPr>
        <p:spPr bwMode="auto">
          <a:xfrm>
            <a:off x="45593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通过测试，确保系统能有效实现报修流程的信息化管理，从而提升后勤部门的工作效率，简化报修操作，加快处理速度。</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功能模块检验</a:t>
            </a:r>
            <a:endParaRPr lang="en-US" sz="1450"/>
          </a:p>
        </p:txBody>
      </p:sp>
      <p:sp>
        <p:nvSpPr>
          <p:cNvPr id="3" name="Shape 1"/>
          <p:cNvSpPr/>
          <p:nvPr/>
        </p:nvSpPr>
        <p:spPr bwMode="auto">
          <a:xfrm rot="-365999">
            <a:off x="639861" y="1356868"/>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0084FF">
              <a:alpha val="0"/>
            </a:srgbClr>
          </a:solidFill>
          <a:ln w="19050">
            <a:solidFill>
              <a:srgbClr val="002DB0"/>
            </a:solidFill>
            <a:prstDash val="solid"/>
          </a:ln>
        </p:spPr>
      </p:sp>
      <p:sp>
        <p:nvSpPr>
          <p:cNvPr id="4" name="Shape 2"/>
          <p:cNvSpPr/>
          <p:nvPr/>
        </p:nvSpPr>
        <p:spPr bwMode="auto">
          <a:xfrm>
            <a:off x="679498" y="1343207"/>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A2E5B9">
              <a:alpha val="0"/>
            </a:srgbClr>
          </a:solidFill>
          <a:ln w="19050">
            <a:solidFill>
              <a:srgbClr val="002DB0"/>
            </a:solidFill>
            <a:prstDash val="solid"/>
          </a:ln>
        </p:spPr>
      </p:sp>
      <p:sp>
        <p:nvSpPr>
          <p:cNvPr id="5" name="Shape 3"/>
          <p:cNvSpPr/>
          <p:nvPr/>
        </p:nvSpPr>
        <p:spPr bwMode="auto">
          <a:xfrm>
            <a:off x="916789" y="1153595"/>
            <a:ext cx="512064" cy="512064"/>
          </a:xfrm>
          <a:custGeom>
            <a:avLst/>
            <a:gdLst/>
            <a:ahLst/>
            <a:cxnLst/>
            <a:rect l="l" t="t" r="r" b="b"/>
            <a:pathLst>
              <a:path w="512064" h="512064" extrusionOk="0">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p:spPr>
      </p:sp>
      <p:sp>
        <p:nvSpPr>
          <p:cNvPr id="6" name="Text 4"/>
          <p:cNvSpPr/>
          <p:nvPr/>
        </p:nvSpPr>
        <p:spPr bwMode="auto">
          <a:xfrm>
            <a:off x="756803" y="1121591"/>
            <a:ext cx="813748"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7" name="Shape 5"/>
          <p:cNvSpPr/>
          <p:nvPr/>
        </p:nvSpPr>
        <p:spPr bwMode="auto">
          <a:xfrm rot="-365999">
            <a:off x="3346704" y="1356868"/>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5196FF">
              <a:alpha val="0"/>
            </a:srgbClr>
          </a:solidFill>
          <a:ln w="19050">
            <a:solidFill>
              <a:srgbClr val="002DB0"/>
            </a:solidFill>
            <a:prstDash val="solid"/>
          </a:ln>
        </p:spPr>
      </p:sp>
      <p:sp>
        <p:nvSpPr>
          <p:cNvPr id="8" name="Shape 6"/>
          <p:cNvSpPr/>
          <p:nvPr/>
        </p:nvSpPr>
        <p:spPr bwMode="auto">
          <a:xfrm>
            <a:off x="3386341" y="1343207"/>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A2E5B9">
              <a:alpha val="0"/>
            </a:srgbClr>
          </a:solidFill>
          <a:ln w="19050">
            <a:solidFill>
              <a:srgbClr val="002DB0"/>
            </a:solidFill>
            <a:prstDash val="solid"/>
          </a:ln>
        </p:spPr>
      </p:sp>
      <p:sp>
        <p:nvSpPr>
          <p:cNvPr id="9" name="Shape 7"/>
          <p:cNvSpPr/>
          <p:nvPr/>
        </p:nvSpPr>
        <p:spPr bwMode="auto">
          <a:xfrm>
            <a:off x="3623632" y="1153595"/>
            <a:ext cx="512064" cy="512064"/>
          </a:xfrm>
          <a:custGeom>
            <a:avLst/>
            <a:gdLst/>
            <a:ahLst/>
            <a:cxnLst/>
            <a:rect l="l" t="t" r="r" b="b"/>
            <a:pathLst>
              <a:path w="512064" h="512064" extrusionOk="0">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p:spPr>
      </p:sp>
      <p:sp>
        <p:nvSpPr>
          <p:cNvPr id="10" name="Text 8"/>
          <p:cNvSpPr/>
          <p:nvPr/>
        </p:nvSpPr>
        <p:spPr bwMode="auto">
          <a:xfrm>
            <a:off x="3472790" y="1126163"/>
            <a:ext cx="813748"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1" name="Shape 9"/>
          <p:cNvSpPr/>
          <p:nvPr/>
        </p:nvSpPr>
        <p:spPr bwMode="auto">
          <a:xfrm rot="-365999">
            <a:off x="6053547" y="1356868"/>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0084FF">
              <a:alpha val="0"/>
            </a:srgbClr>
          </a:solidFill>
          <a:ln w="19050">
            <a:solidFill>
              <a:srgbClr val="002DB0"/>
            </a:solidFill>
            <a:prstDash val="solid"/>
          </a:ln>
        </p:spPr>
      </p:sp>
      <p:sp>
        <p:nvSpPr>
          <p:cNvPr id="12" name="Shape 10"/>
          <p:cNvSpPr/>
          <p:nvPr/>
        </p:nvSpPr>
        <p:spPr bwMode="auto">
          <a:xfrm>
            <a:off x="6093184" y="1343207"/>
            <a:ext cx="2450592" cy="2542032"/>
          </a:xfrm>
          <a:custGeom>
            <a:avLst/>
            <a:gdLst/>
            <a:ahLst/>
            <a:cxnLst/>
            <a:rect l="l" t="t" r="r" b="b"/>
            <a:pathLst>
              <a:path w="2450592" h="2542032" extrusionOk="0">
                <a:moveTo>
                  <a:pt x="216394" y="0"/>
                </a:moveTo>
                <a:moveTo>
                  <a:pt x="216394" y="0"/>
                </a:moveTo>
                <a:lnTo>
                  <a:pt x="2234198" y="0"/>
                </a:lnTo>
                <a:quadBezTo>
                  <a:pt x="2450592" y="0"/>
                  <a:pt x="2450592" y="216394"/>
                </a:quadBezTo>
                <a:lnTo>
                  <a:pt x="2450592" y="2325638"/>
                </a:lnTo>
                <a:quadBezTo>
                  <a:pt x="2450592" y="2542032"/>
                  <a:pt x="2234198" y="2542032"/>
                </a:quadBezTo>
                <a:lnTo>
                  <a:pt x="216394" y="2542032"/>
                </a:lnTo>
                <a:quadBezTo>
                  <a:pt x="0" y="2542032"/>
                  <a:pt x="0" y="2325638"/>
                </a:quadBezTo>
                <a:lnTo>
                  <a:pt x="0" y="216394"/>
                </a:lnTo>
                <a:quadBezTo>
                  <a:pt x="0" y="0"/>
                  <a:pt x="216394" y="0"/>
                </a:quadBezTo>
                <a:close/>
              </a:path>
            </a:pathLst>
          </a:custGeom>
          <a:solidFill>
            <a:srgbClr val="A2E5B9">
              <a:alpha val="0"/>
            </a:srgbClr>
          </a:solidFill>
          <a:ln w="19050">
            <a:solidFill>
              <a:srgbClr val="002DB0"/>
            </a:solidFill>
            <a:prstDash val="solid"/>
          </a:ln>
        </p:spPr>
      </p:sp>
      <p:sp>
        <p:nvSpPr>
          <p:cNvPr id="13" name="Shape 11"/>
          <p:cNvSpPr/>
          <p:nvPr/>
        </p:nvSpPr>
        <p:spPr bwMode="auto">
          <a:xfrm>
            <a:off x="6330475" y="1153595"/>
            <a:ext cx="512064" cy="512064"/>
          </a:xfrm>
          <a:custGeom>
            <a:avLst/>
            <a:gdLst/>
            <a:ahLst/>
            <a:cxnLst/>
            <a:rect l="l" t="t" r="r" b="b"/>
            <a:pathLst>
              <a:path w="512064" h="512064" extrusionOk="0">
                <a:moveTo>
                  <a:pt x="256032" y="0"/>
                </a:moveTo>
                <a:moveTo>
                  <a:pt x="256032" y="0"/>
                </a:moveTo>
                <a:cubicBezTo>
                  <a:pt x="397340" y="0"/>
                  <a:pt x="512064" y="114724"/>
                  <a:pt x="512064" y="256032"/>
                </a:cubicBezTo>
                <a:cubicBezTo>
                  <a:pt x="512064" y="397340"/>
                  <a:pt x="397340" y="512064"/>
                  <a:pt x="256032" y="512064"/>
                </a:cubicBezTo>
                <a:cubicBezTo>
                  <a:pt x="114724" y="512064"/>
                  <a:pt x="0" y="397340"/>
                  <a:pt x="0" y="256032"/>
                </a:cubicBezTo>
                <a:cubicBezTo>
                  <a:pt x="0" y="114724"/>
                  <a:pt x="114724" y="0"/>
                  <a:pt x="256032" y="0"/>
                </a:cubicBezTo>
                <a:close/>
              </a:path>
            </a:pathLst>
          </a:custGeom>
          <a:solidFill>
            <a:srgbClr val="0084FF"/>
          </a:solidFill>
        </p:spPr>
      </p:sp>
      <p:sp>
        <p:nvSpPr>
          <p:cNvPr id="14" name="Text 12"/>
          <p:cNvSpPr/>
          <p:nvPr/>
        </p:nvSpPr>
        <p:spPr bwMode="auto">
          <a:xfrm>
            <a:off x="6170489" y="1121591"/>
            <a:ext cx="813748"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15" name="Text 13"/>
          <p:cNvSpPr/>
          <p:nvPr/>
        </p:nvSpPr>
        <p:spPr bwMode="auto">
          <a:xfrm>
            <a:off x="679498" y="1667126"/>
            <a:ext cx="2449397" cy="448056"/>
          </a:xfrm>
          <a:prstGeom prst="rect">
            <a:avLst/>
          </a:prstGeom>
          <a:noFill/>
        </p:spPr>
        <p:txBody>
          <a:bodyPr wrap="square" lIns="95250" tIns="95250" rIns="95250" bIns="95250" rtlCol="0" anchor="t">
            <a:spAutoFit/>
          </a:bodyPr>
          <a:lstStyle/>
          <a:p>
            <a:pPr marL="0" indent="0" algn="ctr">
              <a:lnSpc>
                <a:spcPct val="100000"/>
              </a:lnSpc>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用户注册与登录模块</a:t>
            </a:r>
            <a:endParaRPr lang="en-US" sz="1450"/>
          </a:p>
        </p:txBody>
      </p:sp>
      <p:sp>
        <p:nvSpPr>
          <p:cNvPr id="16" name="Text 14"/>
          <p:cNvSpPr/>
          <p:nvPr/>
        </p:nvSpPr>
        <p:spPr bwMode="auto">
          <a:xfrm>
            <a:off x="807514" y="1988925"/>
            <a:ext cx="2194560" cy="14996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用户注册与登录模块是系统的第一道入口界面，通过验证输入信息的完整性和正确性，确保用户身份的合法性，为后续操作提供安全基础。</a:t>
            </a:r>
            <a:endParaRPr lang="en-US" sz="1450"/>
          </a:p>
        </p:txBody>
      </p:sp>
      <p:sp>
        <p:nvSpPr>
          <p:cNvPr id="17" name="Text 15"/>
          <p:cNvSpPr/>
          <p:nvPr/>
        </p:nvSpPr>
        <p:spPr bwMode="auto">
          <a:xfrm>
            <a:off x="3386341" y="1667126"/>
            <a:ext cx="2449397" cy="448056"/>
          </a:xfrm>
          <a:prstGeom prst="rect">
            <a:avLst/>
          </a:prstGeom>
          <a:noFill/>
        </p:spPr>
        <p:txBody>
          <a:bodyPr wrap="square" lIns="95250" tIns="95250" rIns="95250" bIns="95250" rtlCol="0" anchor="t">
            <a:spAutoFit/>
          </a:bodyPr>
          <a:lstStyle/>
          <a:p>
            <a:pPr marL="0" indent="0" algn="ctr">
              <a:lnSpc>
                <a:spcPct val="100000"/>
              </a:lnSpc>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个人信息修改模块</a:t>
            </a:r>
            <a:endParaRPr lang="en-US" sz="1450"/>
          </a:p>
        </p:txBody>
      </p:sp>
      <p:sp>
        <p:nvSpPr>
          <p:cNvPr id="18" name="Text 16"/>
          <p:cNvSpPr/>
          <p:nvPr/>
        </p:nvSpPr>
        <p:spPr bwMode="auto">
          <a:xfrm>
            <a:off x="3514357" y="1988925"/>
            <a:ext cx="2194560" cy="14996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个人信息修改模块允许用户更新其个人资料，如电话号码、密码等，系统需对新信息进行格式验证，保证数据的准确性和安全性。</a:t>
            </a:r>
            <a:endParaRPr lang="en-US" sz="1450"/>
          </a:p>
        </p:txBody>
      </p:sp>
      <p:sp>
        <p:nvSpPr>
          <p:cNvPr id="19" name="Text 17"/>
          <p:cNvSpPr/>
          <p:nvPr/>
        </p:nvSpPr>
        <p:spPr bwMode="auto">
          <a:xfrm>
            <a:off x="6093184" y="1667126"/>
            <a:ext cx="2449397" cy="448056"/>
          </a:xfrm>
          <a:prstGeom prst="rect">
            <a:avLst/>
          </a:prstGeom>
          <a:noFill/>
        </p:spPr>
        <p:txBody>
          <a:bodyPr wrap="square" lIns="95250" tIns="95250" rIns="95250" bIns="95250" rtlCol="0" anchor="t">
            <a:spAutoFit/>
          </a:bodyPr>
          <a:lstStyle/>
          <a:p>
            <a:pPr marL="0" indent="0" algn="ctr">
              <a:lnSpc>
                <a:spcPct val="100000"/>
              </a:lnSpc>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报修申请与审批流程</a:t>
            </a:r>
            <a:endParaRPr lang="en-US" sz="1450"/>
          </a:p>
        </p:txBody>
      </p:sp>
      <p:sp>
        <p:nvSpPr>
          <p:cNvPr id="20" name="Text 18"/>
          <p:cNvSpPr/>
          <p:nvPr/>
        </p:nvSpPr>
        <p:spPr bwMode="auto">
          <a:xfrm>
            <a:off x="6221200" y="1988925"/>
            <a:ext cx="2194560" cy="14996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报修申请与审批流程是高校后勤报修系统的核心功能之一，涉及用户提交申请、管理员审批以及维修结果反馈，确保报修过程高效有序。</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系统质量保障</a:t>
            </a:r>
            <a:endParaRPr lang="en-US" sz="1450"/>
          </a:p>
        </p:txBody>
      </p:sp>
      <p:sp>
        <p:nvSpPr>
          <p:cNvPr id="3" name="Shape 1"/>
          <p:cNvSpPr/>
          <p:nvPr/>
        </p:nvSpPr>
        <p:spPr bwMode="auto">
          <a:xfrm>
            <a:off x="447956" y="1929366"/>
            <a:ext cx="8248087" cy="2346713"/>
          </a:xfrm>
          <a:custGeom>
            <a:avLst/>
            <a:gdLst/>
            <a:ahLst/>
            <a:cxnLst/>
            <a:rect l="l" t="t" r="r" b="b"/>
            <a:pathLst>
              <a:path w="8248087" h="2346713" extrusionOk="0">
                <a:moveTo>
                  <a:pt x="293339" y="0"/>
                </a:moveTo>
                <a:moveTo>
                  <a:pt x="293339" y="0"/>
                </a:moveTo>
                <a:lnTo>
                  <a:pt x="7954748" y="0"/>
                </a:lnTo>
                <a:quadBezTo>
                  <a:pt x="8248087" y="0"/>
                  <a:pt x="8248087" y="293339"/>
                </a:quadBezTo>
                <a:lnTo>
                  <a:pt x="8248087" y="2053374"/>
                </a:lnTo>
                <a:quadBezTo>
                  <a:pt x="8248087" y="2346713"/>
                  <a:pt x="7954748" y="2346713"/>
                </a:quadBezTo>
                <a:lnTo>
                  <a:pt x="293339" y="2346713"/>
                </a:lnTo>
                <a:quadBezTo>
                  <a:pt x="0" y="2346713"/>
                  <a:pt x="0" y="2053374"/>
                </a:quadBezTo>
                <a:lnTo>
                  <a:pt x="0" y="293339"/>
                </a:lnTo>
                <a:quadBezTo>
                  <a:pt x="0" y="0"/>
                  <a:pt x="293339" y="0"/>
                </a:quadBezTo>
                <a:close/>
              </a:path>
            </a:pathLst>
          </a:custGeom>
          <a:solidFill>
            <a:srgbClr val="0084FF">
              <a:alpha val="10000"/>
            </a:srgbClr>
          </a:solidFill>
          <a:ln w="19050">
            <a:solidFill>
              <a:srgbClr val="002DB0"/>
            </a:solidFill>
            <a:prstDash val="solid"/>
          </a:ln>
        </p:spPr>
      </p:sp>
      <p:pic>
        <p:nvPicPr>
          <p:cNvPr id="4" name="Image 0" descr="preencoded.png"/>
          <p:cNvPicPr>
            <a:picLocks noChangeAspect="1"/>
          </p:cNvPicPr>
          <p:nvPr/>
        </p:nvPicPr>
        <p:blipFill>
          <a:blip r:embed="rId2"/>
          <a:stretch>
            <a:fillRect/>
          </a:stretch>
        </p:blipFill>
        <p:spPr bwMode="auto">
          <a:xfrm>
            <a:off x="2041139" y="867420"/>
            <a:ext cx="914400" cy="914400"/>
          </a:xfrm>
          <a:prstGeom prst="rect">
            <a:avLst/>
          </a:prstGeom>
        </p:spPr>
      </p:pic>
      <p:pic>
        <p:nvPicPr>
          <p:cNvPr id="5" name="Image 1" descr="preencoded.png"/>
          <p:cNvPicPr>
            <a:picLocks noChangeAspect="1"/>
          </p:cNvPicPr>
          <p:nvPr/>
        </p:nvPicPr>
        <p:blipFill>
          <a:blip r:embed="rId2"/>
          <a:stretch>
            <a:fillRect/>
          </a:stretch>
        </p:blipFill>
        <p:spPr bwMode="auto">
          <a:xfrm flipH="1">
            <a:off x="1126739" y="867420"/>
            <a:ext cx="914400" cy="914400"/>
          </a:xfrm>
          <a:prstGeom prst="rect">
            <a:avLst/>
          </a:prstGeom>
        </p:spPr>
      </p:pic>
      <p:sp>
        <p:nvSpPr>
          <p:cNvPr id="6" name="Text 2"/>
          <p:cNvSpPr/>
          <p:nvPr/>
        </p:nvSpPr>
        <p:spPr bwMode="auto">
          <a:xfrm>
            <a:off x="1636445" y="995436"/>
            <a:ext cx="784215" cy="58521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3150" b="1">
                <a:solidFill>
                  <a:srgbClr val="002DB0"/>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7" name="Shape 3"/>
          <p:cNvSpPr/>
          <p:nvPr/>
        </p:nvSpPr>
        <p:spPr bwMode="auto">
          <a:xfrm>
            <a:off x="1745836"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alpha val="80000"/>
            </a:srgbClr>
          </a:solidFill>
        </p:spPr>
      </p:sp>
      <p:sp>
        <p:nvSpPr>
          <p:cNvPr id="8" name="Shape 4"/>
          <p:cNvSpPr/>
          <p:nvPr/>
        </p:nvSpPr>
        <p:spPr bwMode="auto">
          <a:xfrm>
            <a:off x="1949699"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solidFill>
        </p:spPr>
      </p:sp>
      <p:sp>
        <p:nvSpPr>
          <p:cNvPr id="9" name="Shape 5"/>
          <p:cNvSpPr/>
          <p:nvPr/>
        </p:nvSpPr>
        <p:spPr bwMode="auto">
          <a:xfrm>
            <a:off x="2153562"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alpha val="80000"/>
            </a:srgbClr>
          </a:solidFill>
        </p:spPr>
      </p:sp>
      <p:sp>
        <p:nvSpPr>
          <p:cNvPr id="10" name="Text 6"/>
          <p:cNvSpPr/>
          <p:nvPr/>
        </p:nvSpPr>
        <p:spPr bwMode="auto">
          <a:xfrm>
            <a:off x="825904" y="2045733"/>
            <a:ext cx="2430470" cy="40233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技术选择的优越性</a:t>
            </a:r>
            <a:endParaRPr lang="en-US" sz="1450"/>
          </a:p>
        </p:txBody>
      </p:sp>
      <p:sp>
        <p:nvSpPr>
          <p:cNvPr id="11" name="Text 7"/>
          <p:cNvSpPr/>
          <p:nvPr/>
        </p:nvSpPr>
        <p:spPr bwMode="auto">
          <a:xfrm>
            <a:off x="825904" y="2448069"/>
            <a:ext cx="2430470"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通过采用Python语言、Django框架和MySQL数据库，系统确保了高效性和稳定性。这些成熟的技术提供了强大的支持和良好的性能，为系统的稳定运行奠定了坚实的基础。</a:t>
            </a:r>
            <a:endParaRPr lang="en-US" sz="1450"/>
          </a:p>
        </p:txBody>
      </p:sp>
      <p:pic>
        <p:nvPicPr>
          <p:cNvPr id="12" name="Image 2" descr="preencoded.png"/>
          <p:cNvPicPr>
            <a:picLocks noChangeAspect="1"/>
          </p:cNvPicPr>
          <p:nvPr/>
        </p:nvPicPr>
        <p:blipFill>
          <a:blip r:embed="rId2"/>
          <a:stretch>
            <a:fillRect/>
          </a:stretch>
        </p:blipFill>
        <p:spPr bwMode="auto">
          <a:xfrm>
            <a:off x="4572000" y="867420"/>
            <a:ext cx="914400" cy="914400"/>
          </a:xfrm>
          <a:prstGeom prst="rect">
            <a:avLst/>
          </a:prstGeom>
        </p:spPr>
      </p:pic>
      <p:pic>
        <p:nvPicPr>
          <p:cNvPr id="13" name="Image 3" descr="preencoded.png"/>
          <p:cNvPicPr>
            <a:picLocks noChangeAspect="1"/>
          </p:cNvPicPr>
          <p:nvPr/>
        </p:nvPicPr>
        <p:blipFill>
          <a:blip r:embed="rId2"/>
          <a:stretch>
            <a:fillRect/>
          </a:stretch>
        </p:blipFill>
        <p:spPr bwMode="auto">
          <a:xfrm flipH="1">
            <a:off x="3657600" y="867420"/>
            <a:ext cx="914400" cy="914400"/>
          </a:xfrm>
          <a:prstGeom prst="rect">
            <a:avLst/>
          </a:prstGeom>
        </p:spPr>
      </p:pic>
      <p:sp>
        <p:nvSpPr>
          <p:cNvPr id="14" name="Text 8"/>
          <p:cNvSpPr/>
          <p:nvPr/>
        </p:nvSpPr>
        <p:spPr bwMode="auto">
          <a:xfrm>
            <a:off x="4152608" y="995436"/>
            <a:ext cx="849850" cy="58521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3150" b="1">
                <a:solidFill>
                  <a:srgbClr val="002DB0"/>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5" name="Text 9"/>
          <p:cNvSpPr/>
          <p:nvPr/>
        </p:nvSpPr>
        <p:spPr bwMode="auto">
          <a:xfrm>
            <a:off x="3356765" y="2045733"/>
            <a:ext cx="2430470" cy="40233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功能设计的全面性</a:t>
            </a:r>
            <a:endParaRPr lang="en-US" sz="1450"/>
          </a:p>
        </p:txBody>
      </p:sp>
      <p:sp>
        <p:nvSpPr>
          <p:cNvPr id="16" name="Text 10"/>
          <p:cNvSpPr/>
          <p:nvPr/>
        </p:nvSpPr>
        <p:spPr bwMode="auto">
          <a:xfrm>
            <a:off x="3356765" y="2448069"/>
            <a:ext cx="2430470"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系统涵盖了用户管理、报修类型管理等多个模块，每个模块都有明确的职责和流程。这种全面的功能性设计确保了系统的易用性和实用性，满足了用户的多样化需求。</a:t>
            </a:r>
            <a:endParaRPr lang="en-US" sz="1450"/>
          </a:p>
        </p:txBody>
      </p:sp>
      <p:pic>
        <p:nvPicPr>
          <p:cNvPr id="17" name="Image 4" descr="preencoded.png"/>
          <p:cNvPicPr>
            <a:picLocks noChangeAspect="1"/>
          </p:cNvPicPr>
          <p:nvPr/>
        </p:nvPicPr>
        <p:blipFill>
          <a:blip r:embed="rId2"/>
          <a:stretch>
            <a:fillRect/>
          </a:stretch>
        </p:blipFill>
        <p:spPr bwMode="auto">
          <a:xfrm>
            <a:off x="7102861" y="867420"/>
            <a:ext cx="914400" cy="914400"/>
          </a:xfrm>
          <a:prstGeom prst="rect">
            <a:avLst/>
          </a:prstGeom>
        </p:spPr>
      </p:pic>
      <p:pic>
        <p:nvPicPr>
          <p:cNvPr id="18" name="Image 5" descr="preencoded.png"/>
          <p:cNvPicPr>
            <a:picLocks noChangeAspect="1"/>
          </p:cNvPicPr>
          <p:nvPr/>
        </p:nvPicPr>
        <p:blipFill>
          <a:blip r:embed="rId2"/>
          <a:stretch>
            <a:fillRect/>
          </a:stretch>
        </p:blipFill>
        <p:spPr bwMode="auto">
          <a:xfrm flipH="1">
            <a:off x="6188461" y="867420"/>
            <a:ext cx="914400" cy="914400"/>
          </a:xfrm>
          <a:prstGeom prst="rect">
            <a:avLst/>
          </a:prstGeom>
        </p:spPr>
      </p:pic>
      <p:sp>
        <p:nvSpPr>
          <p:cNvPr id="19" name="Text 11"/>
          <p:cNvSpPr/>
          <p:nvPr/>
        </p:nvSpPr>
        <p:spPr bwMode="auto">
          <a:xfrm>
            <a:off x="6676289" y="995436"/>
            <a:ext cx="817032" cy="58521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3150" b="1">
                <a:solidFill>
                  <a:srgbClr val="002DB0"/>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20" name="Text 12"/>
          <p:cNvSpPr/>
          <p:nvPr/>
        </p:nvSpPr>
        <p:spPr bwMode="auto">
          <a:xfrm>
            <a:off x="5887626" y="2045733"/>
            <a:ext cx="2430470" cy="40233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安全性与可扩展性的保障</a:t>
            </a:r>
            <a:endParaRPr lang="en-US" sz="1450"/>
          </a:p>
        </p:txBody>
      </p:sp>
      <p:sp>
        <p:nvSpPr>
          <p:cNvPr id="21" name="Text 13"/>
          <p:cNvSpPr/>
          <p:nvPr/>
        </p:nvSpPr>
        <p:spPr bwMode="auto">
          <a:xfrm>
            <a:off x="5887626" y="2448069"/>
            <a:ext cx="2430470"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系统内置了用户认证等安全机制，保护系统免受未授权访问和攻击。同时，Django框架的全能特性使得系统具有良好的可扩展性和维护性，便于未来的升级和改进。</a:t>
            </a:r>
            <a:endParaRPr lang="en-US" sz="1450"/>
          </a:p>
        </p:txBody>
      </p:sp>
      <p:sp>
        <p:nvSpPr>
          <p:cNvPr id="22" name="Shape 14"/>
          <p:cNvSpPr/>
          <p:nvPr/>
        </p:nvSpPr>
        <p:spPr bwMode="auto">
          <a:xfrm>
            <a:off x="4276697"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alpha val="80000"/>
            </a:srgbClr>
          </a:solidFill>
        </p:spPr>
      </p:sp>
      <p:sp>
        <p:nvSpPr>
          <p:cNvPr id="23" name="Shape 15"/>
          <p:cNvSpPr/>
          <p:nvPr/>
        </p:nvSpPr>
        <p:spPr bwMode="auto">
          <a:xfrm>
            <a:off x="4480560"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solidFill>
        </p:spPr>
      </p:sp>
      <p:sp>
        <p:nvSpPr>
          <p:cNvPr id="24" name="Shape 16"/>
          <p:cNvSpPr/>
          <p:nvPr/>
        </p:nvSpPr>
        <p:spPr bwMode="auto">
          <a:xfrm>
            <a:off x="4684423"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alpha val="80000"/>
            </a:srgbClr>
          </a:solidFill>
        </p:spPr>
      </p:sp>
      <p:sp>
        <p:nvSpPr>
          <p:cNvPr id="25" name="Shape 17"/>
          <p:cNvSpPr/>
          <p:nvPr/>
        </p:nvSpPr>
        <p:spPr bwMode="auto">
          <a:xfrm>
            <a:off x="6807558"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alpha val="80000"/>
            </a:srgbClr>
          </a:solidFill>
        </p:spPr>
      </p:sp>
      <p:sp>
        <p:nvSpPr>
          <p:cNvPr id="26" name="Shape 18"/>
          <p:cNvSpPr/>
          <p:nvPr/>
        </p:nvSpPr>
        <p:spPr bwMode="auto">
          <a:xfrm>
            <a:off x="7011421"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solidFill>
        </p:spPr>
      </p:sp>
      <p:sp>
        <p:nvSpPr>
          <p:cNvPr id="27" name="Shape 19"/>
          <p:cNvSpPr/>
          <p:nvPr/>
        </p:nvSpPr>
        <p:spPr bwMode="auto">
          <a:xfrm>
            <a:off x="7215284" y="1746486"/>
            <a:ext cx="182880" cy="182880"/>
          </a:xfrm>
          <a:custGeom>
            <a:avLst/>
            <a:gdLst/>
            <a:ahLst/>
            <a:cxnLst/>
            <a:rect l="l" t="t" r="r" b="b"/>
            <a:pathLst>
              <a:path w="182880" h="182880" extrusionOk="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0084FF">
              <a:alpha val="80000"/>
            </a:srgbClr>
          </a:solidFill>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06</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国内外现状对比</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国内发展进展</a:t>
            </a:r>
            <a:endParaRPr lang="en-US" sz="1450"/>
          </a:p>
        </p:txBody>
      </p:sp>
      <p:sp>
        <p:nvSpPr>
          <p:cNvPr id="3" name="Text 1"/>
          <p:cNvSpPr/>
          <p:nvPr/>
        </p:nvSpPr>
        <p:spPr bwMode="auto">
          <a:xfrm>
            <a:off x="886148" y="1536231"/>
            <a:ext cx="2212848" cy="3840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消费市场繁荣</a:t>
            </a:r>
            <a:endParaRPr lang="en-US" sz="1450"/>
          </a:p>
        </p:txBody>
      </p:sp>
      <p:sp>
        <p:nvSpPr>
          <p:cNvPr id="4" name="Text 2"/>
          <p:cNvSpPr/>
          <p:nvPr/>
        </p:nvSpPr>
        <p:spPr bwMode="auto">
          <a:xfrm>
            <a:off x="886148" y="1920278"/>
            <a:ext cx="2212848" cy="1828800"/>
          </a:xfrm>
          <a:prstGeom prst="rect">
            <a:avLst/>
          </a:prstGeom>
          <a:noFill/>
        </p:spPr>
        <p:txBody>
          <a:bodyPr wrap="square" lIns="95250" tIns="95250" rIns="95250" bIns="95250" rtlCol="0" anchor="t">
            <a:spAutoFit/>
          </a:bodyPr>
          <a:lstStyle/>
          <a:p>
            <a:pPr marL="0" indent="0" algn="just">
              <a:lnSpc>
                <a:spcPct val="113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2025年开年，我国消费市场迎来“开门红”，商品与服务消费供需两旺，新型消费潜力加速释放，形成市场新增长点。</a:t>
            </a:r>
            <a:endParaRPr lang="en-US" sz="1450"/>
          </a:p>
        </p:txBody>
      </p:sp>
      <p:sp>
        <p:nvSpPr>
          <p:cNvPr id="5" name="Shape 3"/>
          <p:cNvSpPr/>
          <p:nvPr/>
        </p:nvSpPr>
        <p:spPr bwMode="auto">
          <a:xfrm>
            <a:off x="886489" y="1045921"/>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6" name="Text 4"/>
          <p:cNvSpPr/>
          <p:nvPr/>
        </p:nvSpPr>
        <p:spPr bwMode="auto">
          <a:xfrm>
            <a:off x="813116" y="1076047"/>
            <a:ext cx="554470"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7" name="Text 5"/>
          <p:cNvSpPr/>
          <p:nvPr/>
        </p:nvSpPr>
        <p:spPr bwMode="auto">
          <a:xfrm>
            <a:off x="3502092" y="1527087"/>
            <a:ext cx="2212848" cy="3840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科技创新突破</a:t>
            </a:r>
            <a:endParaRPr lang="en-US" sz="1450"/>
          </a:p>
        </p:txBody>
      </p:sp>
      <p:sp>
        <p:nvSpPr>
          <p:cNvPr id="8" name="Text 6"/>
          <p:cNvSpPr/>
          <p:nvPr/>
        </p:nvSpPr>
        <p:spPr bwMode="auto">
          <a:xfrm>
            <a:off x="3502092" y="1920278"/>
            <a:ext cx="2212848" cy="1828800"/>
          </a:xfrm>
          <a:prstGeom prst="rect">
            <a:avLst/>
          </a:prstGeom>
          <a:noFill/>
        </p:spPr>
        <p:txBody>
          <a:bodyPr wrap="square" lIns="95250" tIns="95250" rIns="95250" bIns="95250" rtlCol="0" anchor="t">
            <a:spAutoFit/>
          </a:bodyPr>
          <a:lstStyle/>
          <a:p>
            <a:pPr marL="0" indent="0" algn="just">
              <a:lnSpc>
                <a:spcPct val="113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中国在航天航空、人工智能及工业制造等领域取得显著进展，嫦娥五号月球样品研究开启，智能工厂建设推动制造业升级。</a:t>
            </a:r>
            <a:endParaRPr lang="en-US" sz="1450"/>
          </a:p>
        </p:txBody>
      </p:sp>
      <p:sp>
        <p:nvSpPr>
          <p:cNvPr id="9" name="Shape 7"/>
          <p:cNvSpPr/>
          <p:nvPr/>
        </p:nvSpPr>
        <p:spPr bwMode="auto">
          <a:xfrm>
            <a:off x="3502092" y="1045921"/>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0" name="Text 8"/>
          <p:cNvSpPr/>
          <p:nvPr/>
        </p:nvSpPr>
        <p:spPr bwMode="auto">
          <a:xfrm>
            <a:off x="3447228" y="1076047"/>
            <a:ext cx="517553"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1" name="Text 9"/>
          <p:cNvSpPr/>
          <p:nvPr/>
        </p:nvSpPr>
        <p:spPr bwMode="auto">
          <a:xfrm>
            <a:off x="6118036" y="1527087"/>
            <a:ext cx="2212848" cy="3840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民生保障加强</a:t>
            </a:r>
            <a:endParaRPr lang="en-US" sz="1450"/>
          </a:p>
        </p:txBody>
      </p:sp>
      <p:sp>
        <p:nvSpPr>
          <p:cNvPr id="12" name="Text 10"/>
          <p:cNvSpPr/>
          <p:nvPr/>
        </p:nvSpPr>
        <p:spPr bwMode="auto">
          <a:xfrm>
            <a:off x="6118036" y="1920278"/>
            <a:ext cx="2212848" cy="1828800"/>
          </a:xfrm>
          <a:prstGeom prst="rect">
            <a:avLst/>
          </a:prstGeom>
          <a:noFill/>
        </p:spPr>
        <p:txBody>
          <a:bodyPr wrap="square" lIns="95250" tIns="95250" rIns="95250" bIns="95250" rtlCol="0" anchor="t">
            <a:spAutoFit/>
          </a:bodyPr>
          <a:lstStyle/>
          <a:p>
            <a:pPr marL="0" indent="0" algn="just">
              <a:lnSpc>
                <a:spcPct val="113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国务院部署进一步做好困难群众基本生活保障工作，要求各地细化举措，及时落实资金，确保党和政府的温暖送达困难群众身边。</a:t>
            </a:r>
            <a:endParaRPr lang="en-US" sz="1450"/>
          </a:p>
        </p:txBody>
      </p:sp>
      <p:sp>
        <p:nvSpPr>
          <p:cNvPr id="13" name="Shape 11"/>
          <p:cNvSpPr/>
          <p:nvPr/>
        </p:nvSpPr>
        <p:spPr bwMode="auto">
          <a:xfrm>
            <a:off x="6118036" y="1045921"/>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4" name="Text 12"/>
          <p:cNvSpPr/>
          <p:nvPr/>
        </p:nvSpPr>
        <p:spPr bwMode="auto">
          <a:xfrm>
            <a:off x="6090604" y="1076047"/>
            <a:ext cx="479885"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国外智能化成效</a:t>
            </a:r>
            <a:endParaRPr lang="en-US" sz="1450"/>
          </a:p>
        </p:txBody>
      </p:sp>
      <p:pic>
        <p:nvPicPr>
          <p:cNvPr id="3" name="Image 0" descr="preencoded.png"/>
          <p:cNvPicPr>
            <a:picLocks noChangeAspect="1"/>
          </p:cNvPicPr>
          <p:nvPr/>
        </p:nvPicPr>
        <p:blipFill>
          <a:blip r:embed="rId2">
            <a:alphaModFix amt="50000"/>
          </a:blip>
          <a:stretch>
            <a:fillRect/>
          </a:stretch>
        </p:blipFill>
        <p:spPr bwMode="auto">
          <a:xfrm>
            <a:off x="312725" y="982154"/>
            <a:ext cx="4261104" cy="182880"/>
          </a:xfrm>
          <a:prstGeom prst="rect">
            <a:avLst/>
          </a:prstGeom>
        </p:spPr>
      </p:pic>
      <p:sp>
        <p:nvSpPr>
          <p:cNvPr id="4" name="Shape 1"/>
          <p:cNvSpPr/>
          <p:nvPr/>
        </p:nvSpPr>
        <p:spPr bwMode="auto">
          <a:xfrm>
            <a:off x="1682112" y="1165609"/>
            <a:ext cx="0" cy="567089"/>
          </a:xfrm>
          <a:custGeom>
            <a:avLst/>
            <a:gdLst/>
            <a:ahLst/>
            <a:cxnLst/>
            <a:rect l="l" t="t" r="r" b="b"/>
            <a:pathLst>
              <a:path h="567089" extrusionOk="0">
                <a:moveTo>
                  <a:pt x="0" y="0"/>
                </a:moveTo>
                <a:moveTo>
                  <a:pt x="0" y="0"/>
                </a:moveTo>
                <a:lnTo>
                  <a:pt x="0" y="567089"/>
                </a:lnTo>
              </a:path>
            </a:pathLst>
          </a:custGeom>
          <a:noFill/>
          <a:ln w="38100">
            <a:solidFill>
              <a:srgbClr val="002DB0"/>
            </a:solidFill>
            <a:prstDash val="solid"/>
            <a:headEnd type="none"/>
            <a:tailEnd type="none"/>
          </a:ln>
        </p:spPr>
      </p:sp>
      <p:sp>
        <p:nvSpPr>
          <p:cNvPr id="5" name="Shape 2"/>
          <p:cNvSpPr/>
          <p:nvPr/>
        </p:nvSpPr>
        <p:spPr bwMode="auto">
          <a:xfrm>
            <a:off x="303581" y="1930210"/>
            <a:ext cx="2756916" cy="2231136"/>
          </a:xfrm>
          <a:custGeom>
            <a:avLst/>
            <a:gdLst/>
            <a:ahLst/>
            <a:cxnLst/>
            <a:rect l="l" t="t" r="r" b="b"/>
            <a:pathLst>
              <a:path w="2756916" h="2231136" extrusionOk="0">
                <a:moveTo>
                  <a:pt x="278892" y="0"/>
                </a:moveTo>
                <a:moveTo>
                  <a:pt x="278892" y="0"/>
                </a:moveTo>
                <a:lnTo>
                  <a:pt x="2478024" y="0"/>
                </a:lnTo>
                <a:quadBezTo>
                  <a:pt x="2756916" y="0"/>
                  <a:pt x="2756916" y="278892"/>
                </a:quadBezTo>
                <a:lnTo>
                  <a:pt x="2756916" y="1952244"/>
                </a:lnTo>
                <a:quadBezTo>
                  <a:pt x="2756916" y="2231136"/>
                  <a:pt x="2478024" y="2231136"/>
                </a:quadBezTo>
                <a:lnTo>
                  <a:pt x="278892" y="2231136"/>
                </a:lnTo>
                <a:quadBezTo>
                  <a:pt x="0" y="2231136"/>
                  <a:pt x="0" y="1952244"/>
                </a:quadBezTo>
                <a:lnTo>
                  <a:pt x="0" y="278892"/>
                </a:lnTo>
                <a:quadBezTo>
                  <a:pt x="0" y="0"/>
                  <a:pt x="278892" y="0"/>
                </a:quadBezTo>
                <a:close/>
              </a:path>
            </a:pathLst>
          </a:custGeom>
          <a:solidFill>
            <a:srgbClr val="A2E5B9">
              <a:alpha val="0"/>
            </a:srgbClr>
          </a:solidFill>
          <a:ln w="19050">
            <a:solidFill>
              <a:srgbClr val="002DB0"/>
            </a:solidFill>
            <a:prstDash val="solid"/>
          </a:ln>
        </p:spPr>
      </p:sp>
      <p:pic>
        <p:nvPicPr>
          <p:cNvPr id="6" name="Image 1" descr="preencoded.png"/>
          <p:cNvPicPr>
            <a:picLocks noChangeAspect="1"/>
          </p:cNvPicPr>
          <p:nvPr/>
        </p:nvPicPr>
        <p:blipFill>
          <a:blip r:embed="rId3"/>
          <a:stretch>
            <a:fillRect/>
          </a:stretch>
        </p:blipFill>
        <p:spPr bwMode="auto">
          <a:xfrm>
            <a:off x="884165" y="1648574"/>
            <a:ext cx="1595894" cy="395023"/>
          </a:xfrm>
          <a:prstGeom prst="rect">
            <a:avLst/>
          </a:prstGeom>
        </p:spPr>
      </p:pic>
      <p:sp>
        <p:nvSpPr>
          <p:cNvPr id="7" name="Text 3"/>
          <p:cNvSpPr/>
          <p:nvPr/>
        </p:nvSpPr>
        <p:spPr bwMode="auto">
          <a:xfrm>
            <a:off x="1409546" y="1576338"/>
            <a:ext cx="545132" cy="539496"/>
          </a:xfrm>
          <a:prstGeom prst="rect">
            <a:avLst/>
          </a:prstGeom>
          <a:noFill/>
        </p:spPr>
        <p:txBody>
          <a:bodyPr wrap="square" lIns="95250" tIns="95250" rIns="95250" bIns="95250" rtlCol="0" anchor="ctr">
            <a:spAutoFit/>
          </a:bodyPr>
          <a:lstStyle/>
          <a:p>
            <a:pPr marL="0" indent="0" algn="ctr">
              <a:lnSpc>
                <a:spcPct val="113000"/>
              </a:lnSpc>
              <a:spcBef>
                <a:spcPts val="375"/>
              </a:spcBef>
              <a:buNone/>
              <a:defRPr/>
            </a:pPr>
            <a:r>
              <a:rPr lang="en-US" sz="18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8" name="Text 4"/>
          <p:cNvSpPr/>
          <p:nvPr/>
        </p:nvSpPr>
        <p:spPr bwMode="auto">
          <a:xfrm>
            <a:off x="466877" y="2115834"/>
            <a:ext cx="2430470" cy="40233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智能交通的革新</a:t>
            </a:r>
            <a:endParaRPr lang="en-US" sz="1450"/>
          </a:p>
        </p:txBody>
      </p:sp>
      <p:sp>
        <p:nvSpPr>
          <p:cNvPr id="9" name="Text 5"/>
          <p:cNvSpPr/>
          <p:nvPr/>
        </p:nvSpPr>
        <p:spPr bwMode="auto">
          <a:xfrm>
            <a:off x="466877" y="2455328"/>
            <a:ext cx="2430470" cy="123444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日本和韩国在智能交通系统方面取得显著进展，通过实时路况信息、电子计费和不停车收费系统等技术，极大提高了道路通行效率和驾驶体验。</a:t>
            </a:r>
            <a:endParaRPr lang="en-US" sz="1450"/>
          </a:p>
        </p:txBody>
      </p:sp>
      <p:sp>
        <p:nvSpPr>
          <p:cNvPr id="10" name="Shape 6"/>
          <p:cNvSpPr/>
          <p:nvPr/>
        </p:nvSpPr>
        <p:spPr bwMode="auto">
          <a:xfrm>
            <a:off x="4572000" y="1165034"/>
            <a:ext cx="0" cy="286867"/>
          </a:xfrm>
          <a:custGeom>
            <a:avLst/>
            <a:gdLst/>
            <a:ahLst/>
            <a:cxnLst/>
            <a:rect l="l" t="t" r="r" b="b"/>
            <a:pathLst>
              <a:path h="286867" extrusionOk="0">
                <a:moveTo>
                  <a:pt x="0" y="0"/>
                </a:moveTo>
                <a:moveTo>
                  <a:pt x="0" y="0"/>
                </a:moveTo>
                <a:lnTo>
                  <a:pt x="0" y="286867"/>
                </a:lnTo>
              </a:path>
            </a:pathLst>
          </a:custGeom>
          <a:noFill/>
          <a:ln w="38100">
            <a:solidFill>
              <a:srgbClr val="002DB0"/>
            </a:solidFill>
            <a:prstDash val="solid"/>
            <a:headEnd type="none"/>
            <a:tailEnd type="none"/>
          </a:ln>
        </p:spPr>
      </p:sp>
      <p:sp>
        <p:nvSpPr>
          <p:cNvPr id="11" name="Shape 7"/>
          <p:cNvSpPr/>
          <p:nvPr/>
        </p:nvSpPr>
        <p:spPr bwMode="auto">
          <a:xfrm>
            <a:off x="3193369" y="1649412"/>
            <a:ext cx="2756916" cy="2231136"/>
          </a:xfrm>
          <a:custGeom>
            <a:avLst/>
            <a:gdLst/>
            <a:ahLst/>
            <a:cxnLst/>
            <a:rect l="l" t="t" r="r" b="b"/>
            <a:pathLst>
              <a:path w="2756916" h="2231136" extrusionOk="0">
                <a:moveTo>
                  <a:pt x="278892" y="0"/>
                </a:moveTo>
                <a:moveTo>
                  <a:pt x="278892" y="0"/>
                </a:moveTo>
                <a:lnTo>
                  <a:pt x="2478024" y="0"/>
                </a:lnTo>
                <a:quadBezTo>
                  <a:pt x="2756916" y="0"/>
                  <a:pt x="2756916" y="278892"/>
                </a:quadBezTo>
                <a:lnTo>
                  <a:pt x="2756916" y="1952244"/>
                </a:lnTo>
                <a:quadBezTo>
                  <a:pt x="2756916" y="2231136"/>
                  <a:pt x="2478024" y="2231136"/>
                </a:quadBezTo>
                <a:lnTo>
                  <a:pt x="278892" y="2231136"/>
                </a:lnTo>
                <a:quadBezTo>
                  <a:pt x="0" y="2231136"/>
                  <a:pt x="0" y="1952244"/>
                </a:quadBezTo>
                <a:lnTo>
                  <a:pt x="0" y="278892"/>
                </a:lnTo>
                <a:quadBezTo>
                  <a:pt x="0" y="0"/>
                  <a:pt x="278892" y="0"/>
                </a:quadBezTo>
                <a:close/>
              </a:path>
            </a:pathLst>
          </a:custGeom>
          <a:solidFill>
            <a:srgbClr val="A2E5B9">
              <a:alpha val="0"/>
            </a:srgbClr>
          </a:solidFill>
          <a:ln w="19050">
            <a:solidFill>
              <a:srgbClr val="3082FF"/>
            </a:solidFill>
            <a:prstDash val="solid"/>
          </a:ln>
        </p:spPr>
      </p:sp>
      <p:pic>
        <p:nvPicPr>
          <p:cNvPr id="12" name="Image 2" descr="preencoded.png"/>
          <p:cNvPicPr>
            <a:picLocks noChangeAspect="1"/>
          </p:cNvPicPr>
          <p:nvPr/>
        </p:nvPicPr>
        <p:blipFill>
          <a:blip r:embed="rId4"/>
          <a:stretch>
            <a:fillRect/>
          </a:stretch>
        </p:blipFill>
        <p:spPr bwMode="auto">
          <a:xfrm>
            <a:off x="3774053" y="1367777"/>
            <a:ext cx="1595894" cy="395023"/>
          </a:xfrm>
          <a:prstGeom prst="rect">
            <a:avLst/>
          </a:prstGeom>
        </p:spPr>
      </p:pic>
      <p:sp>
        <p:nvSpPr>
          <p:cNvPr id="13" name="Text 8"/>
          <p:cNvSpPr/>
          <p:nvPr/>
        </p:nvSpPr>
        <p:spPr bwMode="auto">
          <a:xfrm>
            <a:off x="4299434" y="1295540"/>
            <a:ext cx="545132" cy="539496"/>
          </a:xfrm>
          <a:prstGeom prst="rect">
            <a:avLst/>
          </a:prstGeom>
          <a:noFill/>
        </p:spPr>
        <p:txBody>
          <a:bodyPr wrap="square" lIns="95250" tIns="95250" rIns="95250" bIns="95250" rtlCol="0" anchor="ctr">
            <a:spAutoFit/>
          </a:bodyPr>
          <a:lstStyle/>
          <a:p>
            <a:pPr marL="0" indent="0" algn="ctr">
              <a:lnSpc>
                <a:spcPct val="113000"/>
              </a:lnSpc>
              <a:spcBef>
                <a:spcPts val="375"/>
              </a:spcBef>
              <a:buNone/>
              <a:defRPr/>
            </a:pPr>
            <a:r>
              <a:rPr lang="en-US" sz="18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4" name="Text 9"/>
          <p:cNvSpPr/>
          <p:nvPr/>
        </p:nvSpPr>
        <p:spPr bwMode="auto">
          <a:xfrm>
            <a:off x="3356765" y="1835036"/>
            <a:ext cx="2430470" cy="40233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智能制造的突破</a:t>
            </a:r>
            <a:endParaRPr lang="en-US" sz="1450"/>
          </a:p>
        </p:txBody>
      </p:sp>
      <p:sp>
        <p:nvSpPr>
          <p:cNvPr id="15" name="Text 10"/>
          <p:cNvSpPr/>
          <p:nvPr/>
        </p:nvSpPr>
        <p:spPr bwMode="auto">
          <a:xfrm>
            <a:off x="3356765" y="2174531"/>
            <a:ext cx="2430470" cy="123444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德国和美国在智能制造领域处于领先地位，利用工业4.0和物联网技术，实现了生产过程的高度自动化和灵活性，显著提升了生产效率和产品质量。</a:t>
            </a:r>
            <a:endParaRPr lang="en-US" sz="1450"/>
          </a:p>
        </p:txBody>
      </p:sp>
      <p:sp>
        <p:nvSpPr>
          <p:cNvPr id="16" name="Shape 11"/>
          <p:cNvSpPr/>
          <p:nvPr/>
        </p:nvSpPr>
        <p:spPr bwMode="auto">
          <a:xfrm>
            <a:off x="7461888" y="1165301"/>
            <a:ext cx="0" cy="567397"/>
          </a:xfrm>
          <a:custGeom>
            <a:avLst/>
            <a:gdLst/>
            <a:ahLst/>
            <a:cxnLst/>
            <a:rect l="l" t="t" r="r" b="b"/>
            <a:pathLst>
              <a:path h="567397" extrusionOk="0">
                <a:moveTo>
                  <a:pt x="0" y="0"/>
                </a:moveTo>
                <a:moveTo>
                  <a:pt x="0" y="0"/>
                </a:moveTo>
                <a:lnTo>
                  <a:pt x="0" y="567397"/>
                </a:lnTo>
              </a:path>
            </a:pathLst>
          </a:custGeom>
          <a:noFill/>
          <a:ln w="38100">
            <a:solidFill>
              <a:srgbClr val="002DB0"/>
            </a:solidFill>
            <a:prstDash val="solid"/>
            <a:headEnd type="none"/>
            <a:tailEnd type="none"/>
          </a:ln>
        </p:spPr>
      </p:sp>
      <p:sp>
        <p:nvSpPr>
          <p:cNvPr id="17" name="Shape 12"/>
          <p:cNvSpPr/>
          <p:nvPr/>
        </p:nvSpPr>
        <p:spPr bwMode="auto">
          <a:xfrm>
            <a:off x="6083503" y="1929753"/>
            <a:ext cx="2756916" cy="2231136"/>
          </a:xfrm>
          <a:custGeom>
            <a:avLst/>
            <a:gdLst/>
            <a:ahLst/>
            <a:cxnLst/>
            <a:rect l="l" t="t" r="r" b="b"/>
            <a:pathLst>
              <a:path w="2756916" h="2231136" extrusionOk="0">
                <a:moveTo>
                  <a:pt x="278892" y="0"/>
                </a:moveTo>
                <a:moveTo>
                  <a:pt x="278892" y="0"/>
                </a:moveTo>
                <a:lnTo>
                  <a:pt x="2478024" y="0"/>
                </a:lnTo>
                <a:quadBezTo>
                  <a:pt x="2756916" y="0"/>
                  <a:pt x="2756916" y="278892"/>
                </a:quadBezTo>
                <a:lnTo>
                  <a:pt x="2756916" y="1952244"/>
                </a:lnTo>
                <a:quadBezTo>
                  <a:pt x="2756916" y="2231136"/>
                  <a:pt x="2478024" y="2231136"/>
                </a:quadBezTo>
                <a:lnTo>
                  <a:pt x="278892" y="2231136"/>
                </a:lnTo>
                <a:quadBezTo>
                  <a:pt x="0" y="2231136"/>
                  <a:pt x="0" y="1952244"/>
                </a:quadBezTo>
                <a:lnTo>
                  <a:pt x="0" y="278892"/>
                </a:lnTo>
                <a:quadBezTo>
                  <a:pt x="0" y="0"/>
                  <a:pt x="278892" y="0"/>
                </a:quadBezTo>
                <a:close/>
              </a:path>
            </a:pathLst>
          </a:custGeom>
          <a:solidFill>
            <a:srgbClr val="A2E5B9">
              <a:alpha val="0"/>
            </a:srgbClr>
          </a:solidFill>
          <a:ln w="19050">
            <a:solidFill>
              <a:srgbClr val="002DB0"/>
            </a:solidFill>
            <a:prstDash val="solid"/>
          </a:ln>
        </p:spPr>
      </p:sp>
      <p:pic>
        <p:nvPicPr>
          <p:cNvPr id="18" name="Image 3" descr="preencoded.png"/>
          <p:cNvPicPr>
            <a:picLocks noChangeAspect="1"/>
          </p:cNvPicPr>
          <p:nvPr/>
        </p:nvPicPr>
        <p:blipFill>
          <a:blip r:embed="rId3"/>
          <a:stretch>
            <a:fillRect/>
          </a:stretch>
        </p:blipFill>
        <p:spPr bwMode="auto">
          <a:xfrm>
            <a:off x="6663941" y="1648574"/>
            <a:ext cx="1595894" cy="395023"/>
          </a:xfrm>
          <a:prstGeom prst="rect">
            <a:avLst/>
          </a:prstGeom>
        </p:spPr>
      </p:pic>
      <p:sp>
        <p:nvSpPr>
          <p:cNvPr id="19" name="Text 13"/>
          <p:cNvSpPr/>
          <p:nvPr/>
        </p:nvSpPr>
        <p:spPr bwMode="auto">
          <a:xfrm>
            <a:off x="7189322" y="1576338"/>
            <a:ext cx="545132" cy="539496"/>
          </a:xfrm>
          <a:prstGeom prst="rect">
            <a:avLst/>
          </a:prstGeom>
          <a:noFill/>
        </p:spPr>
        <p:txBody>
          <a:bodyPr wrap="square" lIns="95250" tIns="95250" rIns="95250" bIns="95250" rtlCol="0" anchor="ctr">
            <a:spAutoFit/>
          </a:bodyPr>
          <a:lstStyle/>
          <a:p>
            <a:pPr marL="0" indent="0" algn="ctr">
              <a:lnSpc>
                <a:spcPct val="113000"/>
              </a:lnSpc>
              <a:spcBef>
                <a:spcPts val="375"/>
              </a:spcBef>
              <a:buNone/>
              <a:defRPr/>
            </a:pPr>
            <a:r>
              <a:rPr lang="en-US" sz="18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20" name="Text 14"/>
          <p:cNvSpPr/>
          <p:nvPr/>
        </p:nvSpPr>
        <p:spPr bwMode="auto">
          <a:xfrm>
            <a:off x="6246653" y="2115834"/>
            <a:ext cx="2430470" cy="40233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智能农业的发展</a:t>
            </a:r>
            <a:endParaRPr lang="en-US" sz="1450"/>
          </a:p>
        </p:txBody>
      </p:sp>
      <p:sp>
        <p:nvSpPr>
          <p:cNvPr id="21" name="Text 15"/>
          <p:cNvSpPr/>
          <p:nvPr/>
        </p:nvSpPr>
        <p:spPr bwMode="auto">
          <a:xfrm>
            <a:off x="6246653" y="2455328"/>
            <a:ext cx="2430470" cy="123444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美国和日本在智能农业方面取得了重要成就，应用精准农业技术和农业物联网，推动了农业生产的现代化和信息化，提高了农作物产量和作业效率。</a:t>
            </a:r>
            <a:endParaRPr lang="en-US" sz="1450"/>
          </a:p>
        </p:txBody>
      </p:sp>
      <p:pic>
        <p:nvPicPr>
          <p:cNvPr id="22" name="Image 4" descr="preencoded.png"/>
          <p:cNvPicPr>
            <a:picLocks noChangeAspect="1"/>
          </p:cNvPicPr>
          <p:nvPr/>
        </p:nvPicPr>
        <p:blipFill>
          <a:blip r:embed="rId5">
            <a:alphaModFix amt="50000"/>
          </a:blip>
          <a:stretch>
            <a:fillRect/>
          </a:stretch>
        </p:blipFill>
        <p:spPr bwMode="auto">
          <a:xfrm>
            <a:off x="4572000" y="982154"/>
            <a:ext cx="4261104" cy="18288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07</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系统核心功能</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用户管理模块</a:t>
            </a:r>
            <a:endParaRPr lang="en-US" sz="1450"/>
          </a:p>
        </p:txBody>
      </p:sp>
      <p:sp>
        <p:nvSpPr>
          <p:cNvPr id="3" name="Shape 1"/>
          <p:cNvSpPr/>
          <p:nvPr/>
        </p:nvSpPr>
        <p:spPr bwMode="auto">
          <a:xfrm rot="2700000">
            <a:off x="844660" y="2788678"/>
            <a:ext cx="566928" cy="566928"/>
          </a:xfrm>
          <a:custGeom>
            <a:avLst/>
            <a:gdLst/>
            <a:ahLst/>
            <a:cxnLst/>
            <a:rect l="l" t="t" r="r" b="b"/>
            <a:pathLst>
              <a:path w="566928" h="566928" extrusionOk="0">
                <a:moveTo>
                  <a:pt x="0" y="0"/>
                </a:moveTo>
                <a:moveTo>
                  <a:pt x="0" y="0"/>
                </a:moveTo>
                <a:lnTo>
                  <a:pt x="566928" y="0"/>
                </a:lnTo>
                <a:lnTo>
                  <a:pt x="566928" y="566928"/>
                </a:lnTo>
                <a:lnTo>
                  <a:pt x="0" y="566928"/>
                </a:lnTo>
                <a:close/>
              </a:path>
            </a:pathLst>
          </a:custGeom>
          <a:solidFill>
            <a:srgbClr val="5196FF">
              <a:alpha val="50000"/>
            </a:srgbClr>
          </a:solidFill>
        </p:spPr>
      </p:sp>
      <p:sp>
        <p:nvSpPr>
          <p:cNvPr id="4" name="Shape 2"/>
          <p:cNvSpPr/>
          <p:nvPr/>
        </p:nvSpPr>
        <p:spPr bwMode="auto">
          <a:xfrm rot="2700000">
            <a:off x="844660" y="1753483"/>
            <a:ext cx="566928" cy="566928"/>
          </a:xfrm>
          <a:custGeom>
            <a:avLst/>
            <a:gdLst/>
            <a:ahLst/>
            <a:cxnLst/>
            <a:rect l="l" t="t" r="r" b="b"/>
            <a:pathLst>
              <a:path w="566928" h="566928" extrusionOk="0">
                <a:moveTo>
                  <a:pt x="0" y="0"/>
                </a:moveTo>
                <a:moveTo>
                  <a:pt x="0" y="0"/>
                </a:moveTo>
                <a:lnTo>
                  <a:pt x="566928" y="0"/>
                </a:lnTo>
                <a:lnTo>
                  <a:pt x="566928" y="566928"/>
                </a:lnTo>
                <a:lnTo>
                  <a:pt x="0" y="566928"/>
                </a:lnTo>
                <a:close/>
              </a:path>
            </a:pathLst>
          </a:custGeom>
          <a:solidFill>
            <a:srgbClr val="5196FF">
              <a:alpha val="50000"/>
            </a:srgbClr>
          </a:solidFill>
        </p:spPr>
      </p:sp>
      <p:sp>
        <p:nvSpPr>
          <p:cNvPr id="5" name="Shape 3"/>
          <p:cNvSpPr/>
          <p:nvPr/>
        </p:nvSpPr>
        <p:spPr bwMode="auto">
          <a:xfrm rot="2700000">
            <a:off x="844660" y="2290075"/>
            <a:ext cx="566928" cy="566928"/>
          </a:xfrm>
          <a:custGeom>
            <a:avLst/>
            <a:gdLst/>
            <a:ahLst/>
            <a:cxnLst/>
            <a:rect l="l" t="t" r="r" b="b"/>
            <a:pathLst>
              <a:path w="566928" h="566928" extrusionOk="0">
                <a:moveTo>
                  <a:pt x="0" y="0"/>
                </a:moveTo>
                <a:moveTo>
                  <a:pt x="0" y="0"/>
                </a:moveTo>
                <a:lnTo>
                  <a:pt x="566928" y="0"/>
                </a:lnTo>
                <a:lnTo>
                  <a:pt x="566928" y="566928"/>
                </a:lnTo>
                <a:lnTo>
                  <a:pt x="0" y="566928"/>
                </a:lnTo>
                <a:close/>
              </a:path>
            </a:pathLst>
          </a:custGeom>
          <a:solidFill>
            <a:srgbClr val="0084FF"/>
          </a:solidFill>
        </p:spPr>
      </p:sp>
      <p:sp>
        <p:nvSpPr>
          <p:cNvPr id="6" name="Shape 4"/>
          <p:cNvSpPr/>
          <p:nvPr/>
        </p:nvSpPr>
        <p:spPr bwMode="auto">
          <a:xfrm rot="2700000">
            <a:off x="844660" y="3319915"/>
            <a:ext cx="566928" cy="566928"/>
          </a:xfrm>
          <a:custGeom>
            <a:avLst/>
            <a:gdLst/>
            <a:ahLst/>
            <a:cxnLst/>
            <a:rect l="l" t="t" r="r" b="b"/>
            <a:pathLst>
              <a:path w="566928" h="566928" extrusionOk="0">
                <a:moveTo>
                  <a:pt x="0" y="0"/>
                </a:moveTo>
                <a:moveTo>
                  <a:pt x="0" y="0"/>
                </a:moveTo>
                <a:lnTo>
                  <a:pt x="566928" y="0"/>
                </a:lnTo>
                <a:lnTo>
                  <a:pt x="566928" y="566928"/>
                </a:lnTo>
                <a:lnTo>
                  <a:pt x="0" y="566928"/>
                </a:lnTo>
                <a:close/>
              </a:path>
            </a:pathLst>
          </a:custGeom>
          <a:solidFill>
            <a:srgbClr val="0084FF"/>
          </a:solidFill>
        </p:spPr>
      </p:sp>
      <p:sp>
        <p:nvSpPr>
          <p:cNvPr id="7" name="Shape 5"/>
          <p:cNvSpPr/>
          <p:nvPr/>
        </p:nvSpPr>
        <p:spPr bwMode="auto">
          <a:xfrm rot="2700000">
            <a:off x="844660" y="1216795"/>
            <a:ext cx="566928" cy="566928"/>
          </a:xfrm>
          <a:custGeom>
            <a:avLst/>
            <a:gdLst/>
            <a:ahLst/>
            <a:cxnLst/>
            <a:rect l="l" t="t" r="r" b="b"/>
            <a:pathLst>
              <a:path w="566928" h="566928" extrusionOk="0">
                <a:moveTo>
                  <a:pt x="0" y="0"/>
                </a:moveTo>
                <a:moveTo>
                  <a:pt x="0" y="0"/>
                </a:moveTo>
                <a:lnTo>
                  <a:pt x="566928" y="0"/>
                </a:lnTo>
                <a:lnTo>
                  <a:pt x="566928" y="566928"/>
                </a:lnTo>
                <a:lnTo>
                  <a:pt x="0" y="566928"/>
                </a:lnTo>
                <a:close/>
              </a:path>
            </a:pathLst>
          </a:custGeom>
          <a:solidFill>
            <a:srgbClr val="0084FF"/>
          </a:solidFill>
        </p:spPr>
      </p:sp>
      <p:sp>
        <p:nvSpPr>
          <p:cNvPr id="8" name="Text 6"/>
          <p:cNvSpPr/>
          <p:nvPr/>
        </p:nvSpPr>
        <p:spPr bwMode="auto">
          <a:xfrm>
            <a:off x="786369" y="2290075"/>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9" name="Text 7"/>
          <p:cNvSpPr/>
          <p:nvPr/>
        </p:nvSpPr>
        <p:spPr bwMode="auto">
          <a:xfrm>
            <a:off x="786369" y="3319915"/>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10" name="Text 8"/>
          <p:cNvSpPr/>
          <p:nvPr/>
        </p:nvSpPr>
        <p:spPr bwMode="auto">
          <a:xfrm>
            <a:off x="786369" y="1216795"/>
            <a:ext cx="683510" cy="56692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00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11" name="Shape 9"/>
          <p:cNvSpPr/>
          <p:nvPr/>
        </p:nvSpPr>
        <p:spPr bwMode="auto">
          <a:xfrm>
            <a:off x="1377951" y="1108896"/>
            <a:ext cx="7030578" cy="822960"/>
          </a:xfrm>
          <a:custGeom>
            <a:avLst/>
            <a:gdLst/>
            <a:ahLst/>
            <a:cxnLst/>
            <a:rect l="l" t="t" r="r" b="b"/>
            <a:pathLst>
              <a:path w="7030578" h="822960" extrusionOk="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0084FF">
              <a:alpha val="0"/>
            </a:srgbClr>
          </a:solidFill>
          <a:ln w="19050">
            <a:solidFill>
              <a:srgbClr val="002DB0"/>
            </a:solidFill>
            <a:prstDash val="solid"/>
          </a:ln>
        </p:spPr>
      </p:sp>
      <p:sp>
        <p:nvSpPr>
          <p:cNvPr id="12" name="Text 10"/>
          <p:cNvSpPr/>
          <p:nvPr/>
        </p:nvSpPr>
        <p:spPr bwMode="auto">
          <a:xfrm>
            <a:off x="1529002" y="1296348"/>
            <a:ext cx="2377440" cy="44805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用户信息查询与管理</a:t>
            </a:r>
            <a:endParaRPr lang="en-US" sz="1450"/>
          </a:p>
        </p:txBody>
      </p:sp>
      <p:sp>
        <p:nvSpPr>
          <p:cNvPr id="13" name="Text 11"/>
          <p:cNvSpPr/>
          <p:nvPr/>
        </p:nvSpPr>
        <p:spPr bwMode="auto">
          <a:xfrm>
            <a:off x="3906614" y="1099752"/>
            <a:ext cx="4501915" cy="841248"/>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用户管理模块允许管理员通过输入或精确查找账号快速定位目标用户，查看和修改用户的详细信息，如角色、权限等，确保用户信息的准确和及时更新。</a:t>
            </a:r>
            <a:endParaRPr lang="en-US" sz="1450"/>
          </a:p>
        </p:txBody>
      </p:sp>
      <p:sp>
        <p:nvSpPr>
          <p:cNvPr id="14" name="Shape 12"/>
          <p:cNvSpPr/>
          <p:nvPr/>
        </p:nvSpPr>
        <p:spPr bwMode="auto">
          <a:xfrm>
            <a:off x="1377951" y="2181487"/>
            <a:ext cx="7038804" cy="822960"/>
          </a:xfrm>
          <a:custGeom>
            <a:avLst/>
            <a:gdLst/>
            <a:ahLst/>
            <a:cxnLst/>
            <a:rect l="l" t="t" r="r" b="b"/>
            <a:pathLst>
              <a:path w="7038804" h="822960" extrusionOk="0">
                <a:moveTo>
                  <a:pt x="102870" y="0"/>
                </a:moveTo>
                <a:moveTo>
                  <a:pt x="102870" y="0"/>
                </a:moveTo>
                <a:lnTo>
                  <a:pt x="6935934" y="0"/>
                </a:lnTo>
                <a:quadBezTo>
                  <a:pt x="7038804" y="0"/>
                  <a:pt x="7038804" y="102870"/>
                </a:quadBezTo>
                <a:lnTo>
                  <a:pt x="7038804" y="720090"/>
                </a:lnTo>
                <a:quadBezTo>
                  <a:pt x="7038804" y="822960"/>
                  <a:pt x="6935934" y="822960"/>
                </a:quadBezTo>
                <a:lnTo>
                  <a:pt x="102870" y="822960"/>
                </a:lnTo>
                <a:quadBezTo>
                  <a:pt x="0" y="822960"/>
                  <a:pt x="0" y="720090"/>
                </a:quadBezTo>
                <a:lnTo>
                  <a:pt x="0" y="102870"/>
                </a:lnTo>
                <a:quadBezTo>
                  <a:pt x="0" y="0"/>
                  <a:pt x="102870" y="0"/>
                </a:quadBezTo>
                <a:close/>
              </a:path>
            </a:pathLst>
          </a:custGeom>
          <a:solidFill>
            <a:srgbClr val="FFFFFF">
              <a:alpha val="0"/>
            </a:srgbClr>
          </a:solidFill>
          <a:ln w="19050">
            <a:solidFill>
              <a:srgbClr val="002DB0"/>
            </a:solidFill>
            <a:prstDash val="solid"/>
          </a:ln>
        </p:spPr>
      </p:sp>
      <p:sp>
        <p:nvSpPr>
          <p:cNvPr id="15" name="Shape 13"/>
          <p:cNvSpPr/>
          <p:nvPr/>
        </p:nvSpPr>
        <p:spPr bwMode="auto">
          <a:xfrm>
            <a:off x="1377951" y="3212016"/>
            <a:ext cx="7030578" cy="822960"/>
          </a:xfrm>
          <a:custGeom>
            <a:avLst/>
            <a:gdLst/>
            <a:ahLst/>
            <a:cxnLst/>
            <a:rect l="l" t="t" r="r" b="b"/>
            <a:pathLst>
              <a:path w="7030578" h="822960" extrusionOk="0">
                <a:moveTo>
                  <a:pt x="102870" y="0"/>
                </a:moveTo>
                <a:moveTo>
                  <a:pt x="102870" y="0"/>
                </a:moveTo>
                <a:lnTo>
                  <a:pt x="6927708" y="0"/>
                </a:lnTo>
                <a:quadBezTo>
                  <a:pt x="7030578" y="0"/>
                  <a:pt x="7030578" y="102870"/>
                </a:quadBezTo>
                <a:lnTo>
                  <a:pt x="7030578" y="720090"/>
                </a:lnTo>
                <a:quadBezTo>
                  <a:pt x="7030578" y="822960"/>
                  <a:pt x="6927708" y="822960"/>
                </a:quadBezTo>
                <a:lnTo>
                  <a:pt x="102870" y="822960"/>
                </a:lnTo>
                <a:quadBezTo>
                  <a:pt x="0" y="822960"/>
                  <a:pt x="0" y="720090"/>
                </a:quadBezTo>
                <a:lnTo>
                  <a:pt x="0" y="102870"/>
                </a:lnTo>
                <a:quadBezTo>
                  <a:pt x="0" y="0"/>
                  <a:pt x="102870" y="0"/>
                </a:quadBezTo>
                <a:close/>
              </a:path>
            </a:pathLst>
          </a:custGeom>
          <a:solidFill>
            <a:srgbClr val="FFFFFF">
              <a:alpha val="0"/>
            </a:srgbClr>
          </a:solidFill>
          <a:ln w="19050">
            <a:solidFill>
              <a:srgbClr val="002DB0"/>
            </a:solidFill>
            <a:prstDash val="solid"/>
          </a:ln>
        </p:spPr>
      </p:sp>
      <p:sp>
        <p:nvSpPr>
          <p:cNvPr id="16" name="Text 14"/>
          <p:cNvSpPr/>
          <p:nvPr/>
        </p:nvSpPr>
        <p:spPr bwMode="auto">
          <a:xfrm>
            <a:off x="1529002" y="2368939"/>
            <a:ext cx="2377440" cy="44805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用户安全操作与个人信息管理</a:t>
            </a:r>
            <a:endParaRPr lang="en-US" sz="1450"/>
          </a:p>
        </p:txBody>
      </p:sp>
      <p:sp>
        <p:nvSpPr>
          <p:cNvPr id="17" name="Text 15"/>
          <p:cNvSpPr/>
          <p:nvPr/>
        </p:nvSpPr>
        <p:spPr bwMode="auto">
          <a:xfrm>
            <a:off x="3906614" y="2172343"/>
            <a:ext cx="4501915" cy="8412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系统提供密码修改功能，增强账户安全性。同时，用户可以在模块中查看并修改个人信息，保障个人数据的安全和隐私。</a:t>
            </a:r>
            <a:endParaRPr lang="en-US" sz="1450"/>
          </a:p>
        </p:txBody>
      </p:sp>
      <p:sp>
        <p:nvSpPr>
          <p:cNvPr id="18" name="Text 16"/>
          <p:cNvSpPr/>
          <p:nvPr/>
        </p:nvSpPr>
        <p:spPr bwMode="auto">
          <a:xfrm>
            <a:off x="1529174" y="3399468"/>
            <a:ext cx="2377440" cy="44805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收藏重要信息或公告</a:t>
            </a:r>
            <a:endParaRPr lang="en-US" sz="1450"/>
          </a:p>
        </p:txBody>
      </p:sp>
      <p:sp>
        <p:nvSpPr>
          <p:cNvPr id="19" name="Text 17"/>
          <p:cNvSpPr/>
          <p:nvPr/>
        </p:nvSpPr>
        <p:spPr bwMode="auto">
          <a:xfrm>
            <a:off x="3908443" y="3202872"/>
            <a:ext cx="4500086" cy="84124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用户可以将重要的报修信息或公告添加到“我的收藏”，方便随时查阅，提高信息获取的效率和便捷性。</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报修类型管理</a:t>
            </a:r>
            <a:endParaRPr lang="en-US" sz="1450"/>
          </a:p>
        </p:txBody>
      </p:sp>
      <p:pic>
        <p:nvPicPr>
          <p:cNvPr id="3" name="Image 0" descr="https://sgw-dx.xf-yun.com/api/v1/sparkdesk/_1740023266668a8b55d059342414ea748c74fd0c52f90.jpg?authorization=c2ltcGxlLWp3dCBhaz1zcGFya2Rlc2s4MDAwMDAwMDAwMDE7ZXhwPTMzMTY4MjMyNjY7YWxnbz1obWFjLXNoYTI1NjtzaWc9NXRCandhbTZVQkUwTHFDbEw4V2hocXdoanc0TmI4anV6R21OMGs0ZVNEcz0=&amp;x_location=7YfmxI7B7uKO7jlRxIftd60uePD="/>
          <p:cNvPicPr>
            <a:picLocks noChangeAspect="1"/>
          </p:cNvPicPr>
          <p:nvPr/>
        </p:nvPicPr>
        <p:blipFill>
          <a:blip r:embed="rId2"/>
          <a:stretch>
            <a:fillRect/>
          </a:stretch>
        </p:blipFill>
        <p:spPr bwMode="auto">
          <a:xfrm>
            <a:off x="888372" y="1088132"/>
            <a:ext cx="2283193" cy="1282693"/>
          </a:xfrm>
          <a:prstGeom prst="rect">
            <a:avLst/>
          </a:prstGeom>
        </p:spPr>
      </p:pic>
      <p:sp>
        <p:nvSpPr>
          <p:cNvPr id="4" name="Text 1"/>
          <p:cNvSpPr/>
          <p:nvPr/>
        </p:nvSpPr>
        <p:spPr bwMode="auto">
          <a:xfrm>
            <a:off x="786384"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报修类型分类</a:t>
            </a:r>
            <a:endParaRPr lang="en-US" sz="1450"/>
          </a:p>
        </p:txBody>
      </p:sp>
      <p:sp>
        <p:nvSpPr>
          <p:cNvPr id="5" name="Text 2"/>
          <p:cNvSpPr/>
          <p:nvPr/>
        </p:nvSpPr>
        <p:spPr bwMode="auto">
          <a:xfrm>
            <a:off x="822960" y="2773736"/>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报修类型管理模块对各类报修问题进行详细分类，如水电、网络、家具等，确保用户能快速找到对应的报修类别，提高报修效率。</a:t>
            </a:r>
            <a:endParaRPr lang="en-US" sz="1450"/>
          </a:p>
        </p:txBody>
      </p:sp>
      <p:pic>
        <p:nvPicPr>
          <p:cNvPr id="6" name="Image 1" descr="https://sgw-dx.xf-yun.com/api/v1/sparkdesk/_17400232698533c0a682896bb4d6189d58d47ae396895.jpg?authorization=c2ltcGxlLWp3dCBhaz1zcGFya2Rlc2s4MDAwMDAwMDAwMDE7ZXhwPTMzMTY4MjMyNjk7YWxnbz1obWFjLXNoYTI1NjtzaWc9eGFSelJRUFJTbEFwUXArTTd6MUdkWkdDQ1ZmNWhReTh3cEFGelN4MDFYYz0=&amp;x_location=7YfmxI7B7uKO7jlRxIftd60uePD="/>
          <p:cNvPicPr>
            <a:picLocks noChangeAspect="1"/>
          </p:cNvPicPr>
          <p:nvPr/>
        </p:nvPicPr>
        <p:blipFill>
          <a:blip r:embed="rId3"/>
          <a:stretch>
            <a:fillRect/>
          </a:stretch>
        </p:blipFill>
        <p:spPr bwMode="auto">
          <a:xfrm>
            <a:off x="3466980" y="1088132"/>
            <a:ext cx="2283193" cy="1282693"/>
          </a:xfrm>
          <a:prstGeom prst="rect">
            <a:avLst/>
          </a:prstGeom>
        </p:spPr>
      </p:pic>
      <p:sp>
        <p:nvSpPr>
          <p:cNvPr id="7" name="Text 3"/>
          <p:cNvSpPr/>
          <p:nvPr/>
        </p:nvSpPr>
        <p:spPr bwMode="auto">
          <a:xfrm>
            <a:off x="3328416"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报修指南提供</a:t>
            </a:r>
            <a:endParaRPr lang="en-US" sz="1450"/>
          </a:p>
        </p:txBody>
      </p:sp>
      <p:sp>
        <p:nvSpPr>
          <p:cNvPr id="8" name="Text 4"/>
          <p:cNvSpPr/>
          <p:nvPr/>
        </p:nvSpPr>
        <p:spPr bwMode="auto">
          <a:xfrm>
            <a:off x="3401568" y="2773736"/>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系统提供详尽的报修指南，引导用户准确填写报修信息，包括问题描述、紧急程度等，帮助维修人员更好地理解和处理问题。</a:t>
            </a:r>
            <a:endParaRPr lang="en-US" sz="1450"/>
          </a:p>
        </p:txBody>
      </p:sp>
      <p:pic>
        <p:nvPicPr>
          <p:cNvPr id="9" name="Image 2" descr="https://sgw-dx.xf-yun.com/api/v1/sparkdesk/_17400232725339ca3c884d60c42e1a0defe23ecad2637.jpg?authorization=c2ltcGxlLWp3dCBhaz1zcGFya2Rlc2s4MDAwMDAwMDAwMDE7ZXhwPTMzMTY4MjMyNzI7YWxnbz1obWFjLXNoYTI1NjtzaWc9NS9XR1p5OXFuNWtQUktFeGljSW9pSFJxSGRWbU9FSEs4S094OFRPUnNEaz0=&amp;x_location=7YfmxI7B7uKO7jlRxIftd60uePD="/>
          <p:cNvPicPr>
            <a:picLocks noChangeAspect="1"/>
          </p:cNvPicPr>
          <p:nvPr/>
        </p:nvPicPr>
        <p:blipFill>
          <a:blip r:embed="rId4"/>
          <a:stretch>
            <a:fillRect/>
          </a:stretch>
        </p:blipFill>
        <p:spPr bwMode="auto">
          <a:xfrm>
            <a:off x="6009012" y="1088132"/>
            <a:ext cx="2283193" cy="1282693"/>
          </a:xfrm>
          <a:prstGeom prst="rect">
            <a:avLst/>
          </a:prstGeom>
        </p:spPr>
      </p:pic>
      <p:sp>
        <p:nvSpPr>
          <p:cNvPr id="10" name="Text 5"/>
          <p:cNvSpPr/>
          <p:nvPr/>
        </p:nvSpPr>
        <p:spPr bwMode="auto">
          <a:xfrm>
            <a:off x="5870448" y="2447488"/>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智能化任务分配</a:t>
            </a:r>
            <a:endParaRPr lang="en-US" sz="1450"/>
          </a:p>
        </p:txBody>
      </p:sp>
      <p:sp>
        <p:nvSpPr>
          <p:cNvPr id="11" name="Text 6"/>
          <p:cNvSpPr/>
          <p:nvPr/>
        </p:nvSpPr>
        <p:spPr bwMode="auto">
          <a:xfrm>
            <a:off x="5943600" y="2775208"/>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根据维修人员的专长、工作量和地理位置等因素，系统自动或手动分配任务，实现智能化的任务分配，提高维修效率和质量。</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08</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技术栈介绍</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后端技术</a:t>
            </a:r>
            <a:endParaRPr lang="en-US" sz="1450"/>
          </a:p>
        </p:txBody>
      </p:sp>
      <p:sp>
        <p:nvSpPr>
          <p:cNvPr id="3" name="Shape 1"/>
          <p:cNvSpPr/>
          <p:nvPr/>
        </p:nvSpPr>
        <p:spPr bwMode="auto">
          <a:xfrm>
            <a:off x="5510252" y="2264253"/>
            <a:ext cx="2689524" cy="445315"/>
          </a:xfrm>
          <a:custGeom>
            <a:avLst/>
            <a:gdLst/>
            <a:ahLst/>
            <a:cxnLst/>
            <a:rect l="l" t="t" r="r" b="b"/>
            <a:pathLst>
              <a:path w="2689524" h="445315" extrusionOk="0">
                <a:moveTo>
                  <a:pt x="0" y="0"/>
                </a:moveTo>
                <a:moveTo>
                  <a:pt x="0" y="0"/>
                </a:moveTo>
                <a:lnTo>
                  <a:pt x="2689524" y="0"/>
                </a:lnTo>
                <a:lnTo>
                  <a:pt x="2689524" y="445315"/>
                </a:lnTo>
                <a:lnTo>
                  <a:pt x="0" y="445315"/>
                </a:lnTo>
                <a:close/>
              </a:path>
            </a:pathLst>
          </a:custGeom>
          <a:solidFill>
            <a:srgbClr val="5196FF"/>
          </a:solidFill>
        </p:spPr>
      </p:sp>
      <p:sp>
        <p:nvSpPr>
          <p:cNvPr id="4" name="Shape 2"/>
          <p:cNvSpPr/>
          <p:nvPr/>
        </p:nvSpPr>
        <p:spPr bwMode="auto">
          <a:xfrm rot="-8099999">
            <a:off x="7748355" y="2055442"/>
            <a:ext cx="731520" cy="731520"/>
          </a:xfrm>
          <a:custGeom>
            <a:avLst/>
            <a:gdLst/>
            <a:ahLst/>
            <a:cxnLst/>
            <a:rect l="l" t="t" r="r" b="b"/>
            <a:pathLst>
              <a:path w="731520" h="731520" extrusionOk="0">
                <a:moveTo>
                  <a:pt x="0" y="0"/>
                </a:moveTo>
                <a:moveTo>
                  <a:pt x="0" y="0"/>
                </a:moveTo>
                <a:lnTo>
                  <a:pt x="0" y="731520"/>
                </a:lnTo>
                <a:lnTo>
                  <a:pt x="731520" y="731520"/>
                </a:lnTo>
                <a:close/>
              </a:path>
            </a:pathLst>
          </a:custGeom>
          <a:solidFill>
            <a:srgbClr val="5196FF"/>
          </a:solidFill>
        </p:spPr>
      </p:sp>
      <p:sp>
        <p:nvSpPr>
          <p:cNvPr id="5" name="Shape 3"/>
          <p:cNvSpPr/>
          <p:nvPr/>
        </p:nvSpPr>
        <p:spPr bwMode="auto">
          <a:xfrm>
            <a:off x="512622" y="1319563"/>
            <a:ext cx="7687154" cy="576734"/>
          </a:xfrm>
          <a:custGeom>
            <a:avLst/>
            <a:gdLst/>
            <a:ahLst/>
            <a:cxnLst/>
            <a:rect l="l" t="t" r="r" b="b"/>
            <a:pathLst>
              <a:path w="7687154" h="576734" extrusionOk="0">
                <a:moveTo>
                  <a:pt x="0" y="0"/>
                </a:moveTo>
                <a:moveTo>
                  <a:pt x="0" y="0"/>
                </a:moveTo>
                <a:lnTo>
                  <a:pt x="7687154" y="0"/>
                </a:lnTo>
                <a:lnTo>
                  <a:pt x="7687154" y="576734"/>
                </a:lnTo>
                <a:lnTo>
                  <a:pt x="0" y="576734"/>
                </a:lnTo>
                <a:close/>
              </a:path>
            </a:pathLst>
          </a:custGeom>
          <a:solidFill>
            <a:srgbClr val="5196FF"/>
          </a:solidFill>
        </p:spPr>
      </p:sp>
      <p:sp>
        <p:nvSpPr>
          <p:cNvPr id="6" name="Shape 4"/>
          <p:cNvSpPr/>
          <p:nvPr/>
        </p:nvSpPr>
        <p:spPr bwMode="auto">
          <a:xfrm rot="-8099999">
            <a:off x="7739211" y="1242170"/>
            <a:ext cx="731520" cy="731520"/>
          </a:xfrm>
          <a:custGeom>
            <a:avLst/>
            <a:gdLst/>
            <a:ahLst/>
            <a:cxnLst/>
            <a:rect l="l" t="t" r="r" b="b"/>
            <a:pathLst>
              <a:path w="731520" h="731520" extrusionOk="0">
                <a:moveTo>
                  <a:pt x="0" y="0"/>
                </a:moveTo>
                <a:moveTo>
                  <a:pt x="0" y="0"/>
                </a:moveTo>
                <a:lnTo>
                  <a:pt x="0" y="731520"/>
                </a:lnTo>
                <a:lnTo>
                  <a:pt x="731520" y="731520"/>
                </a:lnTo>
                <a:close/>
              </a:path>
            </a:pathLst>
          </a:custGeom>
          <a:solidFill>
            <a:srgbClr val="5196FF"/>
          </a:solidFill>
        </p:spPr>
      </p:sp>
      <p:sp>
        <p:nvSpPr>
          <p:cNvPr id="7" name="Shape 5"/>
          <p:cNvSpPr/>
          <p:nvPr/>
        </p:nvSpPr>
        <p:spPr bwMode="auto">
          <a:xfrm rot="-8099999">
            <a:off x="7730067" y="1610126"/>
            <a:ext cx="731520" cy="731520"/>
          </a:xfrm>
          <a:custGeom>
            <a:avLst/>
            <a:gdLst/>
            <a:ahLst/>
            <a:cxnLst/>
            <a:rect l="l" t="t" r="r" b="b"/>
            <a:pathLst>
              <a:path w="731520" h="731520" extrusionOk="0">
                <a:moveTo>
                  <a:pt x="0" y="0"/>
                </a:moveTo>
                <a:moveTo>
                  <a:pt x="0" y="0"/>
                </a:moveTo>
                <a:lnTo>
                  <a:pt x="0" y="731520"/>
                </a:lnTo>
                <a:lnTo>
                  <a:pt x="731520" y="731520"/>
                </a:lnTo>
                <a:close/>
              </a:path>
            </a:pathLst>
          </a:custGeom>
          <a:solidFill>
            <a:srgbClr val="0084FF"/>
          </a:solidFill>
        </p:spPr>
      </p:sp>
      <p:sp>
        <p:nvSpPr>
          <p:cNvPr id="8" name="Shape 6"/>
          <p:cNvSpPr/>
          <p:nvPr/>
        </p:nvSpPr>
        <p:spPr bwMode="auto">
          <a:xfrm>
            <a:off x="521765" y="1903939"/>
            <a:ext cx="2511105" cy="1682799"/>
          </a:xfrm>
          <a:custGeom>
            <a:avLst/>
            <a:gdLst/>
            <a:ahLst/>
            <a:cxnLst/>
            <a:rect l="l" t="t" r="r" b="b"/>
            <a:pathLst>
              <a:path w="2511105" h="1682799" extrusionOk="0">
                <a:moveTo>
                  <a:pt x="0" y="0"/>
                </a:moveTo>
                <a:moveTo>
                  <a:pt x="0" y="0"/>
                </a:moveTo>
                <a:lnTo>
                  <a:pt x="2511105" y="0"/>
                </a:lnTo>
                <a:lnTo>
                  <a:pt x="2511105" y="1682799"/>
                </a:lnTo>
                <a:lnTo>
                  <a:pt x="0" y="1682799"/>
                </a:lnTo>
                <a:close/>
              </a:path>
            </a:pathLst>
          </a:custGeom>
          <a:solidFill>
            <a:srgbClr val="A2E5B9">
              <a:alpha val="0"/>
            </a:srgbClr>
          </a:solidFill>
          <a:ln w="19050">
            <a:solidFill>
              <a:srgbClr val="3082FF"/>
            </a:solidFill>
            <a:prstDash val="solid"/>
          </a:ln>
        </p:spPr>
      </p:sp>
      <p:sp>
        <p:nvSpPr>
          <p:cNvPr id="9" name="Shape 7"/>
          <p:cNvSpPr/>
          <p:nvPr/>
        </p:nvSpPr>
        <p:spPr bwMode="auto">
          <a:xfrm>
            <a:off x="3030749" y="2264253"/>
            <a:ext cx="2488646" cy="1682799"/>
          </a:xfrm>
          <a:custGeom>
            <a:avLst/>
            <a:gdLst/>
            <a:ahLst/>
            <a:cxnLst/>
            <a:rect l="l" t="t" r="r" b="b"/>
            <a:pathLst>
              <a:path w="2488647" h="1682799" extrusionOk="0">
                <a:moveTo>
                  <a:pt x="0" y="0"/>
                </a:moveTo>
                <a:moveTo>
                  <a:pt x="0" y="0"/>
                </a:moveTo>
                <a:lnTo>
                  <a:pt x="2488647" y="0"/>
                </a:lnTo>
                <a:lnTo>
                  <a:pt x="2488647" y="1682799"/>
                </a:lnTo>
                <a:lnTo>
                  <a:pt x="0" y="1682799"/>
                </a:lnTo>
                <a:close/>
              </a:path>
            </a:pathLst>
          </a:custGeom>
          <a:solidFill>
            <a:srgbClr val="A2E5B9">
              <a:alpha val="0"/>
            </a:srgbClr>
          </a:solidFill>
          <a:ln w="19050">
            <a:solidFill>
              <a:srgbClr val="002DB0"/>
            </a:solidFill>
            <a:prstDash val="solid"/>
          </a:ln>
        </p:spPr>
      </p:sp>
      <p:sp>
        <p:nvSpPr>
          <p:cNvPr id="10" name="Shape 8"/>
          <p:cNvSpPr/>
          <p:nvPr/>
        </p:nvSpPr>
        <p:spPr bwMode="auto">
          <a:xfrm>
            <a:off x="5519396" y="2709569"/>
            <a:ext cx="2591353" cy="1682799"/>
          </a:xfrm>
          <a:custGeom>
            <a:avLst/>
            <a:gdLst/>
            <a:ahLst/>
            <a:cxnLst/>
            <a:rect l="l" t="t" r="r" b="b"/>
            <a:pathLst>
              <a:path w="2591353" h="1682799" extrusionOk="0">
                <a:moveTo>
                  <a:pt x="0" y="0"/>
                </a:moveTo>
                <a:moveTo>
                  <a:pt x="0" y="0"/>
                </a:moveTo>
                <a:lnTo>
                  <a:pt x="2591353" y="0"/>
                </a:lnTo>
                <a:lnTo>
                  <a:pt x="2591353" y="1682799"/>
                </a:lnTo>
                <a:lnTo>
                  <a:pt x="0" y="1682799"/>
                </a:lnTo>
                <a:close/>
              </a:path>
            </a:pathLst>
          </a:custGeom>
          <a:solidFill>
            <a:srgbClr val="A2E5B9">
              <a:alpha val="0"/>
            </a:srgbClr>
          </a:solidFill>
          <a:ln w="19050">
            <a:solidFill>
              <a:srgbClr val="3082FF"/>
            </a:solidFill>
            <a:prstDash val="solid"/>
          </a:ln>
        </p:spPr>
      </p:sp>
      <p:sp>
        <p:nvSpPr>
          <p:cNvPr id="11" name="Text 9"/>
          <p:cNvSpPr/>
          <p:nvPr/>
        </p:nvSpPr>
        <p:spPr bwMode="auto">
          <a:xfrm>
            <a:off x="602401" y="1406762"/>
            <a:ext cx="2430470"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FFFFFF"/>
                </a:solidFill>
                <a:latin typeface="微软雅黑" panose="020B0503020204020204" charset="-122"/>
                <a:ea typeface="微软雅黑" panose="020B0503020204020204" charset="-122"/>
                <a:cs typeface="微软雅黑" panose="020B0503020204020204" charset="-122"/>
              </a:rPr>
              <a:t>Python语言的优势</a:t>
            </a:r>
            <a:endParaRPr lang="en-US" sz="1450"/>
          </a:p>
        </p:txBody>
      </p:sp>
      <p:sp>
        <p:nvSpPr>
          <p:cNvPr id="12" name="Text 10"/>
          <p:cNvSpPr/>
          <p:nvPr/>
        </p:nvSpPr>
        <p:spPr bwMode="auto">
          <a:xfrm>
            <a:off x="512622" y="1864695"/>
            <a:ext cx="2501961" cy="1463040"/>
          </a:xfrm>
          <a:prstGeom prst="rect">
            <a:avLst/>
          </a:prstGeom>
          <a:noFill/>
        </p:spPr>
        <p:txBody>
          <a:bodyPr wrap="square" lIns="95250" tIns="95250" rIns="95250" bIns="95250" rtlCol="0" anchor="t">
            <a:spAutoFit/>
          </a:bodyPr>
          <a:lstStyle/>
          <a:p>
            <a:pPr marL="0" indent="0" algn="just">
              <a:lnSpc>
                <a:spcPct val="101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Python以其简洁高效的语法特性，为系统开发提供了强大的支持，使得代码易于编写和维护。其高效性使得它成为开发高校后勤报修系统的理想选择。</a:t>
            </a:r>
            <a:endParaRPr lang="en-US" sz="1450"/>
          </a:p>
        </p:txBody>
      </p:sp>
      <p:sp>
        <p:nvSpPr>
          <p:cNvPr id="13" name="Text 11"/>
          <p:cNvSpPr/>
          <p:nvPr/>
        </p:nvSpPr>
        <p:spPr bwMode="auto">
          <a:xfrm>
            <a:off x="3017435" y="2264253"/>
            <a:ext cx="2501961" cy="1463040"/>
          </a:xfrm>
          <a:prstGeom prst="rect">
            <a:avLst/>
          </a:prstGeom>
          <a:noFill/>
        </p:spPr>
        <p:txBody>
          <a:bodyPr wrap="square" lIns="95250" tIns="95250" rIns="95250" bIns="95250" rtlCol="0" anchor="t">
            <a:spAutoFit/>
          </a:bodyPr>
          <a:lstStyle/>
          <a:p>
            <a:pPr marL="0" indent="0" algn="just">
              <a:lnSpc>
                <a:spcPct val="101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Django框架内置了众多功能模块，如用户认证、模板渲染等，极大地提高了开发效率。同时，Django保证了系统的稳定性和安全性，这对于高校后勤报修系统至关重要。</a:t>
            </a:r>
            <a:endParaRPr lang="en-US" sz="1450"/>
          </a:p>
        </p:txBody>
      </p:sp>
      <p:sp>
        <p:nvSpPr>
          <p:cNvPr id="14" name="Text 12"/>
          <p:cNvSpPr/>
          <p:nvPr/>
        </p:nvSpPr>
        <p:spPr bwMode="auto">
          <a:xfrm>
            <a:off x="5510252" y="2307233"/>
            <a:ext cx="2430470"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FFFFFF"/>
                </a:solidFill>
                <a:latin typeface="微软雅黑" panose="020B0503020204020204" charset="-122"/>
                <a:ea typeface="微软雅黑" panose="020B0503020204020204" charset="-122"/>
                <a:cs typeface="微软雅黑" panose="020B0503020204020204" charset="-122"/>
              </a:rPr>
              <a:t>MySQL数据库的作用</a:t>
            </a:r>
            <a:endParaRPr lang="en-US" sz="1450"/>
          </a:p>
        </p:txBody>
      </p:sp>
      <p:sp>
        <p:nvSpPr>
          <p:cNvPr id="15" name="Text 13"/>
          <p:cNvSpPr/>
          <p:nvPr/>
        </p:nvSpPr>
        <p:spPr bwMode="auto">
          <a:xfrm>
            <a:off x="5519396" y="2709569"/>
            <a:ext cx="2501961" cy="1463040"/>
          </a:xfrm>
          <a:prstGeom prst="rect">
            <a:avLst/>
          </a:prstGeom>
          <a:noFill/>
        </p:spPr>
        <p:txBody>
          <a:bodyPr wrap="square" lIns="95250" tIns="95250" rIns="95250" bIns="95250" rtlCol="0" anchor="t">
            <a:spAutoFit/>
          </a:bodyPr>
          <a:lstStyle/>
          <a:p>
            <a:pPr marL="0" indent="0" algn="just">
              <a:lnSpc>
                <a:spcPct val="101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MySQL作为系统的核心数据存储组件，凭借其高效的查询性能和良好的可扩展性，能够快速处理报修信息的存储与检索。在系统中扮演着关键角色，确保数据的高效管理和安全存储。</a:t>
            </a:r>
            <a:endParaRPr lang="en-US" sz="1450"/>
          </a:p>
        </p:txBody>
      </p:sp>
      <p:sp>
        <p:nvSpPr>
          <p:cNvPr id="16" name="Shape 14"/>
          <p:cNvSpPr/>
          <p:nvPr/>
        </p:nvSpPr>
        <p:spPr bwMode="auto">
          <a:xfrm>
            <a:off x="3023727" y="1687519"/>
            <a:ext cx="5176049" cy="576734"/>
          </a:xfrm>
          <a:custGeom>
            <a:avLst/>
            <a:gdLst/>
            <a:ahLst/>
            <a:cxnLst/>
            <a:rect l="l" t="t" r="r" b="b"/>
            <a:pathLst>
              <a:path w="5176049" h="576734" extrusionOk="0">
                <a:moveTo>
                  <a:pt x="0" y="0"/>
                </a:moveTo>
                <a:moveTo>
                  <a:pt x="0" y="0"/>
                </a:moveTo>
                <a:lnTo>
                  <a:pt x="5176049" y="0"/>
                </a:lnTo>
                <a:lnTo>
                  <a:pt x="5176049" y="576734"/>
                </a:lnTo>
                <a:lnTo>
                  <a:pt x="0" y="576734"/>
                </a:lnTo>
                <a:close/>
              </a:path>
            </a:pathLst>
          </a:custGeom>
          <a:solidFill>
            <a:srgbClr val="0084FF"/>
          </a:solidFill>
        </p:spPr>
      </p:sp>
      <p:sp>
        <p:nvSpPr>
          <p:cNvPr id="17" name="Text 15"/>
          <p:cNvSpPr/>
          <p:nvPr/>
        </p:nvSpPr>
        <p:spPr bwMode="auto">
          <a:xfrm>
            <a:off x="3014583" y="1774718"/>
            <a:ext cx="2430470"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FFFFFF"/>
                </a:solidFill>
                <a:latin typeface="微软雅黑" panose="020B0503020204020204" charset="-122"/>
                <a:ea typeface="微软雅黑" panose="020B0503020204020204" charset="-122"/>
                <a:cs typeface="微软雅黑" panose="020B0503020204020204" charset="-122"/>
              </a:rPr>
              <a:t>Django框架的特点</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前端技术</a:t>
            </a:r>
            <a:endParaRPr lang="en-US" sz="1450"/>
          </a:p>
        </p:txBody>
      </p:sp>
      <p:pic>
        <p:nvPicPr>
          <p:cNvPr id="3" name="Image 0" descr="https://sgw-dx.xf-yun.com/api/v1/sparkdesk/_174002330755479eef1558d08428388bf6b5092ca4536.jpg?authorization=c2ltcGxlLWp3dCBhaz1zcGFya2Rlc2s4MDAwMDAwMDAwMDE7ZXhwPTMzMTY4MjMzMDc7YWxnbz1obWFjLXNoYTI1NjtzaWc9K2hxSjFiRUt1dFZXcjVFTzdkY1FkaG05Wm0rbzhWUTAyVHBMMFd5OW9XST0=&amp;x_location=7YfmxI7B7uKO7jlRxIftd60uePD="/>
          <p:cNvPicPr>
            <a:picLocks noChangeAspect="1"/>
          </p:cNvPicPr>
          <p:nvPr/>
        </p:nvPicPr>
        <p:blipFill>
          <a:blip r:embed="rId2"/>
          <a:srcRect/>
          <a:stretch>
            <a:fillRect/>
          </a:stretch>
        </p:blipFill>
        <p:spPr bwMode="auto">
          <a:xfrm>
            <a:off x="505361" y="2646298"/>
            <a:ext cx="2516140" cy="1415329"/>
          </a:xfrm>
          <a:prstGeom prst="rect">
            <a:avLst/>
          </a:prstGeom>
        </p:spPr>
      </p:pic>
      <p:sp>
        <p:nvSpPr>
          <p:cNvPr id="4" name="Text 1"/>
          <p:cNvSpPr/>
          <p:nvPr/>
        </p:nvSpPr>
        <p:spPr bwMode="auto">
          <a:xfrm>
            <a:off x="45593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前端技术概述</a:t>
            </a:r>
            <a:endParaRPr lang="en-US" sz="1450"/>
          </a:p>
        </p:txBody>
      </p:sp>
      <p:sp>
        <p:nvSpPr>
          <p:cNvPr id="5" name="Text 2"/>
          <p:cNvSpPr/>
          <p:nvPr/>
        </p:nvSpPr>
        <p:spPr bwMode="auto">
          <a:xfrm>
            <a:off x="324788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HTML定义网页结构，CSS控制外观布局，JavaScript实现动态效果和交互功能，三者共同构成了前端开发的基础。</a:t>
            </a:r>
            <a:endParaRPr lang="en-US" sz="1450"/>
          </a:p>
        </p:txBody>
      </p:sp>
      <p:pic>
        <p:nvPicPr>
          <p:cNvPr id="6" name="Image 1" descr="https://sgw-dx.xf-yun.com/api/v1/sparkdesk/_17400233104999654a7bd2a524730af5260d2c27ecb88.jpg?authorization=c2ltcGxlLWp3dCBhaz1zcGFya2Rlc2s4MDAwMDAwMDAwMDE7ZXhwPTMzMTY4MjMzMTA7YWxnbz1obWFjLXNoYTI1NjtzaWc9WW1pakE4OHpDL3RUVjNnZkZjdWdOL04yMXE3aWQ5WkdnbStCR2NMaHVUdz0=&amp;x_location=7YfmxI7B7uKO7jlRxIftd60uePD="/>
          <p:cNvPicPr>
            <a:picLocks noChangeAspect="1"/>
          </p:cNvPicPr>
          <p:nvPr/>
        </p:nvPicPr>
        <p:blipFill>
          <a:blip r:embed="rId3"/>
          <a:srcRect l="154" r="153"/>
          <a:stretch>
            <a:fillRect/>
          </a:stretch>
        </p:blipFill>
        <p:spPr bwMode="auto">
          <a:xfrm>
            <a:off x="3297311" y="2646298"/>
            <a:ext cx="2516140" cy="1415329"/>
          </a:xfrm>
          <a:prstGeom prst="rect">
            <a:avLst/>
          </a:prstGeom>
        </p:spPr>
      </p:pic>
      <p:sp>
        <p:nvSpPr>
          <p:cNvPr id="7" name="Text 3"/>
          <p:cNvSpPr/>
          <p:nvPr/>
        </p:nvSpPr>
        <p:spPr bwMode="auto">
          <a:xfrm>
            <a:off x="324788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核心技术解析</a:t>
            </a:r>
            <a:endParaRPr lang="en-US" sz="1450"/>
          </a:p>
        </p:txBody>
      </p:sp>
      <p:sp>
        <p:nvSpPr>
          <p:cNvPr id="8" name="Text 4"/>
          <p:cNvSpPr/>
          <p:nvPr/>
        </p:nvSpPr>
        <p:spPr bwMode="auto">
          <a:xfrm>
            <a:off x="6031158" y="1290078"/>
            <a:ext cx="265690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React、Vue.js和Angular等现代框架提高了开发效率和代码可维护性，而Webpack、npm等工具则提升了项目性能和开发便利性。</a:t>
            </a:r>
            <a:endParaRPr lang="en-US" sz="1450"/>
          </a:p>
        </p:txBody>
      </p:sp>
      <p:pic>
        <p:nvPicPr>
          <p:cNvPr id="9" name="Image 2" descr="https://sgw-dx.xf-yun.com/api/v1/sparkdesk/_17400233136855171bbc5f5b847a9b8c73ef3521011a2.jpg?authorization=c2ltcGxlLWp3dCBhaz1zcGFya2Rlc2s4MDAwMDAwMDAwMDE7ZXhwPTMzMTY4MjMzMTM7YWxnbz1obWFjLXNoYTI1NjtzaWc9TTN6dFU1MmxDZlcyVEFkQWVrd2hSRmtQVlg0S3JJUlhYRXppN0F2Y0RXdz0=&amp;x_location=7YfmxI7B7uKO7jlRxIftd60uePD="/>
          <p:cNvPicPr>
            <a:picLocks noChangeAspect="1"/>
          </p:cNvPicPr>
          <p:nvPr/>
        </p:nvPicPr>
        <p:blipFill>
          <a:blip r:embed="rId4"/>
          <a:srcRect l="154" r="153"/>
          <a:stretch>
            <a:fillRect/>
          </a:stretch>
        </p:blipFill>
        <p:spPr bwMode="auto">
          <a:xfrm>
            <a:off x="6101539" y="2646298"/>
            <a:ext cx="2516140" cy="1415329"/>
          </a:xfrm>
          <a:prstGeom prst="rect">
            <a:avLst/>
          </a:prstGeom>
        </p:spPr>
      </p:pic>
      <p:sp>
        <p:nvSpPr>
          <p:cNvPr id="10" name="Text 5"/>
          <p:cNvSpPr/>
          <p:nvPr/>
        </p:nvSpPr>
        <p:spPr bwMode="auto">
          <a:xfrm>
            <a:off x="6031158" y="826507"/>
            <a:ext cx="2656902"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现代框架与工具</a:t>
            </a:r>
            <a:endParaRPr lang="en-US" sz="1450"/>
          </a:p>
        </p:txBody>
      </p:sp>
      <p:sp>
        <p:nvSpPr>
          <p:cNvPr id="11" name="Text 6"/>
          <p:cNvSpPr/>
          <p:nvPr/>
        </p:nvSpPr>
        <p:spPr bwMode="auto">
          <a:xfrm>
            <a:off x="45593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前端技术主要负责处理用户直接在浏览器中看到和与之交互的内容，包括网页的结构、样式和交互功能，是创建用户界面和用户体验的关键技术。</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09</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系统设计原则</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有效性原则</a:t>
            </a:r>
            <a:endParaRPr lang="en-US" sz="1450"/>
          </a:p>
        </p:txBody>
      </p:sp>
      <p:sp>
        <p:nvSpPr>
          <p:cNvPr id="3" name="Shape 1"/>
          <p:cNvSpPr/>
          <p:nvPr/>
        </p:nvSpPr>
        <p:spPr bwMode="auto">
          <a:xfrm>
            <a:off x="640994" y="1792041"/>
            <a:ext cx="2487168" cy="2332625"/>
          </a:xfrm>
          <a:custGeom>
            <a:avLst/>
            <a:gdLst/>
            <a:ahLst/>
            <a:cxnLst/>
            <a:rect l="l" t="t" r="r" b="b"/>
            <a:pathLst>
              <a:path w="2487168" h="2332625" extrusionOk="0">
                <a:moveTo>
                  <a:pt x="260604" y="0"/>
                </a:moveTo>
                <a:moveTo>
                  <a:pt x="260604" y="0"/>
                </a:moveTo>
                <a:lnTo>
                  <a:pt x="2226564" y="0"/>
                </a:lnTo>
                <a:quadBezTo>
                  <a:pt x="2487168" y="0"/>
                  <a:pt x="2487168" y="291578"/>
                </a:quadBezTo>
                <a:lnTo>
                  <a:pt x="2487168" y="2041047"/>
                </a:lnTo>
                <a:quadBezTo>
                  <a:pt x="2487168" y="2332625"/>
                  <a:pt x="2226564" y="2332625"/>
                </a:quadBezTo>
                <a:lnTo>
                  <a:pt x="260604" y="2332625"/>
                </a:lnTo>
                <a:quadBezTo>
                  <a:pt x="0" y="2332625"/>
                  <a:pt x="0" y="2041047"/>
                </a:quadBezTo>
                <a:lnTo>
                  <a:pt x="0" y="291578"/>
                </a:lnTo>
                <a:quadBezTo>
                  <a:pt x="0" y="0"/>
                  <a:pt x="260604" y="0"/>
                </a:quadBezTo>
                <a:close/>
              </a:path>
            </a:pathLst>
          </a:custGeom>
          <a:solidFill>
            <a:srgbClr val="0084FF">
              <a:alpha val="10000"/>
            </a:srgbClr>
          </a:solidFill>
        </p:spPr>
      </p:sp>
      <p:sp>
        <p:nvSpPr>
          <p:cNvPr id="4" name="Shape 2"/>
          <p:cNvSpPr/>
          <p:nvPr/>
        </p:nvSpPr>
        <p:spPr bwMode="auto">
          <a:xfrm>
            <a:off x="1066906" y="1534826"/>
            <a:ext cx="530506" cy="257215"/>
          </a:xfrm>
          <a:custGeom>
            <a:avLst/>
            <a:gdLst/>
            <a:ahLst/>
            <a:cxnLst/>
            <a:rect l="l" t="t" r="r" b="b"/>
            <a:pathLst>
              <a:path w="530506" h="257215" extrusionOk="0">
                <a:moveTo>
                  <a:pt x="265253" y="0"/>
                </a:moveTo>
                <a:moveTo>
                  <a:pt x="265253" y="0"/>
                </a:moveTo>
                <a:lnTo>
                  <a:pt x="0" y="257215"/>
                </a:lnTo>
                <a:lnTo>
                  <a:pt x="530506" y="257215"/>
                </a:lnTo>
                <a:close/>
              </a:path>
            </a:pathLst>
          </a:custGeom>
          <a:solidFill>
            <a:srgbClr val="0084FF">
              <a:alpha val="10000"/>
            </a:srgbClr>
          </a:solidFill>
        </p:spPr>
      </p:sp>
      <p:sp>
        <p:nvSpPr>
          <p:cNvPr id="5" name="Shape 3"/>
          <p:cNvSpPr/>
          <p:nvPr/>
        </p:nvSpPr>
        <p:spPr bwMode="auto">
          <a:xfrm>
            <a:off x="640994" y="1018720"/>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6" name="Shape 4"/>
          <p:cNvSpPr/>
          <p:nvPr/>
        </p:nvSpPr>
        <p:spPr bwMode="auto">
          <a:xfrm>
            <a:off x="1589474" y="1289285"/>
            <a:ext cx="1334304" cy="0"/>
          </a:xfrm>
          <a:custGeom>
            <a:avLst/>
            <a:gdLst/>
            <a:ahLst/>
            <a:cxnLst/>
            <a:rect l="l" t="t" r="r" b="b"/>
            <a:pathLst>
              <a:path w="1334304" extrusionOk="0">
                <a:moveTo>
                  <a:pt x="0" y="0"/>
                </a:moveTo>
                <a:moveTo>
                  <a:pt x="0" y="0"/>
                </a:moveTo>
                <a:lnTo>
                  <a:pt x="1334304" y="0"/>
                </a:lnTo>
              </a:path>
            </a:pathLst>
          </a:custGeom>
          <a:noFill/>
          <a:ln w="19050">
            <a:solidFill>
              <a:srgbClr val="002DB0"/>
            </a:solidFill>
            <a:prstDash val="solid"/>
            <a:headEnd type="none"/>
            <a:tailEnd type="arrow"/>
          </a:ln>
        </p:spPr>
      </p:sp>
      <p:sp>
        <p:nvSpPr>
          <p:cNvPr id="7" name="Text 5"/>
          <p:cNvSpPr/>
          <p:nvPr/>
        </p:nvSpPr>
        <p:spPr bwMode="auto">
          <a:xfrm>
            <a:off x="686714" y="1938345"/>
            <a:ext cx="2395728"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技术选择的有效性</a:t>
            </a:r>
            <a:endParaRPr lang="en-US" sz="1450"/>
          </a:p>
        </p:txBody>
      </p:sp>
      <p:sp>
        <p:nvSpPr>
          <p:cNvPr id="8" name="Shape 6"/>
          <p:cNvSpPr/>
          <p:nvPr/>
        </p:nvSpPr>
        <p:spPr bwMode="auto">
          <a:xfrm>
            <a:off x="3339389" y="1792041"/>
            <a:ext cx="2487168" cy="2332625"/>
          </a:xfrm>
          <a:custGeom>
            <a:avLst/>
            <a:gdLst/>
            <a:ahLst/>
            <a:cxnLst/>
            <a:rect l="l" t="t" r="r" b="b"/>
            <a:pathLst>
              <a:path w="2487168" h="2332625" extrusionOk="0">
                <a:moveTo>
                  <a:pt x="260604" y="0"/>
                </a:moveTo>
                <a:moveTo>
                  <a:pt x="260604" y="0"/>
                </a:moveTo>
                <a:lnTo>
                  <a:pt x="2226564" y="0"/>
                </a:lnTo>
                <a:quadBezTo>
                  <a:pt x="2487168" y="0"/>
                  <a:pt x="2487168" y="291578"/>
                </a:quadBezTo>
                <a:lnTo>
                  <a:pt x="2487168" y="2041047"/>
                </a:lnTo>
                <a:quadBezTo>
                  <a:pt x="2487168" y="2332625"/>
                  <a:pt x="2226564" y="2332625"/>
                </a:quadBezTo>
                <a:lnTo>
                  <a:pt x="260604" y="2332625"/>
                </a:lnTo>
                <a:quadBezTo>
                  <a:pt x="0" y="2332625"/>
                  <a:pt x="0" y="2041047"/>
                </a:quadBezTo>
                <a:lnTo>
                  <a:pt x="0" y="291578"/>
                </a:lnTo>
                <a:quadBezTo>
                  <a:pt x="0" y="0"/>
                  <a:pt x="260604" y="0"/>
                </a:quadBezTo>
                <a:close/>
              </a:path>
            </a:pathLst>
          </a:custGeom>
          <a:solidFill>
            <a:srgbClr val="0084FF">
              <a:alpha val="10000"/>
            </a:srgbClr>
          </a:solidFill>
        </p:spPr>
      </p:sp>
      <p:sp>
        <p:nvSpPr>
          <p:cNvPr id="9" name="Shape 7"/>
          <p:cNvSpPr/>
          <p:nvPr/>
        </p:nvSpPr>
        <p:spPr bwMode="auto">
          <a:xfrm>
            <a:off x="6015838" y="1792155"/>
            <a:ext cx="2487168" cy="2332625"/>
          </a:xfrm>
          <a:custGeom>
            <a:avLst/>
            <a:gdLst/>
            <a:ahLst/>
            <a:cxnLst/>
            <a:rect l="l" t="t" r="r" b="b"/>
            <a:pathLst>
              <a:path w="2487168" h="2332625" extrusionOk="0">
                <a:moveTo>
                  <a:pt x="260604" y="0"/>
                </a:moveTo>
                <a:moveTo>
                  <a:pt x="260604" y="0"/>
                </a:moveTo>
                <a:lnTo>
                  <a:pt x="2226564" y="0"/>
                </a:lnTo>
                <a:quadBezTo>
                  <a:pt x="2487168" y="0"/>
                  <a:pt x="2487168" y="291578"/>
                </a:quadBezTo>
                <a:lnTo>
                  <a:pt x="2487168" y="2041047"/>
                </a:lnTo>
                <a:quadBezTo>
                  <a:pt x="2487168" y="2332625"/>
                  <a:pt x="2226564" y="2332625"/>
                </a:quadBezTo>
                <a:lnTo>
                  <a:pt x="260604" y="2332625"/>
                </a:lnTo>
                <a:quadBezTo>
                  <a:pt x="0" y="2332625"/>
                  <a:pt x="0" y="2041047"/>
                </a:quadBezTo>
                <a:lnTo>
                  <a:pt x="0" y="291578"/>
                </a:lnTo>
                <a:quadBezTo>
                  <a:pt x="0" y="0"/>
                  <a:pt x="260604" y="0"/>
                </a:quadBezTo>
                <a:close/>
              </a:path>
            </a:pathLst>
          </a:custGeom>
          <a:solidFill>
            <a:srgbClr val="0084FF">
              <a:alpha val="10000"/>
            </a:srgbClr>
          </a:solidFill>
        </p:spPr>
      </p:sp>
      <p:sp>
        <p:nvSpPr>
          <p:cNvPr id="10" name="Text 8"/>
          <p:cNvSpPr/>
          <p:nvPr/>
        </p:nvSpPr>
        <p:spPr bwMode="auto">
          <a:xfrm>
            <a:off x="750722" y="2340681"/>
            <a:ext cx="226771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文档中选择了成熟的Python语言、Django框架和MySQL数据库，这些技术已被广泛验证，具有强大的社区支持和丰富的文档资源，确保了技术实现的可行性和有效性。</a:t>
            </a:r>
            <a:endParaRPr lang="en-US" sz="1450"/>
          </a:p>
        </p:txBody>
      </p:sp>
      <p:sp>
        <p:nvSpPr>
          <p:cNvPr id="11" name="Text 9"/>
          <p:cNvSpPr/>
          <p:nvPr/>
        </p:nvSpPr>
        <p:spPr bwMode="auto">
          <a:xfrm>
            <a:off x="3385109" y="1938345"/>
            <a:ext cx="2395728"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系统设计的有效性</a:t>
            </a:r>
            <a:endParaRPr lang="en-US" sz="1450"/>
          </a:p>
        </p:txBody>
      </p:sp>
      <p:sp>
        <p:nvSpPr>
          <p:cNvPr id="12" name="Text 10"/>
          <p:cNvSpPr/>
          <p:nvPr/>
        </p:nvSpPr>
        <p:spPr bwMode="auto">
          <a:xfrm>
            <a:off x="6061558" y="1938345"/>
            <a:ext cx="2395728" cy="40233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用户界面的有效性</a:t>
            </a:r>
            <a:endParaRPr lang="en-US" sz="1450"/>
          </a:p>
        </p:txBody>
      </p:sp>
      <p:sp>
        <p:nvSpPr>
          <p:cNvPr id="13" name="Text 11"/>
          <p:cNvSpPr/>
          <p:nvPr/>
        </p:nvSpPr>
        <p:spPr bwMode="auto">
          <a:xfrm>
            <a:off x="3449117" y="2340681"/>
            <a:ext cx="226771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系统设计遵循了模型-模板-视图（MTV）架构，分离了应用程序的逻辑、界面和数据，提升了代码的可管理性和模块化，这有助于提高开发效率和系统的可维护性。</a:t>
            </a:r>
            <a:endParaRPr lang="en-US" sz="1450"/>
          </a:p>
        </p:txBody>
      </p:sp>
      <p:sp>
        <p:nvSpPr>
          <p:cNvPr id="14" name="Text 12"/>
          <p:cNvSpPr/>
          <p:nvPr/>
        </p:nvSpPr>
        <p:spPr bwMode="auto">
          <a:xfrm>
            <a:off x="6125566" y="2340681"/>
            <a:ext cx="226771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前端采用了Vue.js框架，提供了响应式数据绑定和组合式的视图组件，使得状态管理和页面构建变得简洁高效，提升了用户体验。</a:t>
            </a:r>
            <a:endParaRPr lang="en-US" sz="1450"/>
          </a:p>
        </p:txBody>
      </p:sp>
      <p:sp>
        <p:nvSpPr>
          <p:cNvPr id="15" name="Text 13"/>
          <p:cNvSpPr/>
          <p:nvPr/>
        </p:nvSpPr>
        <p:spPr bwMode="auto">
          <a:xfrm>
            <a:off x="640994" y="1048069"/>
            <a:ext cx="679728" cy="365760"/>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16" name="Shape 14"/>
          <p:cNvSpPr/>
          <p:nvPr/>
        </p:nvSpPr>
        <p:spPr bwMode="auto">
          <a:xfrm>
            <a:off x="3339835" y="1018720"/>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7" name="Text 15"/>
          <p:cNvSpPr/>
          <p:nvPr/>
        </p:nvSpPr>
        <p:spPr bwMode="auto">
          <a:xfrm>
            <a:off x="3349080" y="1048069"/>
            <a:ext cx="709960" cy="365760"/>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8" name="Shape 16"/>
          <p:cNvSpPr/>
          <p:nvPr/>
        </p:nvSpPr>
        <p:spPr bwMode="auto">
          <a:xfrm>
            <a:off x="6015819" y="1018720"/>
            <a:ext cx="426013" cy="426013"/>
          </a:xfrm>
          <a:custGeom>
            <a:avLst/>
            <a:gdLst/>
            <a:ahLst/>
            <a:cxnLst/>
            <a:rect l="l" t="t" r="r" b="b"/>
            <a:pathLst>
              <a:path w="426013" h="426013" extrusionOk="0">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0084FF"/>
          </a:solidFill>
        </p:spPr>
      </p:sp>
      <p:sp>
        <p:nvSpPr>
          <p:cNvPr id="19" name="Text 17"/>
          <p:cNvSpPr/>
          <p:nvPr/>
        </p:nvSpPr>
        <p:spPr bwMode="auto">
          <a:xfrm>
            <a:off x="6016304" y="1048069"/>
            <a:ext cx="723664" cy="365760"/>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4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20" name="Shape 18"/>
          <p:cNvSpPr/>
          <p:nvPr/>
        </p:nvSpPr>
        <p:spPr bwMode="auto">
          <a:xfrm>
            <a:off x="4228093" y="1289285"/>
            <a:ext cx="1334304" cy="0"/>
          </a:xfrm>
          <a:custGeom>
            <a:avLst/>
            <a:gdLst/>
            <a:ahLst/>
            <a:cxnLst/>
            <a:rect l="l" t="t" r="r" b="b"/>
            <a:pathLst>
              <a:path w="1334304" extrusionOk="0">
                <a:moveTo>
                  <a:pt x="0" y="0"/>
                </a:moveTo>
                <a:moveTo>
                  <a:pt x="0" y="0"/>
                </a:moveTo>
                <a:lnTo>
                  <a:pt x="1334304" y="0"/>
                </a:lnTo>
              </a:path>
            </a:pathLst>
          </a:custGeom>
          <a:noFill/>
          <a:ln w="19050">
            <a:solidFill>
              <a:srgbClr val="002DB0"/>
            </a:solidFill>
            <a:prstDash val="solid"/>
            <a:headEnd type="none"/>
            <a:tailEnd type="arrow"/>
          </a:ln>
        </p:spPr>
      </p:sp>
      <p:sp>
        <p:nvSpPr>
          <p:cNvPr id="21" name="Shape 19"/>
          <p:cNvSpPr/>
          <p:nvPr/>
        </p:nvSpPr>
        <p:spPr bwMode="auto">
          <a:xfrm>
            <a:off x="6913035" y="1289285"/>
            <a:ext cx="1334304" cy="0"/>
          </a:xfrm>
          <a:custGeom>
            <a:avLst/>
            <a:gdLst/>
            <a:ahLst/>
            <a:cxnLst/>
            <a:rect l="l" t="t" r="r" b="b"/>
            <a:pathLst>
              <a:path w="1334304" extrusionOk="0">
                <a:moveTo>
                  <a:pt x="0" y="0"/>
                </a:moveTo>
                <a:moveTo>
                  <a:pt x="0" y="0"/>
                </a:moveTo>
                <a:lnTo>
                  <a:pt x="1334304" y="0"/>
                </a:lnTo>
              </a:path>
            </a:pathLst>
          </a:custGeom>
          <a:noFill/>
          <a:ln w="19050">
            <a:solidFill>
              <a:srgbClr val="002DB0"/>
            </a:solidFill>
            <a:prstDash val="solid"/>
            <a:headEnd type="none"/>
            <a:tailEnd type="arrow"/>
          </a:ln>
        </p:spPr>
      </p:sp>
      <p:sp>
        <p:nvSpPr>
          <p:cNvPr id="22" name="Shape 20"/>
          <p:cNvSpPr/>
          <p:nvPr/>
        </p:nvSpPr>
        <p:spPr bwMode="auto">
          <a:xfrm>
            <a:off x="3765747" y="1534826"/>
            <a:ext cx="530506" cy="257215"/>
          </a:xfrm>
          <a:custGeom>
            <a:avLst/>
            <a:gdLst/>
            <a:ahLst/>
            <a:cxnLst/>
            <a:rect l="l" t="t" r="r" b="b"/>
            <a:pathLst>
              <a:path w="530506" h="257215" extrusionOk="0">
                <a:moveTo>
                  <a:pt x="265253" y="0"/>
                </a:moveTo>
                <a:moveTo>
                  <a:pt x="265253" y="0"/>
                </a:moveTo>
                <a:lnTo>
                  <a:pt x="0" y="257215"/>
                </a:lnTo>
                <a:lnTo>
                  <a:pt x="530506" y="257215"/>
                </a:lnTo>
                <a:close/>
              </a:path>
            </a:pathLst>
          </a:custGeom>
          <a:solidFill>
            <a:srgbClr val="0084FF">
              <a:alpha val="10000"/>
            </a:srgbClr>
          </a:solidFill>
        </p:spPr>
      </p:sp>
      <p:sp>
        <p:nvSpPr>
          <p:cNvPr id="23" name="Shape 21"/>
          <p:cNvSpPr/>
          <p:nvPr/>
        </p:nvSpPr>
        <p:spPr bwMode="auto">
          <a:xfrm>
            <a:off x="6441731" y="1534826"/>
            <a:ext cx="530506" cy="257215"/>
          </a:xfrm>
          <a:custGeom>
            <a:avLst/>
            <a:gdLst/>
            <a:ahLst/>
            <a:cxnLst/>
            <a:rect l="l" t="t" r="r" b="b"/>
            <a:pathLst>
              <a:path w="530506" h="257215" extrusionOk="0">
                <a:moveTo>
                  <a:pt x="265253" y="0"/>
                </a:moveTo>
                <a:moveTo>
                  <a:pt x="265253" y="0"/>
                </a:moveTo>
                <a:lnTo>
                  <a:pt x="0" y="257215"/>
                </a:lnTo>
                <a:lnTo>
                  <a:pt x="530506" y="257215"/>
                </a:lnTo>
                <a:close/>
              </a:path>
            </a:pathLst>
          </a:custGeom>
          <a:solidFill>
            <a:srgbClr val="0084FF">
              <a:alpha val="10000"/>
            </a:srgbClr>
          </a:solidFill>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高可靠性要求</a:t>
            </a:r>
            <a:endParaRPr lang="en-US" sz="1450"/>
          </a:p>
        </p:txBody>
      </p:sp>
      <p:sp>
        <p:nvSpPr>
          <p:cNvPr id="3" name="Shape 1"/>
          <p:cNvSpPr/>
          <p:nvPr/>
        </p:nvSpPr>
        <p:spPr bwMode="auto">
          <a:xfrm>
            <a:off x="1528754"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4" name="Shape 2"/>
          <p:cNvSpPr/>
          <p:nvPr/>
        </p:nvSpPr>
        <p:spPr bwMode="auto">
          <a:xfrm>
            <a:off x="5687275"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5" name="Shape 3"/>
          <p:cNvSpPr/>
          <p:nvPr/>
        </p:nvSpPr>
        <p:spPr bwMode="auto">
          <a:xfrm>
            <a:off x="3542750" y="2852974"/>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6" name="Text 4"/>
          <p:cNvSpPr/>
          <p:nvPr/>
        </p:nvSpPr>
        <p:spPr bwMode="auto">
          <a:xfrm>
            <a:off x="1890784"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系统可靠性的重要性</a:t>
            </a:r>
            <a:endParaRPr lang="en-US" sz="1450"/>
          </a:p>
        </p:txBody>
      </p:sp>
      <p:pic>
        <p:nvPicPr>
          <p:cNvPr id="7" name="Image 0" descr="https://sgw-dx.xf-yun.com/api/v1/sparkdesk/_1740023292806ac48cfe992f341abb0da4ca4fda4bc15.jpg?authorization=c2ltcGxlLWp3dCBhaz1zcGFya2Rlc2s4MDAwMDAwMDAwMDE7ZXhwPTMzMTY4MjMyOTI7YWxnbz1obWFjLXNoYTI1NjtzaWc9cEdGSGJVWVdybUFnZk83c0VzVTQ0R0gzRDd6MXpCU3JhYWFySTNhamdrcz0=&amp;x_location=7YfmxI7B7uKO7jlRxIftd60uePD="/>
          <p:cNvPicPr>
            <a:picLocks noChangeAspect="1"/>
          </p:cNvPicPr>
          <p:nvPr/>
        </p:nvPicPr>
        <p:blipFill>
          <a:blip r:embed="rId2"/>
          <a:srcRect l="21910" r="21909"/>
          <a:stretch>
            <a:fillRect/>
          </a:stretch>
        </p:blipFill>
        <p:spPr bwMode="auto">
          <a:xfrm>
            <a:off x="498274" y="1041561"/>
            <a:ext cx="1392512" cy="1392512"/>
          </a:xfrm>
          <a:prstGeom prst="ellipse">
            <a:avLst/>
          </a:prstGeom>
        </p:spPr>
      </p:pic>
      <p:sp>
        <p:nvSpPr>
          <p:cNvPr id="8" name="Text 5"/>
          <p:cNvSpPr/>
          <p:nvPr/>
        </p:nvSpPr>
        <p:spPr bwMode="auto">
          <a:xfrm>
            <a:off x="1890784"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在高校后勤报修系统中，高可靠性要求是确保系统稳定运行的关键。通过优化设计和资源选型，可以有效提升系统的可靠性，保障日常运维的顺畅进行。</a:t>
            </a:r>
            <a:endParaRPr lang="en-US" sz="1450"/>
          </a:p>
        </p:txBody>
      </p:sp>
      <p:sp>
        <p:nvSpPr>
          <p:cNvPr id="9" name="Text 6"/>
          <p:cNvSpPr/>
          <p:nvPr/>
        </p:nvSpPr>
        <p:spPr bwMode="auto">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设计策略与方法</a:t>
            </a:r>
            <a:endParaRPr lang="en-US" sz="1450"/>
          </a:p>
        </p:txBody>
      </p:sp>
      <p:pic>
        <p:nvPicPr>
          <p:cNvPr id="10" name="Image 1" descr="https://sgw-dx.xf-yun.com/api/v1/sparkdesk/_174002329614460e4dbfe38cf4484a99be173daea3dde.jpg?authorization=c2ltcGxlLWp3dCBhaz1zcGFya2Rlc2s4MDAwMDAwMDAwMDE7ZXhwPTMzMTY4MjMyOTY7YWxnbz1obWFjLXNoYTI1NjtzaWc9bnhVZjBGaHFvMzdMNDFTa1dkRWdVaXppUWlUL1VNeUg4b1BTZnhNZzA4ST0=&amp;x_location=7YfmxI7B7uKO7jlRxIftd60uePD="/>
          <p:cNvPicPr>
            <a:picLocks noChangeAspect="1"/>
          </p:cNvPicPr>
          <p:nvPr/>
        </p:nvPicPr>
        <p:blipFill>
          <a:blip r:embed="rId3"/>
          <a:srcRect l="21910" r="21909"/>
          <a:stretch>
            <a:fillRect/>
          </a:stretch>
        </p:blipFill>
        <p:spPr bwMode="auto">
          <a:xfrm>
            <a:off x="4656795" y="1041561"/>
            <a:ext cx="1392512" cy="1392512"/>
          </a:xfrm>
          <a:prstGeom prst="ellipse">
            <a:avLst/>
          </a:prstGeom>
        </p:spPr>
      </p:pic>
      <p:sp>
        <p:nvSpPr>
          <p:cNvPr id="11" name="Text 7"/>
          <p:cNvSpPr/>
          <p:nvPr/>
        </p:nvSpPr>
        <p:spPr bwMode="auto">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采用先进的设计理念和合理的系统架构，结合严格的质量控制流程，是实现高校后勤报修系统高可靠性的有效途径。这包括冗余设计、故障隔离等技术手段。</a:t>
            </a:r>
            <a:endParaRPr lang="en-US" sz="1450"/>
          </a:p>
        </p:txBody>
      </p:sp>
      <p:sp>
        <p:nvSpPr>
          <p:cNvPr id="12" name="Text 8"/>
          <p:cNvSpPr/>
          <p:nvPr/>
        </p:nvSpPr>
        <p:spPr bwMode="auto">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持续优化与维护</a:t>
            </a:r>
            <a:endParaRPr lang="en-US" sz="1450"/>
          </a:p>
        </p:txBody>
      </p:sp>
      <p:pic>
        <p:nvPicPr>
          <p:cNvPr id="13" name="Image 2" descr="https://sgw-dx.xf-yun.com/api/v1/sparkdesk/_1740023299426f380fc250a694c85b45bc886abede4d2.jpg?authorization=c2ltcGxlLWp3dCBhaz1zcGFya2Rlc2s4MDAwMDAwMDAwMDE7ZXhwPTMzMTY4MjMyOTk7YWxnbz1obWFjLXNoYTI1NjtzaWc9dFlKKzR3dGVnRUQ0M1RMak9qTkNWTFl1NUxVRENKV1BuNE5zc0E4RmM1OD0=&amp;x_location=7YfmxI7B7uKO7jlRxIftd60uePD="/>
          <p:cNvPicPr>
            <a:picLocks noChangeAspect="1"/>
          </p:cNvPicPr>
          <p:nvPr/>
        </p:nvPicPr>
        <p:blipFill>
          <a:blip r:embed="rId4"/>
          <a:srcRect l="21910" r="21909"/>
          <a:stretch>
            <a:fillRect/>
          </a:stretch>
        </p:blipFill>
        <p:spPr bwMode="auto">
          <a:xfrm>
            <a:off x="2512271" y="2852974"/>
            <a:ext cx="1392512" cy="1392512"/>
          </a:xfrm>
          <a:prstGeom prst="ellipse">
            <a:avLst/>
          </a:prstGeom>
        </p:spPr>
      </p:pic>
      <p:sp>
        <p:nvSpPr>
          <p:cNvPr id="14" name="Text 9"/>
          <p:cNvSpPr/>
          <p:nvPr/>
        </p:nvSpPr>
        <p:spPr bwMode="auto">
          <a:xfrm>
            <a:off x="3904782" y="3103003"/>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为了保持系统的长期高可靠性，需要定期对系统进行检查和维护，及时更新软硬件资源，并根据实际运行情况调整优化策略，以适应不断变化的需求和环境。</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10</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数据库结构设计</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E-R图设计</a:t>
            </a:r>
            <a:endParaRPr lang="en-US" sz="1450"/>
          </a:p>
        </p:txBody>
      </p:sp>
      <p:sp>
        <p:nvSpPr>
          <p:cNvPr id="3" name="Shape 1"/>
          <p:cNvSpPr/>
          <p:nvPr/>
        </p:nvSpPr>
        <p:spPr bwMode="auto">
          <a:xfrm>
            <a:off x="1528754"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4" name="Shape 2"/>
          <p:cNvSpPr/>
          <p:nvPr/>
        </p:nvSpPr>
        <p:spPr bwMode="auto">
          <a:xfrm>
            <a:off x="5687275" y="1041561"/>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5" name="Shape 3"/>
          <p:cNvSpPr/>
          <p:nvPr/>
        </p:nvSpPr>
        <p:spPr bwMode="auto">
          <a:xfrm>
            <a:off x="3542750" y="2852974"/>
            <a:ext cx="362032" cy="362032"/>
          </a:xfrm>
          <a:custGeom>
            <a:avLst/>
            <a:gdLst/>
            <a:ahLst/>
            <a:cxnLst/>
            <a:rect l="l" t="t" r="r" b="b"/>
            <a:pathLst>
              <a:path w="362032" h="362032" extrusionOk="0">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0084FF"/>
          </a:solidFill>
        </p:spPr>
      </p:sp>
      <p:sp>
        <p:nvSpPr>
          <p:cNvPr id="6" name="Text 4"/>
          <p:cNvSpPr/>
          <p:nvPr/>
        </p:nvSpPr>
        <p:spPr bwMode="auto">
          <a:xfrm>
            <a:off x="1890784"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确定实体</a:t>
            </a:r>
            <a:endParaRPr lang="en-US" sz="1450"/>
          </a:p>
        </p:txBody>
      </p:sp>
      <p:pic>
        <p:nvPicPr>
          <p:cNvPr id="7" name="Image 0" descr="https://sgw-dx.xf-yun.com/api/v1/sparkdesk/_1740023317665f88a801d1a5342b99e8dc00b79ac31d4.jpg?authorization=c2ltcGxlLWp3dCBhaz1zcGFya2Rlc2s4MDAwMDAwMDAwMDE7ZXhwPTMzMTY4MjMzMTc7YWxnbz1obWFjLXNoYTI1NjtzaWc9NldMcEg2enFjRlcyNHlaT3lVSFVCL3hQM3NTVWNxZUY3bFZjVUtFUUlzUT0=&amp;x_location=7YfmxI7B7uKO7jlRxIftd60uePD="/>
          <p:cNvPicPr>
            <a:picLocks noChangeAspect="1"/>
          </p:cNvPicPr>
          <p:nvPr/>
        </p:nvPicPr>
        <p:blipFill>
          <a:blip r:embed="rId2"/>
          <a:srcRect l="21910" r="21909"/>
          <a:stretch>
            <a:fillRect/>
          </a:stretch>
        </p:blipFill>
        <p:spPr bwMode="auto">
          <a:xfrm>
            <a:off x="498274" y="1041561"/>
            <a:ext cx="1392512" cy="1392512"/>
          </a:xfrm>
          <a:prstGeom prst="ellipse">
            <a:avLst/>
          </a:prstGeom>
        </p:spPr>
      </p:pic>
      <p:sp>
        <p:nvSpPr>
          <p:cNvPr id="8" name="Text 5"/>
          <p:cNvSpPr/>
          <p:nvPr/>
        </p:nvSpPr>
        <p:spPr bwMode="auto">
          <a:xfrm>
            <a:off x="1890784"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在E-R图设计中，首要任务是识别系统中的关键实体，如用户、报修单等，这是构建数据库的基础，有助于明确系统的核心组成部分。</a:t>
            </a:r>
            <a:endParaRPr lang="en-US" sz="1450"/>
          </a:p>
        </p:txBody>
      </p:sp>
      <p:sp>
        <p:nvSpPr>
          <p:cNvPr id="9" name="Text 6"/>
          <p:cNvSpPr/>
          <p:nvPr/>
        </p:nvSpPr>
        <p:spPr bwMode="auto">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定义属性</a:t>
            </a:r>
            <a:endParaRPr lang="en-US" sz="1450"/>
          </a:p>
        </p:txBody>
      </p:sp>
      <p:pic>
        <p:nvPicPr>
          <p:cNvPr id="10" name="Image 1" descr="https://sgw-dx.xf-yun.com/api/v1/sparkdesk/_1740023320426054c1954379d40649af44483187d4856.jpg?authorization=c2ltcGxlLWp3dCBhaz1zcGFya2Rlc2s4MDAwMDAwMDAwMDE7ZXhwPTMzMTY4MjMzMjA7YWxnbz1obWFjLXNoYTI1NjtzaWc9UjJmVU8rbGtEMnppYnIxaTRCRXQ5WTJmZmV2YWErdVBNOFF3cWhqdmpycz0=&amp;x_location=7YfmxI7B7uKO7jlRxIftd60uePD="/>
          <p:cNvPicPr>
            <a:picLocks noChangeAspect="1"/>
          </p:cNvPicPr>
          <p:nvPr/>
        </p:nvPicPr>
        <p:blipFill>
          <a:blip r:embed="rId3"/>
          <a:srcRect l="21910" r="21909"/>
          <a:stretch>
            <a:fillRect/>
          </a:stretch>
        </p:blipFill>
        <p:spPr bwMode="auto">
          <a:xfrm>
            <a:off x="4656795" y="1041561"/>
            <a:ext cx="1392512" cy="1392512"/>
          </a:xfrm>
          <a:prstGeom prst="ellipse">
            <a:avLst/>
          </a:prstGeom>
        </p:spPr>
      </p:pic>
      <p:sp>
        <p:nvSpPr>
          <p:cNvPr id="11" name="Text 7"/>
          <p:cNvSpPr/>
          <p:nvPr/>
        </p:nvSpPr>
        <p:spPr bwMode="auto">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为每个实体定义其属性是E-R图设计的关键步骤，例如用户的姓名、学号等，这些属性详细描述了实体的特征，为后续的关系建立提供依据。</a:t>
            </a:r>
            <a:endParaRPr lang="en-US" sz="1450"/>
          </a:p>
        </p:txBody>
      </p:sp>
      <p:sp>
        <p:nvSpPr>
          <p:cNvPr id="12" name="Text 8"/>
          <p:cNvSpPr/>
          <p:nvPr/>
        </p:nvSpPr>
        <p:spPr bwMode="auto">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建立关系</a:t>
            </a:r>
            <a:endParaRPr lang="en-US" sz="1450"/>
          </a:p>
        </p:txBody>
      </p:sp>
      <p:pic>
        <p:nvPicPr>
          <p:cNvPr id="13" name="Image 2" descr="https://sgw-dx.xf-yun.com/api/v1/sparkdesk/_17400233232066b7e5bcb44c547488dc26afb1ee307b1.jpg?authorization=c2ltcGxlLWp3dCBhaz1zcGFya2Rlc2s4MDAwMDAwMDAwMDE7ZXhwPTMzMTY4MjMzMjM7YWxnbz1obWFjLXNoYTI1NjtzaWc9cFRsZ1drTDBVMEgzaWxkK3oyUVUzSElmYTBYSkdmdVBhSjhZT2QvQVZjQT0=&amp;x_location=7YfmxI7B7uKO7jlRxIftd60uePD="/>
          <p:cNvPicPr>
            <a:picLocks noChangeAspect="1"/>
          </p:cNvPicPr>
          <p:nvPr/>
        </p:nvPicPr>
        <p:blipFill>
          <a:blip r:embed="rId4"/>
          <a:srcRect l="21910" r="21909"/>
          <a:stretch>
            <a:fillRect/>
          </a:stretch>
        </p:blipFill>
        <p:spPr bwMode="auto">
          <a:xfrm>
            <a:off x="2512271" y="2852974"/>
            <a:ext cx="1392512" cy="1392512"/>
          </a:xfrm>
          <a:prstGeom prst="ellipse">
            <a:avLst/>
          </a:prstGeom>
        </p:spPr>
      </p:pic>
      <p:sp>
        <p:nvSpPr>
          <p:cNvPr id="14" name="Text 9"/>
          <p:cNvSpPr/>
          <p:nvPr/>
        </p:nvSpPr>
        <p:spPr bwMode="auto">
          <a:xfrm>
            <a:off x="3904782" y="3103003"/>
            <a:ext cx="2428566" cy="1280160"/>
          </a:xfrm>
          <a:prstGeom prst="rect">
            <a:avLst/>
          </a:prstGeom>
          <a:noFill/>
        </p:spPr>
        <p:txBody>
          <a:bodyPr wrap="square" lIns="95250" tIns="95250" rIns="95250" bIns="95250" rtlCol="0" anchor="t">
            <a:spAutoFit/>
          </a:bodyPr>
          <a:lstStyle/>
          <a:p>
            <a:pPr marL="0" indent="0">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明确实体之间的关系是E-R图设计的核心，如用户与报修单的提交关系，这有助于揭示系统中的数据流动和交互逻辑，确保数据的准确性和完整性。</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数据库表规划</a:t>
            </a:r>
            <a:endParaRPr lang="en-US" sz="1450"/>
          </a:p>
        </p:txBody>
      </p:sp>
      <p:pic>
        <p:nvPicPr>
          <p:cNvPr id="3" name="Image 0" descr="https://sgw-dx.xf-yun.com/api/v1/sparkdesk/_1740023317181ed7cb3a647b54f068631f17466ef1f7f.jpg?authorization=c2ltcGxlLWp3dCBhaz1zcGFya2Rlc2s4MDAwMDAwMDAwMDE7ZXhwPTMzMTY4MjMzMTc7YWxnbz1obWFjLXNoYTI1NjtzaWc9VXdPUGRDTWFia0pCcW1HM05OOWlYZVdpWWQ2ZktWWUdZdjRxWVczbFdSQT0=&amp;x_location=7YfmxI7B7uKO7jlRxIftd60uePD="/>
          <p:cNvPicPr>
            <a:picLocks noChangeAspect="1"/>
          </p:cNvPicPr>
          <p:nvPr/>
        </p:nvPicPr>
        <p:blipFill>
          <a:blip r:embed="rId2"/>
          <a:srcRect/>
          <a:stretch>
            <a:fillRect/>
          </a:stretch>
        </p:blipFill>
        <p:spPr bwMode="auto">
          <a:xfrm>
            <a:off x="505361" y="2646298"/>
            <a:ext cx="2516140" cy="1415329"/>
          </a:xfrm>
          <a:prstGeom prst="rect">
            <a:avLst/>
          </a:prstGeom>
        </p:spPr>
      </p:pic>
      <p:sp>
        <p:nvSpPr>
          <p:cNvPr id="4" name="Text 1"/>
          <p:cNvSpPr/>
          <p:nvPr/>
        </p:nvSpPr>
        <p:spPr bwMode="auto">
          <a:xfrm>
            <a:off x="45593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数据库表设计原则</a:t>
            </a:r>
            <a:endParaRPr lang="en-US" sz="1450"/>
          </a:p>
        </p:txBody>
      </p:sp>
      <p:sp>
        <p:nvSpPr>
          <p:cNvPr id="5" name="Text 2"/>
          <p:cNvSpPr/>
          <p:nvPr/>
        </p:nvSpPr>
        <p:spPr bwMode="auto">
          <a:xfrm>
            <a:off x="324788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选择合适的字段类型对于数据库性能至关重要，它影响数据存储效率和查询速度，需根据数据特性合理选择。</a:t>
            </a:r>
            <a:endParaRPr lang="en-US" sz="1450"/>
          </a:p>
        </p:txBody>
      </p:sp>
      <p:pic>
        <p:nvPicPr>
          <p:cNvPr id="6" name="Image 1" descr="https://sgw-dx.xf-yun.com/api/v1/sparkdesk/_1740023319938796a28e27ccb42d8bac0ad44e82e6bf4.jpg?authorization=c2ltcGxlLWp3dCBhaz1zcGFya2Rlc2s4MDAwMDAwMDAwMDE7ZXhwPTMzMTY4MjMzMTk7YWxnbz1obWFjLXNoYTI1NjtzaWc9Wkdvamw2ZW5OVG5yd1BtWWpZYnFpVkpHUXZmeDB2UFBzOStMVHYvSkVLUT0=&amp;x_location=7YfmxI7B7uKO7jlRxIftd60uePD="/>
          <p:cNvPicPr>
            <a:picLocks noChangeAspect="1"/>
          </p:cNvPicPr>
          <p:nvPr/>
        </p:nvPicPr>
        <p:blipFill>
          <a:blip r:embed="rId3"/>
          <a:srcRect l="154" r="153"/>
          <a:stretch>
            <a:fillRect/>
          </a:stretch>
        </p:blipFill>
        <p:spPr bwMode="auto">
          <a:xfrm>
            <a:off x="3297311" y="2646298"/>
            <a:ext cx="2516140" cy="1415329"/>
          </a:xfrm>
          <a:prstGeom prst="rect">
            <a:avLst/>
          </a:prstGeom>
        </p:spPr>
      </p:pic>
      <p:sp>
        <p:nvSpPr>
          <p:cNvPr id="7" name="Text 3"/>
          <p:cNvSpPr/>
          <p:nvPr/>
        </p:nvSpPr>
        <p:spPr bwMode="auto">
          <a:xfrm>
            <a:off x="324788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字段类型选择</a:t>
            </a:r>
            <a:endParaRPr lang="en-US" sz="1450"/>
          </a:p>
        </p:txBody>
      </p:sp>
      <p:sp>
        <p:nvSpPr>
          <p:cNvPr id="8" name="Text 4"/>
          <p:cNvSpPr/>
          <p:nvPr/>
        </p:nvSpPr>
        <p:spPr bwMode="auto">
          <a:xfrm>
            <a:off x="6031158" y="1290078"/>
            <a:ext cx="265690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通过建立合适的索引可以显著提高数据库查询效率，但过多或不当的索引会增加维护成本，需平衡性能与资源消耗。</a:t>
            </a:r>
            <a:endParaRPr lang="en-US" sz="1450"/>
          </a:p>
        </p:txBody>
      </p:sp>
      <p:pic>
        <p:nvPicPr>
          <p:cNvPr id="9" name="Image 2" descr="https://sgw-dx.xf-yun.com/api/v1/sparkdesk/_174002332311202645ebd6f1d49e48f2aef1907eb1f34.jpg?authorization=c2ltcGxlLWp3dCBhaz1zcGFya2Rlc2s4MDAwMDAwMDAwMDE7ZXhwPTMzMTY4MjMzMjM7YWxnbz1obWFjLXNoYTI1NjtzaWc9clYxUlk4bkJoRHpjQ1hSKzd0Uk1EUm1SRG9NZGk2cDh5YnJyTmNtdjJoaz0=&amp;x_location=7YfmxI7B7uKO7jlRxIftd60uePD="/>
          <p:cNvPicPr>
            <a:picLocks noChangeAspect="1"/>
          </p:cNvPicPr>
          <p:nvPr/>
        </p:nvPicPr>
        <p:blipFill>
          <a:blip r:embed="rId4"/>
          <a:srcRect l="154" r="153"/>
          <a:stretch>
            <a:fillRect/>
          </a:stretch>
        </p:blipFill>
        <p:spPr bwMode="auto">
          <a:xfrm>
            <a:off x="6101539" y="2646298"/>
            <a:ext cx="2516140" cy="1415329"/>
          </a:xfrm>
          <a:prstGeom prst="rect">
            <a:avLst/>
          </a:prstGeom>
        </p:spPr>
      </p:pic>
      <p:sp>
        <p:nvSpPr>
          <p:cNvPr id="10" name="Text 5"/>
          <p:cNvSpPr/>
          <p:nvPr/>
        </p:nvSpPr>
        <p:spPr bwMode="auto">
          <a:xfrm>
            <a:off x="6031158" y="826507"/>
            <a:ext cx="2656902"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索引优化策略</a:t>
            </a:r>
            <a:endParaRPr lang="en-US" sz="1450"/>
          </a:p>
        </p:txBody>
      </p:sp>
      <p:sp>
        <p:nvSpPr>
          <p:cNvPr id="11" name="Text 6"/>
          <p:cNvSpPr/>
          <p:nvPr/>
        </p:nvSpPr>
        <p:spPr bwMode="auto">
          <a:xfrm>
            <a:off x="455939"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在规划数据库表时，应遵循数据一致性、完整性和规范化的原则，确保数据的准确性和可靠性，同时便于维护和扩展。</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11</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系统功能模块</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前台功能实现</a:t>
            </a:r>
            <a:endParaRPr lang="en-US" sz="1450"/>
          </a:p>
        </p:txBody>
      </p:sp>
      <p:pic>
        <p:nvPicPr>
          <p:cNvPr id="3" name="Image 0" descr="https://sgw-dx.xf-yun.com/api/v1/sparkdesk/_1740023333394d0f51a168c40467f9e8672362249863e.jpg?authorization=c2ltcGxlLWp3dCBhaz1zcGFya2Rlc2s4MDAwMDAwMDAwMDE7ZXhwPTMzMTY4MjMzMzM7YWxnbz1obWFjLXNoYTI1NjtzaWc9dDQxMXBTallmNjR4OEQ2NE9FdUpVZUlwTW9KUThTNUhYKytCUk5FS2RiWT0=&amp;x_location=7YfmxI7B7uKO7jlRxIftd60uePD="/>
          <p:cNvPicPr>
            <a:picLocks noChangeAspect="1"/>
          </p:cNvPicPr>
          <p:nvPr/>
        </p:nvPicPr>
        <p:blipFill>
          <a:blip r:embed="rId2"/>
          <a:stretch>
            <a:fillRect/>
          </a:stretch>
        </p:blipFill>
        <p:spPr bwMode="auto">
          <a:xfrm>
            <a:off x="445242" y="1227435"/>
            <a:ext cx="2831634" cy="2831634"/>
          </a:xfrm>
          <a:prstGeom prst="rect">
            <a:avLst/>
          </a:prstGeom>
        </p:spPr>
      </p:pic>
      <p:sp>
        <p:nvSpPr>
          <p:cNvPr id="4" name="Text 1"/>
          <p:cNvSpPr/>
          <p:nvPr/>
        </p:nvSpPr>
        <p:spPr bwMode="auto">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系统首页页面</a:t>
            </a:r>
            <a:endParaRPr lang="en-US" sz="1450"/>
          </a:p>
        </p:txBody>
      </p:sp>
      <p:sp>
        <p:nvSpPr>
          <p:cNvPr id="5" name="Text 2"/>
          <p:cNvSpPr/>
          <p:nvPr/>
        </p:nvSpPr>
        <p:spPr bwMode="auto">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系统首页页面作为用户访问的首道入口，设计简洁明了，提供公告信息、报修记录等重要信息，通过导航栏快速跳转至其他功能模块。</a:t>
            </a:r>
            <a:endParaRPr lang="en-US" sz="1450"/>
          </a:p>
        </p:txBody>
      </p:sp>
      <p:sp>
        <p:nvSpPr>
          <p:cNvPr id="6" name="Text 3"/>
          <p:cNvSpPr/>
          <p:nvPr/>
        </p:nvSpPr>
        <p:spPr bwMode="auto">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个人中心</a:t>
            </a:r>
            <a:endParaRPr lang="en-US" sz="1450"/>
          </a:p>
        </p:txBody>
      </p:sp>
      <p:sp>
        <p:nvSpPr>
          <p:cNvPr id="7" name="Text 4"/>
          <p:cNvSpPr/>
          <p:nvPr/>
        </p:nvSpPr>
        <p:spPr bwMode="auto">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个人中心为用户提供个性化操作界面，可查看编辑个人信息，管理报修记录和反馈意见，提交报修申请并实时查看进度和结果。</a:t>
            </a:r>
            <a:endParaRPr lang="en-US" sz="1450"/>
          </a:p>
        </p:txBody>
      </p:sp>
      <p:sp>
        <p:nvSpPr>
          <p:cNvPr id="8" name="Text 5"/>
          <p:cNvSpPr/>
          <p:nvPr/>
        </p:nvSpPr>
        <p:spPr bwMode="auto">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管理员和审批员登录页面</a:t>
            </a:r>
            <a:endParaRPr lang="en-US" sz="1450"/>
          </a:p>
        </p:txBody>
      </p:sp>
      <p:sp>
        <p:nvSpPr>
          <p:cNvPr id="9" name="Text 6"/>
          <p:cNvSpPr/>
          <p:nvPr/>
        </p:nvSpPr>
        <p:spPr bwMode="auto">
          <a:xfrm>
            <a:off x="3485040" y="3491058"/>
            <a:ext cx="5213718"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管理员和审批员通过专门的登录页面进入系统，进行用户管理、报修记录审核等操作，确保系统的正常运行和维护。</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管理员功能实现</a:t>
            </a:r>
            <a:endParaRPr lang="en-US" sz="1450"/>
          </a:p>
        </p:txBody>
      </p:sp>
      <p:sp>
        <p:nvSpPr>
          <p:cNvPr id="3" name="Text 1"/>
          <p:cNvSpPr/>
          <p:nvPr/>
        </p:nvSpPr>
        <p:spPr bwMode="auto">
          <a:xfrm>
            <a:off x="2743200" y="1025863"/>
            <a:ext cx="3657600" cy="44805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用户信息管理</a:t>
            </a:r>
            <a:endParaRPr lang="en-US" sz="1450"/>
          </a:p>
        </p:txBody>
      </p:sp>
      <p:sp>
        <p:nvSpPr>
          <p:cNvPr id="4" name="Text 2"/>
          <p:cNvSpPr/>
          <p:nvPr/>
        </p:nvSpPr>
        <p:spPr bwMode="auto">
          <a:xfrm>
            <a:off x="2743200" y="1368172"/>
            <a:ext cx="3657600" cy="841248"/>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管理员功能中，用户信息管理是核心部分，负责收集、存储和更新用户的个人信息，确保数据的准确性和安全性，为后续的报修服务提供基础。</a:t>
            </a:r>
            <a:endParaRPr lang="en-US" sz="1450"/>
          </a:p>
        </p:txBody>
      </p:sp>
      <p:sp>
        <p:nvSpPr>
          <p:cNvPr id="5" name="Text 3"/>
          <p:cNvSpPr/>
          <p:nvPr/>
        </p:nvSpPr>
        <p:spPr bwMode="auto">
          <a:xfrm>
            <a:off x="522707" y="2567541"/>
            <a:ext cx="3657600" cy="44805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报修记录查询与更新</a:t>
            </a:r>
            <a:endParaRPr lang="en-US" sz="1450"/>
          </a:p>
        </p:txBody>
      </p:sp>
      <p:sp>
        <p:nvSpPr>
          <p:cNvPr id="6" name="Text 4"/>
          <p:cNvSpPr/>
          <p:nvPr/>
        </p:nvSpPr>
        <p:spPr bwMode="auto">
          <a:xfrm>
            <a:off x="522707" y="2899468"/>
            <a:ext cx="3657600" cy="841248"/>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通过高效的报修记录查询与更新系统，管理员能够实时监控报修状态，及时处理用户反馈，提升高校后勤服务的响应速度和处理效率。</a:t>
            </a:r>
            <a:endParaRPr lang="en-US" sz="1450"/>
          </a:p>
        </p:txBody>
      </p:sp>
      <p:sp>
        <p:nvSpPr>
          <p:cNvPr id="7" name="Text 5"/>
          <p:cNvSpPr/>
          <p:nvPr/>
        </p:nvSpPr>
        <p:spPr bwMode="auto">
          <a:xfrm>
            <a:off x="4963692" y="2567541"/>
            <a:ext cx="3657600" cy="448056"/>
          </a:xfrm>
          <a:prstGeom prst="rect">
            <a:avLst/>
          </a:prstGeom>
          <a:noFill/>
        </p:spPr>
        <p:txBody>
          <a:bodyPr wrap="square" lIns="95250" tIns="95250" rIns="95250" bIns="95250" rtlCol="0" anchor="ctr">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维修记录维护</a:t>
            </a:r>
            <a:endParaRPr lang="en-US" sz="1450"/>
          </a:p>
        </p:txBody>
      </p:sp>
      <p:sp>
        <p:nvSpPr>
          <p:cNvPr id="8" name="Text 6"/>
          <p:cNvSpPr/>
          <p:nvPr/>
        </p:nvSpPr>
        <p:spPr bwMode="auto">
          <a:xfrm>
            <a:off x="4963692" y="2899468"/>
            <a:ext cx="3657600" cy="841248"/>
          </a:xfrm>
          <a:prstGeom prst="rect">
            <a:avLst/>
          </a:prstGeom>
          <a:noFill/>
        </p:spPr>
        <p:txBody>
          <a:bodyPr wrap="square" lIns="95250" tIns="95250" rIns="95250" bIns="95250" rtlCol="0" anchor="t">
            <a:spAutoFit/>
          </a:bodyPr>
          <a:lstStyle/>
          <a:p>
            <a:pPr marL="0" indent="0" algn="just">
              <a:lnSpc>
                <a:spcPct val="100000"/>
              </a:lnSpc>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维修记录的维护不仅涉及到数据的存储，还包括对维修过程的详细记录和分析，帮助管理员优化维修流程，提高服务质量。</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12</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研究与设计过程</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研究背景介绍</a:t>
            </a:r>
            <a:endParaRPr lang="en-US" sz="1450"/>
          </a:p>
        </p:txBody>
      </p:sp>
      <p:pic>
        <p:nvPicPr>
          <p:cNvPr id="3" name="Image 0" descr="https://sgw-dx.xf-yun.com/api/v1/sparkdesk/_1740023333468c987966fe2d54c939b9a1ac67e1a6979.jpg?authorization=c2ltcGxlLWp3dCBhaz1zcGFya2Rlc2s4MDAwMDAwMDAwMDE7ZXhwPTMzMTY4MjMzMzM7YWxnbz1obWFjLXNoYTI1NjtzaWc9WDlkMlhsVnRoUUt3ZjJ3aUZXV1lXTjNRZ09jOWN3T0ZHYjR5cFVNWitHcz0=&amp;x_location=7YfmxI7B7uKO7jlRxIftd60uePD="/>
          <p:cNvPicPr>
            <a:picLocks noChangeAspect="1"/>
          </p:cNvPicPr>
          <p:nvPr/>
        </p:nvPicPr>
        <p:blipFill>
          <a:blip r:embed="rId2"/>
          <a:stretch>
            <a:fillRect/>
          </a:stretch>
        </p:blipFill>
        <p:spPr bwMode="auto">
          <a:xfrm>
            <a:off x="445242" y="1227435"/>
            <a:ext cx="2831634" cy="2831634"/>
          </a:xfrm>
          <a:prstGeom prst="rect">
            <a:avLst/>
          </a:prstGeom>
        </p:spPr>
      </p:pic>
      <p:sp>
        <p:nvSpPr>
          <p:cNvPr id="4" name="Text 1"/>
          <p:cNvSpPr/>
          <p:nvPr/>
        </p:nvSpPr>
        <p:spPr bwMode="auto">
          <a:xfrm>
            <a:off x="3485040" y="1130659"/>
            <a:ext cx="3309781"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高校后勤管理现状</a:t>
            </a:r>
            <a:endParaRPr lang="en-US" sz="1450"/>
          </a:p>
        </p:txBody>
      </p:sp>
      <p:sp>
        <p:nvSpPr>
          <p:cNvPr id="5" name="Text 2"/>
          <p:cNvSpPr/>
          <p:nvPr/>
        </p:nvSpPr>
        <p:spPr bwMode="auto">
          <a:xfrm>
            <a:off x="3485040" y="1427243"/>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随着高校规模的不断扩大，后勤管理工作变得日益繁杂。传统的后勤报修方式主要依赖人工操作，存在诸多弊端，如信息传递效率低下，容易出现信息丢失、延误等情况。</a:t>
            </a:r>
            <a:endParaRPr lang="en-US" sz="1450"/>
          </a:p>
        </p:txBody>
      </p:sp>
      <p:sp>
        <p:nvSpPr>
          <p:cNvPr id="6" name="Text 3"/>
          <p:cNvSpPr/>
          <p:nvPr/>
        </p:nvSpPr>
        <p:spPr bwMode="auto">
          <a:xfrm>
            <a:off x="3485040" y="2158619"/>
            <a:ext cx="4507439"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传统报修方式的弊端</a:t>
            </a:r>
            <a:endParaRPr lang="en-US" sz="1450"/>
          </a:p>
        </p:txBody>
      </p:sp>
      <p:sp>
        <p:nvSpPr>
          <p:cNvPr id="7" name="Text 4"/>
          <p:cNvSpPr/>
          <p:nvPr/>
        </p:nvSpPr>
        <p:spPr bwMode="auto">
          <a:xfrm>
            <a:off x="3485040" y="2463259"/>
            <a:ext cx="5212080"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在传统报修方式下，学生发现设施设备故障后，需通过口头报告或填写纸质报修单的形式提交申请，维修人员则根据人工分配的任务进行维修。这种模式难以对维修流程进行有效跟踪和管理。</a:t>
            </a:r>
            <a:endParaRPr lang="en-US" sz="1450"/>
          </a:p>
        </p:txBody>
      </p:sp>
      <p:sp>
        <p:nvSpPr>
          <p:cNvPr id="8" name="Text 5"/>
          <p:cNvSpPr/>
          <p:nvPr/>
        </p:nvSpPr>
        <p:spPr bwMode="auto">
          <a:xfrm>
            <a:off x="3485040" y="3194618"/>
            <a:ext cx="4861995" cy="484632"/>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1600" b="1">
                <a:solidFill>
                  <a:srgbClr val="002DB0"/>
                </a:solidFill>
                <a:latin typeface="微软雅黑" panose="020B0503020204020204" charset="-122"/>
                <a:ea typeface="微软雅黑" panose="020B0503020204020204" charset="-122"/>
                <a:cs typeface="微软雅黑" panose="020B0503020204020204" charset="-122"/>
              </a:rPr>
              <a:t>数字化时代的挑战与机遇</a:t>
            </a:r>
            <a:endParaRPr lang="en-US" sz="1450"/>
          </a:p>
        </p:txBody>
      </p:sp>
      <p:sp>
        <p:nvSpPr>
          <p:cNvPr id="9" name="Text 6"/>
          <p:cNvSpPr/>
          <p:nvPr/>
        </p:nvSpPr>
        <p:spPr bwMode="auto">
          <a:xfrm>
            <a:off x="3485040" y="3491058"/>
            <a:ext cx="5213718" cy="621792"/>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在当今数字化时代，高校急需借助信息技术提升后勤管理效率，实现报修流程的信息化、自动化和智能化，以满足高校日益增长的管理需求。</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系统设计与实现</a:t>
            </a:r>
            <a:endParaRPr lang="en-US" sz="1450"/>
          </a:p>
        </p:txBody>
      </p:sp>
      <p:pic>
        <p:nvPicPr>
          <p:cNvPr id="3" name="Image 0" descr="preencoded.png"/>
          <p:cNvPicPr>
            <a:picLocks noChangeAspect="1"/>
          </p:cNvPicPr>
          <p:nvPr/>
        </p:nvPicPr>
        <p:blipFill>
          <a:blip r:embed="rId2">
            <a:alphaModFix amt="60000"/>
          </a:blip>
          <a:stretch>
            <a:fillRect/>
          </a:stretch>
        </p:blipFill>
        <p:spPr bwMode="auto">
          <a:xfrm>
            <a:off x="0" y="886688"/>
            <a:ext cx="4523239" cy="4053616"/>
          </a:xfrm>
          <a:prstGeom prst="rect">
            <a:avLst/>
          </a:prstGeom>
        </p:spPr>
      </p:pic>
      <p:pic>
        <p:nvPicPr>
          <p:cNvPr id="4" name="Image 1" descr="preencoded.png"/>
          <p:cNvPicPr>
            <a:picLocks noChangeAspect="1"/>
          </p:cNvPicPr>
          <p:nvPr/>
        </p:nvPicPr>
        <p:blipFill>
          <a:blip r:embed="rId3">
            <a:alphaModFix amt="80000"/>
          </a:blip>
          <a:stretch>
            <a:fillRect/>
          </a:stretch>
        </p:blipFill>
        <p:spPr bwMode="auto">
          <a:xfrm>
            <a:off x="0" y="903148"/>
            <a:ext cx="4523239" cy="4398546"/>
          </a:xfrm>
          <a:prstGeom prst="rect">
            <a:avLst/>
          </a:prstGeom>
        </p:spPr>
      </p:pic>
      <p:pic>
        <p:nvPicPr>
          <p:cNvPr id="5" name="Image 2" descr="preencoded.png"/>
          <p:cNvPicPr>
            <a:picLocks noChangeAspect="1"/>
          </p:cNvPicPr>
          <p:nvPr/>
        </p:nvPicPr>
        <p:blipFill>
          <a:blip r:embed="rId4"/>
          <a:stretch>
            <a:fillRect/>
          </a:stretch>
        </p:blipFill>
        <p:spPr bwMode="auto">
          <a:xfrm>
            <a:off x="0" y="1009529"/>
            <a:ext cx="4523239" cy="4523239"/>
          </a:xfrm>
          <a:prstGeom prst="rect">
            <a:avLst/>
          </a:prstGeom>
        </p:spPr>
      </p:pic>
      <p:sp>
        <p:nvSpPr>
          <p:cNvPr id="6" name="Text 1"/>
          <p:cNvSpPr/>
          <p:nvPr/>
        </p:nvSpPr>
        <p:spPr bwMode="auto">
          <a:xfrm>
            <a:off x="4122902" y="1093989"/>
            <a:ext cx="4389120" cy="40233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系统开发技术简介</a:t>
            </a:r>
            <a:endParaRPr lang="en-US" sz="1450"/>
          </a:p>
        </p:txBody>
      </p:sp>
      <p:sp>
        <p:nvSpPr>
          <p:cNvPr id="7" name="Text 2"/>
          <p:cNvSpPr/>
          <p:nvPr/>
        </p:nvSpPr>
        <p:spPr bwMode="auto">
          <a:xfrm>
            <a:off x="4122902" y="1395741"/>
            <a:ext cx="4476025" cy="603504"/>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本部分主要介绍了Django框架、Vue.js前端框架、MySQL数据库和B/S结构，这些是构建系统的基础技术，为系统的开发提供了强大的技术支持。</a:t>
            </a:r>
            <a:endParaRPr lang="en-US" sz="1450"/>
          </a:p>
        </p:txBody>
      </p:sp>
      <p:sp>
        <p:nvSpPr>
          <p:cNvPr id="8" name="Text 3"/>
          <p:cNvSpPr/>
          <p:nvPr/>
        </p:nvSpPr>
        <p:spPr bwMode="auto">
          <a:xfrm>
            <a:off x="4122902" y="2258934"/>
            <a:ext cx="4389120" cy="40233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系统分析与设计</a:t>
            </a:r>
            <a:endParaRPr lang="en-US" sz="1450"/>
          </a:p>
        </p:txBody>
      </p:sp>
      <p:sp>
        <p:nvSpPr>
          <p:cNvPr id="9" name="Text 4"/>
          <p:cNvSpPr/>
          <p:nvPr/>
        </p:nvSpPr>
        <p:spPr bwMode="auto">
          <a:xfrm>
            <a:off x="4122902" y="2555200"/>
            <a:ext cx="4476025" cy="8138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系统分析包括可行性分析、需求分析和流程分析，而系统设计则涉及设计原则、概要设计和结构设计，这两部分共同构成了系统开发的前期工作。</a:t>
            </a:r>
            <a:endParaRPr lang="en-US" sz="1450"/>
          </a:p>
        </p:txBody>
      </p:sp>
      <p:sp>
        <p:nvSpPr>
          <p:cNvPr id="10" name="Text 5"/>
          <p:cNvSpPr/>
          <p:nvPr/>
        </p:nvSpPr>
        <p:spPr bwMode="auto">
          <a:xfrm>
            <a:off x="4122115" y="3522635"/>
            <a:ext cx="4389120" cy="40233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750" b="1">
                <a:solidFill>
                  <a:srgbClr val="2D5ADD"/>
                </a:solidFill>
                <a:latin typeface="微软雅黑" panose="020B0503020204020204" charset="-122"/>
                <a:ea typeface="微软雅黑" panose="020B0503020204020204" charset="-122"/>
                <a:cs typeface="微软雅黑" panose="020B0503020204020204" charset="-122"/>
              </a:rPr>
              <a:t>系统实现与测试</a:t>
            </a:r>
            <a:endParaRPr lang="en-US" sz="1450"/>
          </a:p>
        </p:txBody>
      </p:sp>
      <p:sp>
        <p:nvSpPr>
          <p:cNvPr id="11" name="Text 6"/>
          <p:cNvSpPr/>
          <p:nvPr/>
        </p:nvSpPr>
        <p:spPr bwMode="auto">
          <a:xfrm>
            <a:off x="4122902" y="3824695"/>
            <a:ext cx="4476025" cy="813816"/>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系统的实现包括前台功能、管理员功能、维修人员功能和审批员功能的实现，而系统测试则是对系统进行验证和优化的重要环节，确保系统的稳定运行。</a:t>
            </a:r>
            <a:endParaRPr lang="en-US" sz="1450"/>
          </a:p>
        </p:txBody>
      </p:sp>
      <p:sp>
        <p:nvSpPr>
          <p:cNvPr id="12" name="Shape 7"/>
          <p:cNvSpPr/>
          <p:nvPr/>
        </p:nvSpPr>
        <p:spPr bwMode="auto">
          <a:xfrm>
            <a:off x="2673371" y="1805964"/>
            <a:ext cx="499914" cy="0"/>
          </a:xfrm>
          <a:custGeom>
            <a:avLst/>
            <a:gdLst/>
            <a:ahLst/>
            <a:cxnLst/>
            <a:rect l="l" t="t" r="r" b="b"/>
            <a:pathLst>
              <a:path w="499914" extrusionOk="0">
                <a:moveTo>
                  <a:pt x="0" y="0"/>
                </a:moveTo>
                <a:moveTo>
                  <a:pt x="0" y="0"/>
                </a:moveTo>
                <a:lnTo>
                  <a:pt x="499914" y="0"/>
                </a:lnTo>
              </a:path>
            </a:pathLst>
          </a:custGeom>
          <a:noFill/>
          <a:ln w="19050">
            <a:solidFill>
              <a:srgbClr val="002DB0"/>
            </a:solidFill>
            <a:prstDash val="solid"/>
            <a:headEnd type="none"/>
            <a:tailEnd type="arrow"/>
          </a:ln>
        </p:spPr>
      </p:sp>
      <p:sp>
        <p:nvSpPr>
          <p:cNvPr id="13" name="Shape 8"/>
          <p:cNvSpPr/>
          <p:nvPr/>
        </p:nvSpPr>
        <p:spPr bwMode="auto">
          <a:xfrm>
            <a:off x="3162037" y="2856649"/>
            <a:ext cx="350493" cy="0"/>
          </a:xfrm>
          <a:custGeom>
            <a:avLst/>
            <a:gdLst/>
            <a:ahLst/>
            <a:cxnLst/>
            <a:rect l="l" t="t" r="r" b="b"/>
            <a:pathLst>
              <a:path w="350493" extrusionOk="0">
                <a:moveTo>
                  <a:pt x="0" y="0"/>
                </a:moveTo>
                <a:moveTo>
                  <a:pt x="0" y="0"/>
                </a:moveTo>
                <a:lnTo>
                  <a:pt x="350493" y="0"/>
                </a:lnTo>
              </a:path>
            </a:pathLst>
          </a:custGeom>
          <a:noFill/>
          <a:ln w="19050">
            <a:solidFill>
              <a:srgbClr val="002DB0"/>
            </a:solidFill>
            <a:prstDash val="solid"/>
            <a:headEnd type="none"/>
            <a:tailEnd type="arrow"/>
          </a:ln>
        </p:spPr>
      </p:sp>
      <p:sp>
        <p:nvSpPr>
          <p:cNvPr id="14" name="Shape 9"/>
          <p:cNvSpPr/>
          <p:nvPr/>
        </p:nvSpPr>
        <p:spPr bwMode="auto">
          <a:xfrm>
            <a:off x="2804600" y="4003258"/>
            <a:ext cx="1103131" cy="0"/>
          </a:xfrm>
          <a:custGeom>
            <a:avLst/>
            <a:gdLst/>
            <a:ahLst/>
            <a:cxnLst/>
            <a:rect l="l" t="t" r="r" b="b"/>
            <a:pathLst>
              <a:path w="1103131" extrusionOk="0">
                <a:moveTo>
                  <a:pt x="0" y="0"/>
                </a:moveTo>
                <a:moveTo>
                  <a:pt x="0" y="0"/>
                </a:moveTo>
                <a:lnTo>
                  <a:pt x="1103131" y="0"/>
                </a:lnTo>
              </a:path>
            </a:pathLst>
          </a:custGeom>
          <a:noFill/>
          <a:ln w="19050">
            <a:solidFill>
              <a:srgbClr val="002DB0"/>
            </a:solidFill>
            <a:prstDash val="solid"/>
            <a:headEnd type="none"/>
            <a:tailEnd type="arrow"/>
          </a:ln>
        </p:spPr>
      </p:sp>
      <p:sp>
        <p:nvSpPr>
          <p:cNvPr id="15" name="Text 10"/>
          <p:cNvSpPr/>
          <p:nvPr/>
        </p:nvSpPr>
        <p:spPr bwMode="auto">
          <a:xfrm>
            <a:off x="1838595" y="1558724"/>
            <a:ext cx="794445" cy="594360"/>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150" b="1">
                <a:solidFill>
                  <a:srgbClr val="FFFFFF"/>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16" name="Text 11"/>
          <p:cNvSpPr/>
          <p:nvPr/>
        </p:nvSpPr>
        <p:spPr bwMode="auto">
          <a:xfrm>
            <a:off x="1605529" y="2616315"/>
            <a:ext cx="1312181" cy="594360"/>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150" b="1">
                <a:solidFill>
                  <a:srgbClr val="FFFFFF"/>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17" name="Text 12"/>
          <p:cNvSpPr/>
          <p:nvPr/>
        </p:nvSpPr>
        <p:spPr bwMode="auto">
          <a:xfrm>
            <a:off x="1426313" y="3754199"/>
            <a:ext cx="1670613" cy="594360"/>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150" b="1">
                <a:solidFill>
                  <a:srgbClr val="FFFFFF"/>
                </a:solidFill>
                <a:latin typeface="微软雅黑" panose="020B0503020204020204" charset="-122"/>
                <a:ea typeface="微软雅黑" panose="020B0503020204020204" charset="-122"/>
                <a:cs typeface="微软雅黑" panose="020B0503020204020204" charset="-122"/>
              </a:rPr>
              <a:t>03</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13</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白盒测试探究</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相关书籍论文</a:t>
            </a:r>
            <a:endParaRPr lang="en-US" sz="1450"/>
          </a:p>
        </p:txBody>
      </p:sp>
      <p:pic>
        <p:nvPicPr>
          <p:cNvPr id="3" name="Image 0" descr="https://sgw-dx.xf-yun.com/api/v1/sparkdesk/_174002336201662808d767e5e4d8cb22c5fdd4f4e6556.jpg?authorization=c2ltcGxlLWp3dCBhaz1zcGFya2Rlc2s4MDAwMDAwMDAwMDE7ZXhwPTMzMTY4MjMzNjI7YWxnbz1obWFjLXNoYTI1NjtzaWc9NXFZMGhVV1pDbWRXeC8rK1BnR2dDTVJMMGRFRGZDME9ZWlpoRTlHTGthST0=&amp;x_location=7YfmxI7B7uKO7jlRxIftd60uePD="/>
          <p:cNvPicPr>
            <a:picLocks noChangeAspect="1"/>
          </p:cNvPicPr>
          <p:nvPr/>
        </p:nvPicPr>
        <p:blipFill>
          <a:blip r:embed="rId2"/>
          <a:stretch>
            <a:fillRect/>
          </a:stretch>
        </p:blipFill>
        <p:spPr bwMode="auto">
          <a:xfrm>
            <a:off x="888372" y="1088132"/>
            <a:ext cx="2283193" cy="1282693"/>
          </a:xfrm>
          <a:prstGeom prst="rect">
            <a:avLst/>
          </a:prstGeom>
        </p:spPr>
      </p:pic>
      <p:sp>
        <p:nvSpPr>
          <p:cNvPr id="4" name="Text 1"/>
          <p:cNvSpPr/>
          <p:nvPr/>
        </p:nvSpPr>
        <p:spPr bwMode="auto">
          <a:xfrm>
            <a:off x="786384"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经典阅读指南</a:t>
            </a:r>
            <a:endParaRPr lang="en-US" sz="1450"/>
          </a:p>
        </p:txBody>
      </p:sp>
      <p:sp>
        <p:nvSpPr>
          <p:cNvPr id="5" name="Text 2"/>
          <p:cNvSpPr/>
          <p:nvPr/>
        </p:nvSpPr>
        <p:spPr bwMode="auto">
          <a:xfrm>
            <a:off x="822960" y="2773736"/>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《如何阅读一本书》提供了全面的阅读技巧，适用于各种类型的书籍，是提升阅读效率和理解深度的不二选择。</a:t>
            </a:r>
            <a:endParaRPr lang="en-US" sz="1450"/>
          </a:p>
        </p:txBody>
      </p:sp>
      <p:pic>
        <p:nvPicPr>
          <p:cNvPr id="6" name="Image 1" descr="https://sgw-dx.xf-yun.com/api/v1/sparkdesk/_1740023365232aeee7383347340109459aee242ab5a60.jpg?authorization=c2ltcGxlLWp3dCBhaz1zcGFya2Rlc2s4MDAwMDAwMDAwMDE7ZXhwPTMzMTY4MjMzNjU7YWxnbz1obWFjLXNoYTI1NjtzaWc9NVlSZzE0K0JxUGlHRW9uM09RZWVEb3o3cHl6QXRidTdHd3A2UlZSNTcvVT0=&amp;x_location=7YfmxI7B7uKO7jlRxIftd60uePD="/>
          <p:cNvPicPr>
            <a:picLocks noChangeAspect="1"/>
          </p:cNvPicPr>
          <p:nvPr/>
        </p:nvPicPr>
        <p:blipFill>
          <a:blip r:embed="rId3"/>
          <a:stretch>
            <a:fillRect/>
          </a:stretch>
        </p:blipFill>
        <p:spPr bwMode="auto">
          <a:xfrm>
            <a:off x="3466980" y="1088132"/>
            <a:ext cx="2283193" cy="1282693"/>
          </a:xfrm>
          <a:prstGeom prst="rect">
            <a:avLst/>
          </a:prstGeom>
        </p:spPr>
      </p:pic>
      <p:sp>
        <p:nvSpPr>
          <p:cNvPr id="7" name="Text 3"/>
          <p:cNvSpPr/>
          <p:nvPr/>
        </p:nvSpPr>
        <p:spPr bwMode="auto">
          <a:xfrm>
            <a:off x="3328416"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学术文献检索工具</a:t>
            </a:r>
            <a:endParaRPr lang="en-US" sz="1450"/>
          </a:p>
        </p:txBody>
      </p:sp>
      <p:sp>
        <p:nvSpPr>
          <p:cNvPr id="8" name="Text 4"/>
          <p:cNvSpPr/>
          <p:nvPr/>
        </p:nvSpPr>
        <p:spPr bwMode="auto">
          <a:xfrm>
            <a:off x="3401568" y="2773736"/>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Connected Papers和PaSa等工具通过可视化和自动化搜索，极大地简化了学术研究中的文献检索过程，提高了研究效率。</a:t>
            </a:r>
            <a:endParaRPr lang="en-US" sz="1450"/>
          </a:p>
        </p:txBody>
      </p:sp>
      <p:pic>
        <p:nvPicPr>
          <p:cNvPr id="9" name="Image 2" descr="https://sgw-dx.xf-yun.com/api/v1/sparkdesk/_1740023368257b34dc84abc5848688031d2e144a4014f.jpg?authorization=c2ltcGxlLWp3dCBhaz1zcGFya2Rlc2s4MDAwMDAwMDAwMDE7ZXhwPTMzMTY4MjMzNjg7YWxnbz1obWFjLXNoYTI1NjtzaWc9Q2RoNHpoQUhnQkJNUW9JZ3QzUzhmQnJMQk5zNHRwdUhCL3RMYU9McG0vYz0=&amp;x_location=7YfmxI7B7uKO7jlRxIftd60uePD="/>
          <p:cNvPicPr>
            <a:picLocks noChangeAspect="1"/>
          </p:cNvPicPr>
          <p:nvPr/>
        </p:nvPicPr>
        <p:blipFill>
          <a:blip r:embed="rId4"/>
          <a:stretch>
            <a:fillRect/>
          </a:stretch>
        </p:blipFill>
        <p:spPr bwMode="auto">
          <a:xfrm>
            <a:off x="6009012" y="1088132"/>
            <a:ext cx="2283193" cy="1282693"/>
          </a:xfrm>
          <a:prstGeom prst="rect">
            <a:avLst/>
          </a:prstGeom>
        </p:spPr>
      </p:pic>
      <p:sp>
        <p:nvSpPr>
          <p:cNvPr id="10" name="Text 5"/>
          <p:cNvSpPr/>
          <p:nvPr/>
        </p:nvSpPr>
        <p:spPr bwMode="auto">
          <a:xfrm>
            <a:off x="5870448" y="2447488"/>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论文写作与发表</a:t>
            </a:r>
            <a:endParaRPr lang="en-US" sz="1450"/>
          </a:p>
        </p:txBody>
      </p:sp>
      <p:sp>
        <p:nvSpPr>
          <p:cNvPr id="11" name="Text 6"/>
          <p:cNvSpPr/>
          <p:nvPr/>
        </p:nvSpPr>
        <p:spPr bwMode="auto">
          <a:xfrm>
            <a:off x="5943600" y="2775208"/>
            <a:ext cx="2414016"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《怎样顺利完成论文》和《不发表就出局》为学者们提供了从选题到发表的全程指导，帮助研究者有效应对学术挑战。</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543369" y="687360"/>
            <a:ext cx="2055531" cy="1719072"/>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8050" b="1">
                <a:solidFill>
                  <a:srgbClr val="FFFFFF"/>
                </a:solidFill>
                <a:latin typeface="微软雅黑" panose="020B0503020204020204" charset="-122"/>
                <a:ea typeface="微软雅黑" panose="020B0503020204020204" charset="-122"/>
                <a:cs typeface="微软雅黑" panose="020B0503020204020204" charset="-122"/>
              </a:rPr>
              <a:t>14</a:t>
            </a:r>
            <a:endParaRPr lang="en-US" sz="1450"/>
          </a:p>
        </p:txBody>
      </p:sp>
      <p:sp>
        <p:nvSpPr>
          <p:cNvPr id="3" name="Text 1"/>
          <p:cNvSpPr/>
          <p:nvPr/>
        </p:nvSpPr>
        <p:spPr bwMode="auto">
          <a:xfrm>
            <a:off x="867703" y="1955773"/>
            <a:ext cx="3690836" cy="70408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750" b="1">
                <a:solidFill>
                  <a:srgbClr val="FFFFFF"/>
                </a:solidFill>
                <a:latin typeface="微软雅黑" panose="020B0503020204020204" charset="-122"/>
                <a:ea typeface="微软雅黑" panose="020B0503020204020204" charset="-122"/>
                <a:cs typeface="微软雅黑" panose="020B0503020204020204" charset="-122"/>
              </a:rPr>
              <a:t>毕业设计致谢</a:t>
            </a:r>
            <a:endParaRPr lang="en-US" sz="1450"/>
          </a:p>
        </p:txBody>
      </p:sp>
      <p:sp>
        <p:nvSpPr>
          <p:cNvPr id="4" name="Shape 2"/>
          <p:cNvSpPr/>
          <p:nvPr/>
        </p:nvSpPr>
        <p:spPr bwMode="auto">
          <a:xfrm>
            <a:off x="5543162" y="2690240"/>
            <a:ext cx="2380208" cy="0"/>
          </a:xfrm>
          <a:custGeom>
            <a:avLst/>
            <a:gdLst/>
            <a:ahLst/>
            <a:cxnLst/>
            <a:rect l="l" t="t" r="r" b="b"/>
            <a:pathLst>
              <a:path w="2380208" extrusionOk="0">
                <a:moveTo>
                  <a:pt x="0" y="0"/>
                </a:moveTo>
                <a:moveTo>
                  <a:pt x="0" y="0"/>
                </a:moveTo>
                <a:lnTo>
                  <a:pt x="2380208" y="0"/>
                </a:lnTo>
              </a:path>
            </a:pathLst>
          </a:custGeom>
          <a:noFill/>
          <a:ln w="66675">
            <a:solidFill>
              <a:srgbClr val="FFAABC"/>
            </a:solidFill>
            <a:prstDash val="solid"/>
            <a:headEnd type="none"/>
            <a:tailEnd type="none"/>
          </a:ln>
        </p:spPr>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919152" y="173459"/>
            <a:ext cx="7973782" cy="566928"/>
          </a:xfrm>
          <a:prstGeom prst="rect">
            <a:avLst/>
          </a:prstGeom>
          <a:noFill/>
        </p:spPr>
        <p:txBody>
          <a:bodyPr wrap="square" lIns="95250" tIns="95250" rIns="95250" bIns="95250" rtlCol="0" anchor="t">
            <a:spAutoFit/>
          </a:bodyPr>
          <a:lstStyle/>
          <a:p>
            <a:pPr marL="0" indent="0">
              <a:lnSpc>
                <a:spcPct val="113000"/>
              </a:lnSpc>
              <a:spcBef>
                <a:spcPts val="375"/>
              </a:spcBef>
              <a:buNone/>
              <a:defRPr/>
            </a:pPr>
            <a:r>
              <a:rPr lang="en-US" sz="2000" b="1">
                <a:solidFill>
                  <a:srgbClr val="333333"/>
                </a:solidFill>
                <a:latin typeface="微软雅黑" panose="020B0503020204020204" charset="-122"/>
                <a:ea typeface="微软雅黑" panose="020B0503020204020204" charset="-122"/>
                <a:cs typeface="微软雅黑" panose="020B0503020204020204" charset="-122"/>
              </a:rPr>
              <a:t>表达感激之情</a:t>
            </a:r>
            <a:endParaRPr lang="en-US" sz="1450"/>
          </a:p>
        </p:txBody>
      </p:sp>
      <p:sp>
        <p:nvSpPr>
          <p:cNvPr id="3" name="Shape 1"/>
          <p:cNvSpPr/>
          <p:nvPr/>
        </p:nvSpPr>
        <p:spPr bwMode="auto">
          <a:xfrm>
            <a:off x="4125591" y="1645920"/>
            <a:ext cx="174439" cy="0"/>
          </a:xfrm>
          <a:custGeom>
            <a:avLst/>
            <a:gdLst/>
            <a:ahLst/>
            <a:cxnLst/>
            <a:rect l="l" t="t" r="r" b="b"/>
            <a:pathLst>
              <a:path w="174439" extrusionOk="0">
                <a:moveTo>
                  <a:pt x="174439" y="0"/>
                </a:moveTo>
                <a:moveTo>
                  <a:pt x="174439" y="0"/>
                </a:moveTo>
                <a:lnTo>
                  <a:pt x="0" y="0"/>
                </a:lnTo>
              </a:path>
            </a:pathLst>
          </a:custGeom>
          <a:noFill/>
          <a:ln w="19050">
            <a:solidFill>
              <a:srgbClr val="002DB0"/>
            </a:solidFill>
            <a:prstDash val="solid"/>
            <a:headEnd type="none"/>
            <a:tailEnd type="arrow"/>
          </a:ln>
        </p:spPr>
      </p:sp>
      <p:sp>
        <p:nvSpPr>
          <p:cNvPr id="4" name="Shape 2"/>
          <p:cNvSpPr/>
          <p:nvPr/>
        </p:nvSpPr>
        <p:spPr bwMode="auto">
          <a:xfrm>
            <a:off x="5024592" y="2752343"/>
            <a:ext cx="177670" cy="0"/>
          </a:xfrm>
          <a:custGeom>
            <a:avLst/>
            <a:gdLst/>
            <a:ahLst/>
            <a:cxnLst/>
            <a:rect l="l" t="t" r="r" b="b"/>
            <a:pathLst>
              <a:path w="177670" extrusionOk="0">
                <a:moveTo>
                  <a:pt x="0" y="0"/>
                </a:moveTo>
                <a:moveTo>
                  <a:pt x="0" y="0"/>
                </a:moveTo>
                <a:lnTo>
                  <a:pt x="177670" y="0"/>
                </a:lnTo>
              </a:path>
            </a:pathLst>
          </a:custGeom>
          <a:noFill/>
          <a:ln w="19050">
            <a:solidFill>
              <a:srgbClr val="002DB0"/>
            </a:solidFill>
            <a:prstDash val="solid"/>
            <a:headEnd type="none"/>
            <a:tailEnd type="arrow"/>
          </a:ln>
        </p:spPr>
      </p:sp>
      <p:sp>
        <p:nvSpPr>
          <p:cNvPr id="5" name="Shape 3"/>
          <p:cNvSpPr/>
          <p:nvPr/>
        </p:nvSpPr>
        <p:spPr bwMode="auto">
          <a:xfrm>
            <a:off x="4118004" y="3799332"/>
            <a:ext cx="175088" cy="0"/>
          </a:xfrm>
          <a:custGeom>
            <a:avLst/>
            <a:gdLst/>
            <a:ahLst/>
            <a:cxnLst/>
            <a:rect l="l" t="t" r="r" b="b"/>
            <a:pathLst>
              <a:path w="175088" extrusionOk="0">
                <a:moveTo>
                  <a:pt x="175088" y="0"/>
                </a:moveTo>
                <a:moveTo>
                  <a:pt x="175088" y="0"/>
                </a:moveTo>
                <a:lnTo>
                  <a:pt x="0" y="0"/>
                </a:lnTo>
              </a:path>
            </a:pathLst>
          </a:custGeom>
          <a:noFill/>
          <a:ln w="19050">
            <a:solidFill>
              <a:srgbClr val="002DB0"/>
            </a:solidFill>
            <a:prstDash val="solid"/>
            <a:headEnd type="none"/>
            <a:tailEnd type="arrow"/>
          </a:ln>
        </p:spPr>
      </p:sp>
      <p:sp>
        <p:nvSpPr>
          <p:cNvPr id="6" name="Text 4"/>
          <p:cNvSpPr/>
          <p:nvPr/>
        </p:nvSpPr>
        <p:spPr bwMode="auto">
          <a:xfrm>
            <a:off x="4287407" y="1280160"/>
            <a:ext cx="745435" cy="70408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750" b="1">
                <a:solidFill>
                  <a:srgbClr val="002DB0"/>
                </a:solidFill>
                <a:latin typeface="微软雅黑" panose="020B0503020204020204" charset="-122"/>
                <a:ea typeface="微软雅黑" panose="020B0503020204020204" charset="-122"/>
                <a:cs typeface="微软雅黑" panose="020B0503020204020204" charset="-122"/>
              </a:rPr>
              <a:t>01</a:t>
            </a:r>
            <a:endParaRPr lang="en-US" sz="1450"/>
          </a:p>
        </p:txBody>
      </p:sp>
      <p:sp>
        <p:nvSpPr>
          <p:cNvPr id="7" name="Text 5"/>
          <p:cNvSpPr/>
          <p:nvPr/>
        </p:nvSpPr>
        <p:spPr bwMode="auto">
          <a:xfrm>
            <a:off x="4287407" y="3429000"/>
            <a:ext cx="745435" cy="676656"/>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600" b="1">
                <a:solidFill>
                  <a:srgbClr val="002DB0"/>
                </a:solidFill>
                <a:latin typeface="微软雅黑" panose="020B0503020204020204" charset="-122"/>
                <a:ea typeface="微软雅黑" panose="020B0503020204020204" charset="-122"/>
                <a:cs typeface="微软雅黑" panose="020B0503020204020204" charset="-122"/>
              </a:rPr>
              <a:t>03</a:t>
            </a:r>
            <a:endParaRPr lang="en-US" sz="1450"/>
          </a:p>
        </p:txBody>
      </p:sp>
      <p:sp>
        <p:nvSpPr>
          <p:cNvPr id="8" name="Text 6"/>
          <p:cNvSpPr/>
          <p:nvPr/>
        </p:nvSpPr>
        <p:spPr bwMode="auto">
          <a:xfrm>
            <a:off x="4278263" y="2423160"/>
            <a:ext cx="745435" cy="676656"/>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2600" b="1">
                <a:solidFill>
                  <a:srgbClr val="002DB0"/>
                </a:solidFill>
                <a:latin typeface="微软雅黑" panose="020B0503020204020204" charset="-122"/>
                <a:ea typeface="微软雅黑" panose="020B0503020204020204" charset="-122"/>
                <a:cs typeface="微软雅黑" panose="020B0503020204020204" charset="-122"/>
              </a:rPr>
              <a:t>02</a:t>
            </a:r>
            <a:endParaRPr lang="en-US" sz="1450"/>
          </a:p>
        </p:txBody>
      </p:sp>
      <p:sp>
        <p:nvSpPr>
          <p:cNvPr id="9" name="Text 7"/>
          <p:cNvSpPr/>
          <p:nvPr/>
        </p:nvSpPr>
        <p:spPr bwMode="auto">
          <a:xfrm>
            <a:off x="890230" y="1280160"/>
            <a:ext cx="3108960" cy="402336"/>
          </a:xfrm>
          <a:prstGeom prst="rect">
            <a:avLst/>
          </a:prstGeom>
          <a:noFill/>
        </p:spPr>
        <p:txBody>
          <a:bodyPr wrap="square" lIns="95250" tIns="95250" rIns="95250" bIns="95250" rtlCol="0" anchor="t">
            <a:spAutoFit/>
          </a:bodyPr>
          <a:lstStyle/>
          <a:p>
            <a:pPr marL="0" indent="0" algn="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导师的引领与支持</a:t>
            </a:r>
            <a:endParaRPr lang="en-US" sz="1450"/>
          </a:p>
        </p:txBody>
      </p:sp>
      <p:sp>
        <p:nvSpPr>
          <p:cNvPr id="10" name="Text 8"/>
          <p:cNvSpPr/>
          <p:nvPr/>
        </p:nvSpPr>
        <p:spPr bwMode="auto">
          <a:xfrm>
            <a:off x="890230" y="1639519"/>
            <a:ext cx="3108960" cy="1024128"/>
          </a:xfrm>
          <a:prstGeom prst="rect">
            <a:avLst/>
          </a:prstGeom>
          <a:noFill/>
        </p:spPr>
        <p:txBody>
          <a:bodyPr wrap="square" lIns="95250" tIns="95250" rIns="95250" bIns="95250" rtlCol="0" anchor="t">
            <a:spAutoFit/>
          </a:bodyPr>
          <a:lstStyle/>
          <a:p>
            <a:pPr marL="0" indent="0" algn="r">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在学术探索的道路上，我的导师以博学和严谨的态度引领我深入学术的海洋，耐心地指导我克服研究中的难题，成为我前行的灯塔。</a:t>
            </a:r>
            <a:endParaRPr lang="en-US" sz="1450"/>
          </a:p>
        </p:txBody>
      </p:sp>
      <p:sp>
        <p:nvSpPr>
          <p:cNvPr id="11" name="Text 9"/>
          <p:cNvSpPr/>
          <p:nvPr/>
        </p:nvSpPr>
        <p:spPr bwMode="auto">
          <a:xfrm>
            <a:off x="5235854" y="2039112"/>
            <a:ext cx="3108960" cy="402336"/>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家人的鼓励与理解</a:t>
            </a:r>
            <a:endParaRPr lang="en-US" sz="1450"/>
          </a:p>
        </p:txBody>
      </p:sp>
      <p:sp>
        <p:nvSpPr>
          <p:cNvPr id="12" name="Text 10"/>
          <p:cNvSpPr/>
          <p:nvPr/>
        </p:nvSpPr>
        <p:spPr bwMode="auto">
          <a:xfrm>
            <a:off x="5236250" y="2441448"/>
            <a:ext cx="3108960" cy="1024128"/>
          </a:xfrm>
          <a:prstGeom prst="rect">
            <a:avLst/>
          </a:prstGeom>
          <a:noFill/>
        </p:spPr>
        <p:txBody>
          <a:bodyPr wrap="square" lIns="95250" tIns="95250" rIns="95250" bIns="95250" rtlCol="0" anchor="t">
            <a:spAutoFit/>
          </a:bodyPr>
          <a:lstStyle/>
          <a:p>
            <a:pPr marL="0" indent="0">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家人始终如一的支持和鼓励是我追求梦想路上最坚实的后盾，他们的无私爱让我在面对挑战时更加勇敢无畏，不断前进。</a:t>
            </a:r>
            <a:endParaRPr lang="en-US" sz="1450"/>
          </a:p>
        </p:txBody>
      </p:sp>
      <p:sp>
        <p:nvSpPr>
          <p:cNvPr id="13" name="Text 11"/>
          <p:cNvSpPr/>
          <p:nvPr/>
        </p:nvSpPr>
        <p:spPr bwMode="auto">
          <a:xfrm>
            <a:off x="890230" y="2761488"/>
            <a:ext cx="3108960" cy="402336"/>
          </a:xfrm>
          <a:prstGeom prst="rect">
            <a:avLst/>
          </a:prstGeom>
          <a:noFill/>
        </p:spPr>
        <p:txBody>
          <a:bodyPr wrap="square" lIns="95250" tIns="95250" rIns="95250" bIns="95250" rtlCol="0" anchor="t">
            <a:spAutoFit/>
          </a:bodyPr>
          <a:lstStyle/>
          <a:p>
            <a:pPr marL="0" indent="0" algn="r">
              <a:lnSpc>
                <a:spcPct val="100000"/>
              </a:lnSpc>
              <a:spcBef>
                <a:spcPts val="375"/>
              </a:spcBef>
              <a:buNone/>
              <a:defRPr/>
            </a:pPr>
            <a:r>
              <a:rPr lang="en-US" sz="1750" b="1">
                <a:solidFill>
                  <a:srgbClr val="002DB0"/>
                </a:solidFill>
                <a:latin typeface="微软雅黑" panose="020B0503020204020204" charset="-122"/>
                <a:ea typeface="微软雅黑" panose="020B0503020204020204" charset="-122"/>
                <a:cs typeface="微软雅黑" panose="020B0503020204020204" charset="-122"/>
              </a:rPr>
              <a:t>同学与母校的陪伴</a:t>
            </a:r>
            <a:endParaRPr lang="en-US" sz="1450"/>
          </a:p>
        </p:txBody>
      </p:sp>
      <p:sp>
        <p:nvSpPr>
          <p:cNvPr id="14" name="Text 12"/>
          <p:cNvSpPr/>
          <p:nvPr/>
        </p:nvSpPr>
        <p:spPr bwMode="auto">
          <a:xfrm>
            <a:off x="890230" y="3163824"/>
            <a:ext cx="3108960" cy="1060704"/>
          </a:xfrm>
          <a:prstGeom prst="rect">
            <a:avLst/>
          </a:prstGeom>
          <a:noFill/>
        </p:spPr>
        <p:txBody>
          <a:bodyPr wrap="square" lIns="95250" tIns="95250" rIns="95250" bIns="95250" rtlCol="0" anchor="t">
            <a:spAutoFit/>
          </a:bodyPr>
          <a:lstStyle/>
          <a:p>
            <a:pPr marL="0" indent="0" algn="r">
              <a:lnSpc>
                <a:spcPct val="100000"/>
              </a:lnSpc>
              <a:spcBef>
                <a:spcPts val="375"/>
              </a:spcBef>
              <a:buNone/>
              <a:defRPr/>
            </a:pPr>
            <a:r>
              <a:rPr lang="en-US" sz="1150">
                <a:solidFill>
                  <a:srgbClr val="000000"/>
                </a:solidFill>
                <a:latin typeface="微软雅黑" panose="020B0503020204020204" charset="-122"/>
                <a:ea typeface="微软雅黑" panose="020B0503020204020204" charset="-122"/>
                <a:cs typeface="微软雅黑" panose="020B0503020204020204" charset="-122"/>
              </a:rPr>
              <a:t>同学们的友谊和支持是我大学生活中宝贵的财富，而母校则是我成长的摇篮，不仅传授知识，更教会我如何成为一个有责任感的人。</a:t>
            </a:r>
            <a:endParaRPr lang="en-US" sz="1450"/>
          </a:p>
        </p:txBody>
      </p:sp>
      <p:pic>
        <p:nvPicPr>
          <p:cNvPr id="15" name="Image 0" descr="preencoded.png"/>
          <p:cNvPicPr>
            <a:picLocks noChangeAspect="1"/>
          </p:cNvPicPr>
          <p:nvPr/>
        </p:nvPicPr>
        <p:blipFill>
          <a:blip r:embed="rId2"/>
          <a:stretch>
            <a:fillRect/>
          </a:stretch>
        </p:blipFill>
        <p:spPr bwMode="auto">
          <a:xfrm>
            <a:off x="4205111" y="1182319"/>
            <a:ext cx="914400" cy="914400"/>
          </a:xfrm>
          <a:prstGeom prst="rect">
            <a:avLst/>
          </a:prstGeom>
        </p:spPr>
      </p:pic>
      <p:pic>
        <p:nvPicPr>
          <p:cNvPr id="16" name="Image 1" descr="preencoded.png"/>
          <p:cNvPicPr>
            <a:picLocks noChangeAspect="1"/>
          </p:cNvPicPr>
          <p:nvPr/>
        </p:nvPicPr>
        <p:blipFill>
          <a:blip r:embed="rId2"/>
          <a:stretch>
            <a:fillRect/>
          </a:stretch>
        </p:blipFill>
        <p:spPr bwMode="auto">
          <a:xfrm>
            <a:off x="4205111" y="2304288"/>
            <a:ext cx="914400" cy="914400"/>
          </a:xfrm>
          <a:prstGeom prst="rect">
            <a:avLst/>
          </a:prstGeom>
        </p:spPr>
      </p:pic>
      <p:pic>
        <p:nvPicPr>
          <p:cNvPr id="17" name="Image 2" descr="preencoded.png"/>
          <p:cNvPicPr>
            <a:picLocks noChangeAspect="1"/>
          </p:cNvPicPr>
          <p:nvPr/>
        </p:nvPicPr>
        <p:blipFill>
          <a:blip r:embed="rId2"/>
          <a:stretch>
            <a:fillRect/>
          </a:stretch>
        </p:blipFill>
        <p:spPr bwMode="auto">
          <a:xfrm>
            <a:off x="4205111" y="3310127"/>
            <a:ext cx="914400" cy="91440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MasterPhAnim="0">
  <p:cSld>
    <p:bg>
      <p:bgPr>
        <a:blipFill>
          <a:blip r:embed="rId1">
            <a:lum/>
          </a:blip>
          <a:stretch>
            <a:fillRect/>
          </a:stretch>
        </a:blipFill>
        <a:effectLst/>
      </p:bgPr>
    </p:bg>
    <p:spTree>
      <p:nvGrpSpPr>
        <p:cNvPr id="1" name=""/>
        <p:cNvGrpSpPr/>
        <p:nvPr/>
      </p:nvGrpSpPr>
      <p:grpSpPr bwMode="auto">
        <a:xfrm>
          <a:off x="0" y="0"/>
          <a:ext cx="0" cy="0"/>
          <a:chOff x="0" y="0"/>
          <a:chExt cx="0" cy="0"/>
        </a:xfrm>
      </p:grpSpPr>
      <p:sp>
        <p:nvSpPr>
          <p:cNvPr id="2" name="Text 0"/>
          <p:cNvSpPr/>
          <p:nvPr/>
        </p:nvSpPr>
        <p:spPr bwMode="auto">
          <a:xfrm>
            <a:off x="612881" y="1509403"/>
            <a:ext cx="4551869" cy="138988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6350" b="1">
                <a:solidFill>
                  <a:srgbClr val="FFFFFF">
                    <a:alpha val="20000"/>
                  </a:srgbClr>
                </a:solidFill>
                <a:latin typeface="微软雅黑" panose="020B0503020204020204" charset="-122"/>
                <a:ea typeface="微软雅黑" panose="020B0503020204020204" charset="-122"/>
                <a:cs typeface="微软雅黑" panose="020B0503020204020204" charset="-122"/>
              </a:rPr>
              <a:t>THANKS</a:t>
            </a:r>
            <a:endParaRPr lang="en-US" sz="1450"/>
          </a:p>
        </p:txBody>
      </p:sp>
      <p:sp>
        <p:nvSpPr>
          <p:cNvPr id="3" name="Text 1"/>
          <p:cNvSpPr/>
          <p:nvPr/>
        </p:nvSpPr>
        <p:spPr bwMode="auto">
          <a:xfrm>
            <a:off x="0" y="1192822"/>
            <a:ext cx="5777630" cy="1207008"/>
          </a:xfrm>
          <a:prstGeom prst="rect">
            <a:avLst/>
          </a:prstGeom>
          <a:noFill/>
        </p:spPr>
        <p:txBody>
          <a:bodyPr wrap="square" lIns="95250" tIns="95250" rIns="95250" bIns="95250" rtlCol="0" anchor="t">
            <a:spAutoFit/>
          </a:bodyPr>
          <a:lstStyle/>
          <a:p>
            <a:pPr marL="0" indent="0" algn="ctr">
              <a:lnSpc>
                <a:spcPct val="113000"/>
              </a:lnSpc>
              <a:spcBef>
                <a:spcPts val="375"/>
              </a:spcBef>
              <a:buNone/>
              <a:defRPr/>
            </a:pPr>
            <a:r>
              <a:rPr lang="en-US" sz="5200" b="1">
                <a:solidFill>
                  <a:srgbClr val="FFFFFF"/>
                </a:solidFill>
                <a:latin typeface="微软雅黑" panose="020B0503020204020204" charset="-122"/>
                <a:ea typeface="微软雅黑" panose="020B0503020204020204" charset="-122"/>
                <a:cs typeface="微软雅黑" panose="020B0503020204020204" charset="-122"/>
              </a:rPr>
              <a:t>感谢观看</a:t>
            </a:r>
            <a:endParaRPr lang="en-US" sz="1450"/>
          </a:p>
        </p:txBody>
      </p:sp>
    </p:spTree>
  </p:cSld>
  <p:clrMapOvr>
    <a:masterClrMapping/>
  </p:clrMapOvr>
  <mc:AlternateContent xmlns:mc="http://schemas.openxmlformats.org/markup-compatibility/2006">
    <mc:Choice xmlns:p14="http://schemas.microsoft.com/office/powerpoint/2010/main" Requires="p14">
      <p:transition p14:dur="2000"/>
    </mc:Choice>
    <mc:Fallback>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majorFont>
      <a:minorFont>
        <a:latin typeface="等线"/>
        <a:ea typeface="等线"/>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6896</Words>
  <Application>WPS 演示</Application>
  <PresentationFormat>On-screen Show (16:9)</PresentationFormat>
  <Paragraphs>646</Paragraphs>
  <Slides>49</Slides>
  <Notes>49</Notes>
  <HiddenSlides>0</HiddenSlides>
  <MMClips>2</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49</vt:i4>
      </vt:variant>
    </vt:vector>
  </HeadingPairs>
  <TitlesOfParts>
    <vt:vector size="58" baseType="lpstr">
      <vt:lpstr>Arial</vt:lpstr>
      <vt:lpstr>宋体</vt:lpstr>
      <vt:lpstr>Wingdings</vt:lpstr>
      <vt:lpstr>Arial</vt:lpstr>
      <vt:lpstr>微软雅黑</vt:lpstr>
      <vt:lpstr>等线</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其乐融融</cp:lastModifiedBy>
  <cp:revision>3</cp:revision>
  <dcterms:created xsi:type="dcterms:W3CDTF">2025-02-20T04:12:00Z</dcterms:created>
  <dcterms:modified xsi:type="dcterms:W3CDTF">2025-02-20T04:55:13Z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4BEA06CBC76046ED97074B01A9824305_12</vt:lpwstr>
  </property>
  <property fmtid="{D5CDD505-2E9C-101B-9397-08002B2CF9AE}" pid="3" name="KSOProductBuildVer">
    <vt:lpwstr>2052-12.1.0.19770</vt:lpwstr>
  </property>
</Properties>
</file>